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7" r:id="rId2"/>
    <p:sldId id="278" r:id="rId3"/>
    <p:sldId id="257" r:id="rId4"/>
    <p:sldId id="259" r:id="rId5"/>
    <p:sldId id="276" r:id="rId6"/>
    <p:sldId id="264" r:id="rId7"/>
    <p:sldId id="266" r:id="rId8"/>
    <p:sldId id="268" r:id="rId9"/>
    <p:sldId id="270" r:id="rId10"/>
    <p:sldId id="267" r:id="rId11"/>
    <p:sldId id="271"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101"/>
    <a:srgbClr val="009F48"/>
    <a:srgbClr val="006600"/>
    <a:srgbClr val="FFDDAD"/>
    <a:srgbClr val="EFB300"/>
    <a:srgbClr val="FFFF00"/>
    <a:srgbClr val="FFCA69"/>
    <a:srgbClr val="E6AF02"/>
    <a:srgbClr val="FFFDF7"/>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7D282B-897E-416F-83F0-F6BB8DA7D180}" v="3391" dt="2026-09-16T08:03:35.4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4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mit vyas" userId="eb2a79a252d6a385" providerId="LiveId" clId="{67E09591-9808-4594-B3A1-70DD2178A086}"/>
    <pc:docChg chg="undo custSel addSld delSld modSld sldOrd">
      <pc:chgData name="Bhumit vyas" userId="eb2a79a252d6a385" providerId="LiveId" clId="{67E09591-9808-4594-B3A1-70DD2178A086}" dt="2026-09-16T08:03:30.639" v="3724" actId="20577"/>
      <pc:docMkLst>
        <pc:docMk/>
      </pc:docMkLst>
      <pc:sldChg chg="addSp delSp modSp new mod ord">
        <pc:chgData name="Bhumit vyas" userId="eb2a79a252d6a385" providerId="LiveId" clId="{67E09591-9808-4594-B3A1-70DD2178A086}" dt="2026-09-16T08:03:30.639" v="3724" actId="20577"/>
        <pc:sldMkLst>
          <pc:docMk/>
          <pc:sldMk cId="4001036750" sldId="277"/>
        </pc:sldMkLst>
        <pc:spChg chg="add mod">
          <ac:chgData name="Bhumit vyas" userId="eb2a79a252d6a385" providerId="LiveId" clId="{67E09591-9808-4594-B3A1-70DD2178A086}" dt="2026-09-16T08:03:30.639" v="3724" actId="20577"/>
          <ac:spMkLst>
            <pc:docMk/>
            <pc:sldMk cId="4001036750" sldId="277"/>
            <ac:spMk id="3" creationId="{3E5888D9-0500-574B-EC33-B9EF4CDD073A}"/>
          </ac:spMkLst>
        </pc:spChg>
        <pc:spChg chg="add mod">
          <ac:chgData name="Bhumit vyas" userId="eb2a79a252d6a385" providerId="LiveId" clId="{67E09591-9808-4594-B3A1-70DD2178A086}" dt="2026-09-16T08:03:00.795" v="3708" actId="20577"/>
          <ac:spMkLst>
            <pc:docMk/>
            <pc:sldMk cId="4001036750" sldId="277"/>
            <ac:spMk id="5" creationId="{380E26BA-B071-DFD9-760C-81B806F58C7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1.568690335371441E-2"/>
          <c:y val="0.20083784537452626"/>
          <c:w val="0.71077476742627221"/>
          <c:h val="0.64888516559190945"/>
        </c:manualLayout>
      </c:layout>
      <c:pieChart>
        <c:varyColors val="1"/>
        <c:ser>
          <c:idx val="0"/>
          <c:order val="0"/>
          <c:tx>
            <c:strRef>
              <c:f>Sheet1!$B$1</c:f>
              <c:strCache>
                <c:ptCount val="1"/>
                <c:pt idx="0">
                  <c:v>Sales</c:v>
                </c:pt>
              </c:strCache>
            </c:strRef>
          </c:tx>
          <c:dPt>
            <c:idx val="0"/>
            <c:bubble3D val="0"/>
            <c:spPr>
              <a:solidFill>
                <a:schemeClr val="accent4">
                  <a:tint val="58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069-441E-AF15-18B1FC7E4823}"/>
              </c:ext>
            </c:extLst>
          </c:dPt>
          <c:dPt>
            <c:idx val="1"/>
            <c:bubble3D val="0"/>
            <c:spPr>
              <a:solidFill>
                <a:schemeClr val="accent4">
                  <a:tint val="86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0-7260-42B7-803A-D557CFB609A2}"/>
              </c:ext>
            </c:extLst>
          </c:dPt>
          <c:dPt>
            <c:idx val="2"/>
            <c:bubble3D val="0"/>
            <c:spPr>
              <a:solidFill>
                <a:schemeClr val="accent4">
                  <a:shade val="86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7260-42B7-803A-D557CFB609A2}"/>
              </c:ext>
            </c:extLst>
          </c:dPt>
          <c:dPt>
            <c:idx val="3"/>
            <c:bubble3D val="0"/>
            <c:spPr>
              <a:solidFill>
                <a:schemeClr val="accent4">
                  <a:shade val="58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7260-42B7-803A-D557CFB609A2}"/>
              </c:ext>
            </c:extLst>
          </c:dPt>
          <c:dLbls>
            <c:delete val="1"/>
          </c:dLbls>
          <c:cat>
            <c:strRef>
              <c:f>Sheet1!$A$2:$A$5</c:f>
              <c:strCache>
                <c:ptCount val="3"/>
                <c:pt idx="0">
                  <c:v>330ml</c:v>
                </c:pt>
                <c:pt idx="1">
                  <c:v>500ml</c:v>
                </c:pt>
                <c:pt idx="2">
                  <c:v>650ml</c:v>
                </c:pt>
              </c:strCache>
            </c:strRef>
          </c:cat>
          <c:val>
            <c:numRef>
              <c:f>Sheet1!$B$2:$B$5</c:f>
              <c:numCache>
                <c:formatCode>General</c:formatCode>
                <c:ptCount val="4"/>
                <c:pt idx="0">
                  <c:v>17</c:v>
                </c:pt>
                <c:pt idx="1">
                  <c:v>3</c:v>
                </c:pt>
                <c:pt idx="2">
                  <c:v>80</c:v>
                </c:pt>
              </c:numCache>
            </c:numRef>
          </c:val>
          <c:extLst>
            <c:ext xmlns:c16="http://schemas.microsoft.com/office/drawing/2014/chart" uri="{C3380CC4-5D6E-409C-BE32-E72D297353CC}">
              <c16:uniqueId val="{00000000-E069-441E-AF15-18B1FC7E4823}"/>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withinLinearReversed" id="24">
  <a:schemeClr val="accent4"/>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0.14065</cdr:x>
      <cdr:y>0.82276</cdr:y>
    </cdr:from>
    <cdr:to>
      <cdr:x>0.86837</cdr:x>
      <cdr:y>0.99496</cdr:y>
    </cdr:to>
    <cdr:sp macro="" textlink="">
      <cdr:nvSpPr>
        <cdr:cNvPr id="2" name="TextBox 30">
          <a:extLst xmlns:a="http://schemas.openxmlformats.org/drawingml/2006/main">
            <a:ext uri="{FF2B5EF4-FFF2-40B4-BE49-F238E27FC236}">
              <a16:creationId xmlns:a16="http://schemas.microsoft.com/office/drawing/2014/main" id="{BDEF198C-2D5B-CC7E-F5D7-2F267AC10BEF}"/>
            </a:ext>
          </a:extLst>
        </cdr:cNvPr>
        <cdr:cNvSpPr txBox="1"/>
      </cdr:nvSpPr>
      <cdr:spPr>
        <a:xfrm xmlns:a="http://schemas.openxmlformats.org/drawingml/2006/main">
          <a:off x="507392" y="1617599"/>
          <a:ext cx="2625213" cy="338554"/>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sz="1600" b="1" dirty="0">
              <a:solidFill>
                <a:srgbClr val="FF9900"/>
              </a:solidFill>
              <a:latin typeface="Product Sans" panose="020B0403030502040203" pitchFamily="34" charset="0"/>
            </a:rPr>
            <a:t>% Market Share of Bottle </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742A32-15FB-4B70-8BE9-900B5229949B}"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D1686-F807-4B94-A91E-252802199DC1}" type="slidenum">
              <a:rPr lang="en-US" smtClean="0"/>
              <a:t>‹#›</a:t>
            </a:fld>
            <a:endParaRPr lang="en-US"/>
          </a:p>
        </p:txBody>
      </p:sp>
    </p:spTree>
    <p:extLst>
      <p:ext uri="{BB962C8B-B14F-4D97-AF65-F5344CB8AC3E}">
        <p14:creationId xmlns:p14="http://schemas.microsoft.com/office/powerpoint/2010/main" val="79494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4D1686-F807-4B94-A91E-252802199DC1}" type="slidenum">
              <a:rPr lang="en-US" smtClean="0"/>
              <a:t>3</a:t>
            </a:fld>
            <a:endParaRPr lang="en-US"/>
          </a:p>
        </p:txBody>
      </p:sp>
    </p:spTree>
    <p:extLst>
      <p:ext uri="{BB962C8B-B14F-4D97-AF65-F5344CB8AC3E}">
        <p14:creationId xmlns:p14="http://schemas.microsoft.com/office/powerpoint/2010/main" val="3492317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E9C0-AD99-1B8F-42BB-53B939CF4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C3ABB-0738-0130-6806-C8021CD4DB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F6DD8E8-981D-585F-64D6-3F8207E7AD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7EFBAE-5844-7E26-D97A-2FF931BC6ED0}"/>
              </a:ext>
            </a:extLst>
          </p:cNvPr>
          <p:cNvSpPr>
            <a:spLocks noGrp="1"/>
          </p:cNvSpPr>
          <p:nvPr>
            <p:ph type="sldNum" sz="quarter" idx="5"/>
          </p:nvPr>
        </p:nvSpPr>
        <p:spPr/>
        <p:txBody>
          <a:bodyPr/>
          <a:lstStyle/>
          <a:p>
            <a:fld id="{3D4D1686-F807-4B94-A91E-252802199DC1}" type="slidenum">
              <a:rPr lang="en-US" smtClean="0"/>
              <a:t>5</a:t>
            </a:fld>
            <a:endParaRPr lang="en-US"/>
          </a:p>
        </p:txBody>
      </p:sp>
    </p:spTree>
    <p:extLst>
      <p:ext uri="{BB962C8B-B14F-4D97-AF65-F5344CB8AC3E}">
        <p14:creationId xmlns:p14="http://schemas.microsoft.com/office/powerpoint/2010/main" val="2699213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4D1686-F807-4B94-A91E-252802199DC1}" type="slidenum">
              <a:rPr lang="en-US" smtClean="0"/>
              <a:t>6</a:t>
            </a:fld>
            <a:endParaRPr lang="en-US"/>
          </a:p>
        </p:txBody>
      </p:sp>
    </p:spTree>
    <p:extLst>
      <p:ext uri="{BB962C8B-B14F-4D97-AF65-F5344CB8AC3E}">
        <p14:creationId xmlns:p14="http://schemas.microsoft.com/office/powerpoint/2010/main" val="3819743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075D8-E4B9-6D37-6C98-E42ECA515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BA5A6-C675-F933-C445-F560C7C13D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96F0AE-EF39-0C22-FE57-DFE386FCCAC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9C8C92-01A8-ECC4-1705-60D86C167811}"/>
              </a:ext>
            </a:extLst>
          </p:cNvPr>
          <p:cNvSpPr>
            <a:spLocks noGrp="1"/>
          </p:cNvSpPr>
          <p:nvPr>
            <p:ph type="sldNum" sz="quarter" idx="5"/>
          </p:nvPr>
        </p:nvSpPr>
        <p:spPr/>
        <p:txBody>
          <a:bodyPr/>
          <a:lstStyle/>
          <a:p>
            <a:fld id="{3D4D1686-F807-4B94-A91E-252802199DC1}" type="slidenum">
              <a:rPr lang="en-US" smtClean="0"/>
              <a:t>8</a:t>
            </a:fld>
            <a:endParaRPr lang="en-US"/>
          </a:p>
        </p:txBody>
      </p:sp>
    </p:spTree>
    <p:extLst>
      <p:ext uri="{BB962C8B-B14F-4D97-AF65-F5344CB8AC3E}">
        <p14:creationId xmlns:p14="http://schemas.microsoft.com/office/powerpoint/2010/main" val="4205475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4D1686-F807-4B94-A91E-252802199DC1}" type="slidenum">
              <a:rPr lang="en-US" smtClean="0"/>
              <a:t>9</a:t>
            </a:fld>
            <a:endParaRPr lang="en-US"/>
          </a:p>
        </p:txBody>
      </p:sp>
    </p:spTree>
    <p:extLst>
      <p:ext uri="{BB962C8B-B14F-4D97-AF65-F5344CB8AC3E}">
        <p14:creationId xmlns:p14="http://schemas.microsoft.com/office/powerpoint/2010/main" val="159620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2425-7D61-3D98-A7F1-23C8C7B99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4EA3B-EAD6-3560-CE5B-36A0706F07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065AB1-7115-7DF9-6F6B-2D225B21D8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415E5F-9B3D-8F1A-6A37-D76247665839}"/>
              </a:ext>
            </a:extLst>
          </p:cNvPr>
          <p:cNvSpPr>
            <a:spLocks noGrp="1"/>
          </p:cNvSpPr>
          <p:nvPr>
            <p:ph type="sldNum" sz="quarter" idx="5"/>
          </p:nvPr>
        </p:nvSpPr>
        <p:spPr/>
        <p:txBody>
          <a:bodyPr/>
          <a:lstStyle/>
          <a:p>
            <a:fld id="{3D4D1686-F807-4B94-A91E-252802199DC1}" type="slidenum">
              <a:rPr lang="en-US" smtClean="0"/>
              <a:t>10</a:t>
            </a:fld>
            <a:endParaRPr lang="en-US"/>
          </a:p>
        </p:txBody>
      </p:sp>
    </p:spTree>
    <p:extLst>
      <p:ext uri="{BB962C8B-B14F-4D97-AF65-F5344CB8AC3E}">
        <p14:creationId xmlns:p14="http://schemas.microsoft.com/office/powerpoint/2010/main" val="2108684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4CB5-D317-9E71-79CD-FD281041E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AA03D9-5701-F8E0-69B8-BD960AF723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6B229D-1644-3095-F883-60D7FEFB7B74}"/>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5" name="Footer Placeholder 4">
            <a:extLst>
              <a:ext uri="{FF2B5EF4-FFF2-40B4-BE49-F238E27FC236}">
                <a16:creationId xmlns:a16="http://schemas.microsoft.com/office/drawing/2014/main" id="{63F5B88B-76B6-5439-B1DD-9A84F91737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C2018E-3ED2-85D2-5474-E855E4022EE6}"/>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1352447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2567-362F-E160-DD85-19D87C5E27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BC553B-FE43-6CC1-942A-E738B07365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7FCBF4-BC31-2040-EFB0-02638F81B1AD}"/>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5" name="Footer Placeholder 4">
            <a:extLst>
              <a:ext uri="{FF2B5EF4-FFF2-40B4-BE49-F238E27FC236}">
                <a16:creationId xmlns:a16="http://schemas.microsoft.com/office/drawing/2014/main" id="{72E39E45-FC97-B32F-FA69-1860DC39BA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810E8A-9474-F65C-93ED-7A0B02A4FFC4}"/>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384480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A9DE-24AA-F94B-54BA-3D2F13D777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B681D7-D22C-5F36-A3B4-8A0502A092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DA75EB-3898-7322-39D5-66B1DA3D49F7}"/>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5" name="Footer Placeholder 4">
            <a:extLst>
              <a:ext uri="{FF2B5EF4-FFF2-40B4-BE49-F238E27FC236}">
                <a16:creationId xmlns:a16="http://schemas.microsoft.com/office/drawing/2014/main" id="{AD381128-568B-DCBD-3718-15E78C1B99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ED66BB-9E36-6B50-98B7-96726970AF53}"/>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457769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5493-52A0-4032-EF9A-D9E3550DE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7960C2-0332-66E1-E103-8F53A58EAC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39C28F-457D-48E6-A89E-1ECF867C60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975195-BDE5-ED84-A31F-CB6D75EB9B8B}"/>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6" name="Footer Placeholder 5">
            <a:extLst>
              <a:ext uri="{FF2B5EF4-FFF2-40B4-BE49-F238E27FC236}">
                <a16:creationId xmlns:a16="http://schemas.microsoft.com/office/drawing/2014/main" id="{82EA12A9-5B47-A817-9EDC-B7172E780B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D3BED3-BC83-0726-587B-87364B25EC44}"/>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3030423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EB170-7BA0-7C0C-696C-868C52947E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3F734F-9E62-0F95-38C3-9F4AB10D5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C06AB0-E2DB-F375-2500-FD10DE3308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BAB301-ACD6-6A41-33E9-27DDACA3FC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9807CB-EB01-6161-3D26-3E194992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A84E7B-5731-B564-2399-7288B65052A0}"/>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8" name="Footer Placeholder 7">
            <a:extLst>
              <a:ext uri="{FF2B5EF4-FFF2-40B4-BE49-F238E27FC236}">
                <a16:creationId xmlns:a16="http://schemas.microsoft.com/office/drawing/2014/main" id="{D386FF83-C200-ADEF-7EBD-37A2CEC83E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4ACD21-B030-6259-774C-567B7F433E3C}"/>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3620017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1175C-551B-596A-E951-E05ADC411E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306B77-FAFC-CD5E-6B4C-235219ADF222}"/>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4" name="Footer Placeholder 3">
            <a:extLst>
              <a:ext uri="{FF2B5EF4-FFF2-40B4-BE49-F238E27FC236}">
                <a16:creationId xmlns:a16="http://schemas.microsoft.com/office/drawing/2014/main" id="{41232CCE-9520-531A-A0F6-B22336A76B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1BE53B-A079-2EBA-78B8-48D35A0C4353}"/>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183883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592D3B-D5BE-6942-AF97-23121ED8094E}"/>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3" name="Footer Placeholder 2">
            <a:extLst>
              <a:ext uri="{FF2B5EF4-FFF2-40B4-BE49-F238E27FC236}">
                <a16:creationId xmlns:a16="http://schemas.microsoft.com/office/drawing/2014/main" id="{17160B84-E188-543F-BAD9-09FFAFE822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ED1BDC-C886-2685-E5C4-958D0ACCDA5D}"/>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3400178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45E24-235C-C9F5-AC6E-06C4D58649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C7D1F8-8828-06BC-EC90-30C8BB294D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38CD4B-5E66-64B3-9D97-FC6552C126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28DF90-E85E-A884-2CE6-7686C1E157B0}"/>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6" name="Footer Placeholder 5">
            <a:extLst>
              <a:ext uri="{FF2B5EF4-FFF2-40B4-BE49-F238E27FC236}">
                <a16:creationId xmlns:a16="http://schemas.microsoft.com/office/drawing/2014/main" id="{3901EE7D-15CE-D301-DE7C-4A2B74F39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E7144C-B757-5EE8-3E5A-8523C26716C0}"/>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540942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B7688-6E05-AD1E-80AE-1932047311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76D2D6-8F00-FC01-0A74-62960F27E9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802566-ED68-0C16-FB6B-1CECC275F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092D6B-1FCA-0147-6078-2B3479BC79C5}"/>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6" name="Footer Placeholder 5">
            <a:extLst>
              <a:ext uri="{FF2B5EF4-FFF2-40B4-BE49-F238E27FC236}">
                <a16:creationId xmlns:a16="http://schemas.microsoft.com/office/drawing/2014/main" id="{7D39A4EA-7EF6-9F5D-AC15-F1EE82DBBC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37CAF8-69CE-D498-6F77-44E3162CC1C9}"/>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381468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C1F9-B30E-4FAD-DC7B-8F0E9EB307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FDFB26-D557-B557-2816-FF0322C5D1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690640-36C2-CAE9-F3E7-93B7A44604B8}"/>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5" name="Footer Placeholder 4">
            <a:extLst>
              <a:ext uri="{FF2B5EF4-FFF2-40B4-BE49-F238E27FC236}">
                <a16:creationId xmlns:a16="http://schemas.microsoft.com/office/drawing/2014/main" id="{DD8C82BD-AC84-02B1-CD2C-9C22ABEF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CB47C-F612-C1CF-F0FF-E40082A59B4D}"/>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240847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A8F02E-2D64-CF14-955D-35817C72B5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3A3481-FCB5-D44F-44F2-4264B55355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4AB93-FD21-0311-C010-168D66F37686}"/>
              </a:ext>
            </a:extLst>
          </p:cNvPr>
          <p:cNvSpPr>
            <a:spLocks noGrp="1"/>
          </p:cNvSpPr>
          <p:nvPr>
            <p:ph type="dt" sz="half" idx="10"/>
          </p:nvPr>
        </p:nvSpPr>
        <p:spPr/>
        <p:txBody>
          <a:bodyPr/>
          <a:lstStyle/>
          <a:p>
            <a:fld id="{1DBBB3BB-DE81-4571-825D-031EA2AE5F67}" type="datetimeFigureOut">
              <a:rPr lang="en-US" smtClean="0"/>
              <a:t>9/16/2026</a:t>
            </a:fld>
            <a:endParaRPr lang="en-US"/>
          </a:p>
        </p:txBody>
      </p:sp>
      <p:sp>
        <p:nvSpPr>
          <p:cNvPr id="5" name="Footer Placeholder 4">
            <a:extLst>
              <a:ext uri="{FF2B5EF4-FFF2-40B4-BE49-F238E27FC236}">
                <a16:creationId xmlns:a16="http://schemas.microsoft.com/office/drawing/2014/main" id="{75255B9B-DB90-C68A-4E8D-56B1862524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10DC23-9D80-BA2E-BFB3-EBD308BF3124}"/>
              </a:ext>
            </a:extLst>
          </p:cNvPr>
          <p:cNvSpPr>
            <a:spLocks noGrp="1"/>
          </p:cNvSpPr>
          <p:nvPr>
            <p:ph type="sldNum" sz="quarter" idx="12"/>
          </p:nvPr>
        </p:nvSpPr>
        <p:spPr/>
        <p:txBody>
          <a:bodyPr/>
          <a:lstStyle/>
          <a:p>
            <a:fld id="{2B349F50-EC73-42DB-A382-A790B078684E}" type="slidenum">
              <a:rPr lang="en-US" smtClean="0"/>
              <a:t>‹#›</a:t>
            </a:fld>
            <a:endParaRPr lang="en-US"/>
          </a:p>
        </p:txBody>
      </p:sp>
    </p:spTree>
    <p:extLst>
      <p:ext uri="{BB962C8B-B14F-4D97-AF65-F5344CB8AC3E}">
        <p14:creationId xmlns:p14="http://schemas.microsoft.com/office/powerpoint/2010/main" val="1235676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A4CC51-ABDC-3268-E9C9-9EC5EEF8F1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E124E9-1DCE-3CD7-5402-1EC685964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0072A-5F4D-9205-B735-227E2CECA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BBB3BB-DE81-4571-825D-031EA2AE5F67}" type="datetimeFigureOut">
              <a:rPr lang="en-US" smtClean="0"/>
              <a:t>9/16/2026</a:t>
            </a:fld>
            <a:endParaRPr lang="en-US"/>
          </a:p>
        </p:txBody>
      </p:sp>
      <p:sp>
        <p:nvSpPr>
          <p:cNvPr id="5" name="Footer Placeholder 4">
            <a:extLst>
              <a:ext uri="{FF2B5EF4-FFF2-40B4-BE49-F238E27FC236}">
                <a16:creationId xmlns:a16="http://schemas.microsoft.com/office/drawing/2014/main" id="{0418F0D0-9108-AC90-A519-EB8335A37B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26C9D9-750F-EB35-AFD6-6E5391B427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349F50-EC73-42DB-A382-A790B078684E}" type="slidenum">
              <a:rPr lang="en-US" smtClean="0"/>
              <a:t>‹#›</a:t>
            </a:fld>
            <a:endParaRPr lang="en-US"/>
          </a:p>
        </p:txBody>
      </p:sp>
    </p:spTree>
    <p:extLst>
      <p:ext uri="{BB962C8B-B14F-4D97-AF65-F5344CB8AC3E}">
        <p14:creationId xmlns:p14="http://schemas.microsoft.com/office/powerpoint/2010/main" val="217234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0E26BA-B071-DFD9-760C-81B806F58C71}"/>
              </a:ext>
            </a:extLst>
          </p:cNvPr>
          <p:cNvSpPr txBox="1"/>
          <p:nvPr/>
        </p:nvSpPr>
        <p:spPr>
          <a:xfrm>
            <a:off x="1037302" y="1848585"/>
            <a:ext cx="9866672" cy="707886"/>
          </a:xfrm>
          <a:prstGeom prst="rect">
            <a:avLst/>
          </a:prstGeom>
          <a:noFill/>
        </p:spPr>
        <p:txBody>
          <a:bodyPr wrap="square" rtlCol="0">
            <a:spAutoFit/>
          </a:bodyPr>
          <a:lstStyle/>
          <a:p>
            <a:r>
              <a:rPr lang="en-US" sz="4000" b="1" dirty="0">
                <a:solidFill>
                  <a:srgbClr val="FFC000"/>
                </a:solidFill>
                <a:latin typeface="Product Sans" panose="020B0403030502040203" pitchFamily="34" charset="0"/>
              </a:rPr>
              <a:t>Project Problem :</a:t>
            </a:r>
          </a:p>
        </p:txBody>
      </p:sp>
      <p:sp>
        <p:nvSpPr>
          <p:cNvPr id="6" name="TextBox 5">
            <a:extLst>
              <a:ext uri="{FF2B5EF4-FFF2-40B4-BE49-F238E27FC236}">
                <a16:creationId xmlns:a16="http://schemas.microsoft.com/office/drawing/2014/main" id="{F1489A7D-EA74-A712-165E-AA3279397509}"/>
              </a:ext>
            </a:extLst>
          </p:cNvPr>
          <p:cNvSpPr txBox="1"/>
          <p:nvPr/>
        </p:nvSpPr>
        <p:spPr>
          <a:xfrm>
            <a:off x="9104671" y="5904746"/>
            <a:ext cx="7792065" cy="523220"/>
          </a:xfrm>
          <a:prstGeom prst="rect">
            <a:avLst/>
          </a:prstGeom>
          <a:noFill/>
        </p:spPr>
        <p:txBody>
          <a:bodyPr wrap="square">
            <a:spAutoFit/>
          </a:bodyPr>
          <a:lstStyle/>
          <a:p>
            <a:r>
              <a:rPr lang="en-US" sz="2800">
                <a:latin typeface="Product Sans" panose="020B0403030502040203" pitchFamily="34" charset="0"/>
              </a:rPr>
              <a:t>Yash Keswani</a:t>
            </a:r>
          </a:p>
        </p:txBody>
      </p:sp>
      <p:sp>
        <p:nvSpPr>
          <p:cNvPr id="7" name="TextBox 6">
            <a:extLst>
              <a:ext uri="{FF2B5EF4-FFF2-40B4-BE49-F238E27FC236}">
                <a16:creationId xmlns:a16="http://schemas.microsoft.com/office/drawing/2014/main" id="{FB2C65DF-3205-C9F8-CF6B-B397BE14BB3E}"/>
              </a:ext>
            </a:extLst>
          </p:cNvPr>
          <p:cNvSpPr txBox="1"/>
          <p:nvPr/>
        </p:nvSpPr>
        <p:spPr>
          <a:xfrm>
            <a:off x="356011" y="5985769"/>
            <a:ext cx="7792065" cy="523220"/>
          </a:xfrm>
          <a:prstGeom prst="rect">
            <a:avLst/>
          </a:prstGeom>
          <a:noFill/>
        </p:spPr>
        <p:txBody>
          <a:bodyPr wrap="square">
            <a:spAutoFit/>
          </a:bodyPr>
          <a:lstStyle/>
          <a:p>
            <a:r>
              <a:rPr lang="en-US" sz="2800">
                <a:latin typeface="Product Sans" panose="020B0403030502040203" pitchFamily="34" charset="0"/>
              </a:rPr>
              <a:t>Vyas Bhumit Vishnugopal</a:t>
            </a:r>
          </a:p>
        </p:txBody>
      </p:sp>
      <p:sp>
        <p:nvSpPr>
          <p:cNvPr id="3" name="TextBox 2">
            <a:extLst>
              <a:ext uri="{FF2B5EF4-FFF2-40B4-BE49-F238E27FC236}">
                <a16:creationId xmlns:a16="http://schemas.microsoft.com/office/drawing/2014/main" id="{3E5888D9-0500-574B-EC33-B9EF4CDD073A}"/>
              </a:ext>
            </a:extLst>
          </p:cNvPr>
          <p:cNvSpPr txBox="1"/>
          <p:nvPr/>
        </p:nvSpPr>
        <p:spPr>
          <a:xfrm>
            <a:off x="5149780" y="1848585"/>
            <a:ext cx="7042220" cy="1938992"/>
          </a:xfrm>
          <a:prstGeom prst="rect">
            <a:avLst/>
          </a:prstGeom>
          <a:noFill/>
        </p:spPr>
        <p:txBody>
          <a:bodyPr wrap="square" rtlCol="0">
            <a:spAutoFit/>
          </a:bodyPr>
          <a:lstStyle>
            <a:defPPr>
              <a:defRPr lang="en-US"/>
            </a:defPPr>
            <a:lvl1pPr>
              <a:defRPr sz="4000" b="1">
                <a:solidFill>
                  <a:srgbClr val="FFC000"/>
                </a:solidFill>
                <a:latin typeface="Product Sans" panose="020B0403030502040203" pitchFamily="34" charset="0"/>
              </a:defRPr>
            </a:lvl1pPr>
          </a:lstStyle>
          <a:p>
            <a:r>
              <a:rPr lang="en-US" dirty="0"/>
              <a:t>Strategic Cost Reduction &amp; Risk Mitigation in Packaging Procurement for ABInBev.</a:t>
            </a:r>
          </a:p>
        </p:txBody>
      </p:sp>
    </p:spTree>
    <p:extLst>
      <p:ext uri="{BB962C8B-B14F-4D97-AF65-F5344CB8AC3E}">
        <p14:creationId xmlns:p14="http://schemas.microsoft.com/office/powerpoint/2010/main" val="4001036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95960D-B081-9826-DE03-4393CB5B2914}"/>
              </a:ext>
            </a:extLst>
          </p:cNvPr>
          <p:cNvSpPr txBox="1"/>
          <p:nvPr/>
        </p:nvSpPr>
        <p:spPr>
          <a:xfrm>
            <a:off x="226142" y="260583"/>
            <a:ext cx="2305693" cy="707886"/>
          </a:xfrm>
          <a:prstGeom prst="rect">
            <a:avLst/>
          </a:prstGeom>
          <a:noFill/>
        </p:spPr>
        <p:txBody>
          <a:bodyPr wrap="square" rtlCol="0">
            <a:spAutoFit/>
          </a:bodyPr>
          <a:lstStyle/>
          <a:p>
            <a:r>
              <a:rPr lang="en-US" sz="4000" b="1">
                <a:solidFill>
                  <a:srgbClr val="FFFF00"/>
                </a:solidFill>
                <a:highlight>
                  <a:srgbClr val="000000"/>
                </a:highlight>
                <a:latin typeface="Product Sans" panose="020B0403030502040203" pitchFamily="34" charset="0"/>
              </a:rPr>
              <a:t>Index </a:t>
            </a:r>
          </a:p>
        </p:txBody>
      </p:sp>
      <p:sp>
        <p:nvSpPr>
          <p:cNvPr id="4" name="TextBox 3">
            <a:extLst>
              <a:ext uri="{FF2B5EF4-FFF2-40B4-BE49-F238E27FC236}">
                <a16:creationId xmlns:a16="http://schemas.microsoft.com/office/drawing/2014/main" id="{DFF7BC84-1CE1-E209-0909-53315614EDD8}"/>
              </a:ext>
            </a:extLst>
          </p:cNvPr>
          <p:cNvSpPr txBox="1"/>
          <p:nvPr/>
        </p:nvSpPr>
        <p:spPr>
          <a:xfrm>
            <a:off x="1224113" y="959120"/>
            <a:ext cx="7792065" cy="523220"/>
          </a:xfrm>
          <a:prstGeom prst="rect">
            <a:avLst/>
          </a:prstGeom>
          <a:noFill/>
        </p:spPr>
        <p:txBody>
          <a:bodyPr wrap="square">
            <a:spAutoFit/>
          </a:bodyPr>
          <a:lstStyle/>
          <a:p>
            <a:r>
              <a:rPr lang="en-US" sz="2800">
                <a:latin typeface="Product Sans" panose="020B0403030502040203" pitchFamily="34" charset="0"/>
              </a:rPr>
              <a:t>1. Introduction &amp; Market Landscape</a:t>
            </a:r>
          </a:p>
        </p:txBody>
      </p:sp>
      <p:sp>
        <p:nvSpPr>
          <p:cNvPr id="5" name="TextBox 4">
            <a:extLst>
              <a:ext uri="{FF2B5EF4-FFF2-40B4-BE49-F238E27FC236}">
                <a16:creationId xmlns:a16="http://schemas.microsoft.com/office/drawing/2014/main" id="{12BB706F-87AC-E5BA-EF56-38B5A26772FD}"/>
              </a:ext>
            </a:extLst>
          </p:cNvPr>
          <p:cNvSpPr txBox="1"/>
          <p:nvPr/>
        </p:nvSpPr>
        <p:spPr>
          <a:xfrm>
            <a:off x="1224113" y="1413333"/>
            <a:ext cx="7792065" cy="523220"/>
          </a:xfrm>
          <a:prstGeom prst="rect">
            <a:avLst/>
          </a:prstGeom>
          <a:noFill/>
        </p:spPr>
        <p:txBody>
          <a:bodyPr wrap="square">
            <a:spAutoFit/>
          </a:bodyPr>
          <a:lstStyle/>
          <a:p>
            <a:r>
              <a:rPr lang="en-US" sz="2800">
                <a:latin typeface="Product Sans" panose="020B0403030502040203" pitchFamily="34" charset="0"/>
              </a:rPr>
              <a:t>2. Unit Costs &amp; Packaging Problem</a:t>
            </a:r>
          </a:p>
        </p:txBody>
      </p:sp>
      <p:sp>
        <p:nvSpPr>
          <p:cNvPr id="15" name="TextBox 14">
            <a:extLst>
              <a:ext uri="{FF2B5EF4-FFF2-40B4-BE49-F238E27FC236}">
                <a16:creationId xmlns:a16="http://schemas.microsoft.com/office/drawing/2014/main" id="{2FCECCF5-5544-1CFF-8937-42C4E04C735E}"/>
              </a:ext>
            </a:extLst>
          </p:cNvPr>
          <p:cNvSpPr txBox="1"/>
          <p:nvPr/>
        </p:nvSpPr>
        <p:spPr>
          <a:xfrm>
            <a:off x="1224113" y="1867546"/>
            <a:ext cx="7792065" cy="523220"/>
          </a:xfrm>
          <a:prstGeom prst="rect">
            <a:avLst/>
          </a:prstGeom>
          <a:noFill/>
        </p:spPr>
        <p:txBody>
          <a:bodyPr wrap="square">
            <a:spAutoFit/>
          </a:bodyPr>
          <a:lstStyle/>
          <a:p>
            <a:r>
              <a:rPr lang="en-US" sz="2800">
                <a:latin typeface="Product Sans" panose="020B0403030502040203" pitchFamily="34" charset="0"/>
              </a:rPr>
              <a:t>3. Aluminum Problem &amp; Proposed Solution</a:t>
            </a:r>
          </a:p>
        </p:txBody>
      </p:sp>
      <p:sp>
        <p:nvSpPr>
          <p:cNvPr id="16" name="TextBox 15">
            <a:extLst>
              <a:ext uri="{FF2B5EF4-FFF2-40B4-BE49-F238E27FC236}">
                <a16:creationId xmlns:a16="http://schemas.microsoft.com/office/drawing/2014/main" id="{5BA32C02-6A76-D4D2-9D20-0094B9C01412}"/>
              </a:ext>
            </a:extLst>
          </p:cNvPr>
          <p:cNvSpPr txBox="1"/>
          <p:nvPr/>
        </p:nvSpPr>
        <p:spPr>
          <a:xfrm>
            <a:off x="1224113" y="2321758"/>
            <a:ext cx="7792065" cy="523220"/>
          </a:xfrm>
          <a:prstGeom prst="rect">
            <a:avLst/>
          </a:prstGeom>
          <a:noFill/>
        </p:spPr>
        <p:txBody>
          <a:bodyPr wrap="square">
            <a:spAutoFit/>
          </a:bodyPr>
          <a:lstStyle/>
          <a:p>
            <a:r>
              <a:rPr lang="en-US" sz="2800">
                <a:latin typeface="Product Sans" panose="020B0403030502040203" pitchFamily="34" charset="0"/>
              </a:rPr>
              <a:t>4. Detailed Analysis &amp; AI Integration</a:t>
            </a:r>
          </a:p>
        </p:txBody>
      </p:sp>
      <p:sp>
        <p:nvSpPr>
          <p:cNvPr id="17" name="TextBox 16">
            <a:extLst>
              <a:ext uri="{FF2B5EF4-FFF2-40B4-BE49-F238E27FC236}">
                <a16:creationId xmlns:a16="http://schemas.microsoft.com/office/drawing/2014/main" id="{F64A71D9-7E41-647B-73CD-6210895A2592}"/>
              </a:ext>
            </a:extLst>
          </p:cNvPr>
          <p:cNvSpPr txBox="1"/>
          <p:nvPr/>
        </p:nvSpPr>
        <p:spPr>
          <a:xfrm>
            <a:off x="1224113" y="2775972"/>
            <a:ext cx="7792065" cy="523220"/>
          </a:xfrm>
          <a:prstGeom prst="rect">
            <a:avLst/>
          </a:prstGeom>
          <a:noFill/>
        </p:spPr>
        <p:txBody>
          <a:bodyPr wrap="square">
            <a:spAutoFit/>
          </a:bodyPr>
          <a:lstStyle/>
          <a:p>
            <a:r>
              <a:rPr lang="en-US" sz="2800">
                <a:latin typeface="Product Sans" panose="020B0403030502040203" pitchFamily="34" charset="0"/>
              </a:rPr>
              <a:t>5. A peek into AI Model</a:t>
            </a:r>
          </a:p>
        </p:txBody>
      </p:sp>
      <p:sp>
        <p:nvSpPr>
          <p:cNvPr id="18" name="TextBox 17">
            <a:extLst>
              <a:ext uri="{FF2B5EF4-FFF2-40B4-BE49-F238E27FC236}">
                <a16:creationId xmlns:a16="http://schemas.microsoft.com/office/drawing/2014/main" id="{6DE6F728-0D5B-46F2-E904-84D613828D3C}"/>
              </a:ext>
            </a:extLst>
          </p:cNvPr>
          <p:cNvSpPr txBox="1"/>
          <p:nvPr/>
        </p:nvSpPr>
        <p:spPr>
          <a:xfrm>
            <a:off x="1224113" y="3230185"/>
            <a:ext cx="7792065" cy="523220"/>
          </a:xfrm>
          <a:prstGeom prst="rect">
            <a:avLst/>
          </a:prstGeom>
          <a:noFill/>
        </p:spPr>
        <p:txBody>
          <a:bodyPr wrap="square">
            <a:spAutoFit/>
          </a:bodyPr>
          <a:lstStyle/>
          <a:p>
            <a:r>
              <a:rPr lang="en-US" sz="2800">
                <a:latin typeface="Product Sans" panose="020B0403030502040203" pitchFamily="34" charset="0"/>
              </a:rPr>
              <a:t>6. Glass bottle Dynamics </a:t>
            </a:r>
          </a:p>
        </p:txBody>
      </p:sp>
      <p:sp>
        <p:nvSpPr>
          <p:cNvPr id="19" name="TextBox 18">
            <a:extLst>
              <a:ext uri="{FF2B5EF4-FFF2-40B4-BE49-F238E27FC236}">
                <a16:creationId xmlns:a16="http://schemas.microsoft.com/office/drawing/2014/main" id="{243413C6-31C5-9168-3190-2B9136867545}"/>
              </a:ext>
            </a:extLst>
          </p:cNvPr>
          <p:cNvSpPr txBox="1"/>
          <p:nvPr/>
        </p:nvSpPr>
        <p:spPr>
          <a:xfrm>
            <a:off x="1224113" y="3684398"/>
            <a:ext cx="7792065" cy="523220"/>
          </a:xfrm>
          <a:prstGeom prst="rect">
            <a:avLst/>
          </a:prstGeom>
          <a:noFill/>
        </p:spPr>
        <p:txBody>
          <a:bodyPr wrap="square">
            <a:spAutoFit/>
          </a:bodyPr>
          <a:lstStyle/>
          <a:p>
            <a:r>
              <a:rPr lang="en-US" sz="2800">
                <a:latin typeface="Product Sans" panose="020B0403030502040203" pitchFamily="34" charset="0"/>
              </a:rPr>
              <a:t>7. Business aspect in Glass Bottle </a:t>
            </a:r>
            <a:r>
              <a:rPr lang="en-US" sz="2800" err="1">
                <a:latin typeface="Product Sans" panose="020B0403030502040203" pitchFamily="34" charset="0"/>
              </a:rPr>
              <a:t>Dyanmics</a:t>
            </a:r>
            <a:endParaRPr lang="en-US" sz="2800">
              <a:latin typeface="Product Sans" panose="020B0403030502040203" pitchFamily="34" charset="0"/>
            </a:endParaRPr>
          </a:p>
        </p:txBody>
      </p:sp>
      <p:sp>
        <p:nvSpPr>
          <p:cNvPr id="20" name="TextBox 19">
            <a:extLst>
              <a:ext uri="{FF2B5EF4-FFF2-40B4-BE49-F238E27FC236}">
                <a16:creationId xmlns:a16="http://schemas.microsoft.com/office/drawing/2014/main" id="{49151604-D8E0-CC91-7571-C62E0E40C478}"/>
              </a:ext>
            </a:extLst>
          </p:cNvPr>
          <p:cNvSpPr txBox="1"/>
          <p:nvPr/>
        </p:nvSpPr>
        <p:spPr>
          <a:xfrm>
            <a:off x="1224113" y="4138610"/>
            <a:ext cx="8696635" cy="523220"/>
          </a:xfrm>
          <a:prstGeom prst="rect">
            <a:avLst/>
          </a:prstGeom>
          <a:noFill/>
        </p:spPr>
        <p:txBody>
          <a:bodyPr wrap="square">
            <a:spAutoFit/>
          </a:bodyPr>
          <a:lstStyle/>
          <a:p>
            <a:r>
              <a:rPr lang="en-US" sz="2800">
                <a:latin typeface="Product Sans" panose="020B0403030502040203" pitchFamily="34" charset="0"/>
              </a:rPr>
              <a:t>8. Journey of Used Glass Bottle </a:t>
            </a:r>
          </a:p>
        </p:txBody>
      </p:sp>
      <p:sp>
        <p:nvSpPr>
          <p:cNvPr id="21" name="TextBox 20">
            <a:extLst>
              <a:ext uri="{FF2B5EF4-FFF2-40B4-BE49-F238E27FC236}">
                <a16:creationId xmlns:a16="http://schemas.microsoft.com/office/drawing/2014/main" id="{FBEF3D5A-6E13-82FC-3A18-5CEBAAC5580D}"/>
              </a:ext>
            </a:extLst>
          </p:cNvPr>
          <p:cNvSpPr txBox="1"/>
          <p:nvPr/>
        </p:nvSpPr>
        <p:spPr>
          <a:xfrm>
            <a:off x="1224113" y="4592824"/>
            <a:ext cx="7792065" cy="523220"/>
          </a:xfrm>
          <a:prstGeom prst="rect">
            <a:avLst/>
          </a:prstGeom>
          <a:noFill/>
        </p:spPr>
        <p:txBody>
          <a:bodyPr wrap="square">
            <a:spAutoFit/>
          </a:bodyPr>
          <a:lstStyle/>
          <a:p>
            <a:r>
              <a:rPr lang="en-US" sz="2800">
                <a:latin typeface="Product Sans" panose="020B0403030502040203" pitchFamily="34" charset="0"/>
              </a:rPr>
              <a:t>9. Issues in Return Journey of Glass Bottle</a:t>
            </a:r>
          </a:p>
        </p:txBody>
      </p:sp>
      <p:sp>
        <p:nvSpPr>
          <p:cNvPr id="22" name="TextBox 21">
            <a:extLst>
              <a:ext uri="{FF2B5EF4-FFF2-40B4-BE49-F238E27FC236}">
                <a16:creationId xmlns:a16="http://schemas.microsoft.com/office/drawing/2014/main" id="{38FD8CF1-0296-56B1-151A-551F921B73AC}"/>
              </a:ext>
            </a:extLst>
          </p:cNvPr>
          <p:cNvSpPr txBox="1"/>
          <p:nvPr/>
        </p:nvSpPr>
        <p:spPr>
          <a:xfrm>
            <a:off x="1224113" y="5047036"/>
            <a:ext cx="7792065" cy="523220"/>
          </a:xfrm>
          <a:prstGeom prst="rect">
            <a:avLst/>
          </a:prstGeom>
          <a:noFill/>
        </p:spPr>
        <p:txBody>
          <a:bodyPr wrap="square">
            <a:spAutoFit/>
          </a:bodyPr>
          <a:lstStyle/>
          <a:p>
            <a:r>
              <a:rPr lang="en-US" sz="2800">
                <a:latin typeface="Product Sans" panose="020B0403030502040203" pitchFamily="34" charset="0"/>
              </a:rPr>
              <a:t>10. Solution for Reuse of Glass Bottle</a:t>
            </a:r>
          </a:p>
        </p:txBody>
      </p:sp>
    </p:spTree>
    <p:extLst>
      <p:ext uri="{BB962C8B-B14F-4D97-AF65-F5344CB8AC3E}">
        <p14:creationId xmlns:p14="http://schemas.microsoft.com/office/powerpoint/2010/main" val="2511116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02F2EF-7E07-9AD8-0E92-FD142F1CCA6B}"/>
              </a:ext>
            </a:extLst>
          </p:cNvPr>
          <p:cNvSpPr/>
          <p:nvPr/>
        </p:nvSpPr>
        <p:spPr>
          <a:xfrm>
            <a:off x="146777" y="830149"/>
            <a:ext cx="2926197" cy="1899457"/>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pic>
        <p:nvPicPr>
          <p:cNvPr id="3" name="Picture 2">
            <a:extLst>
              <a:ext uri="{FF2B5EF4-FFF2-40B4-BE49-F238E27FC236}">
                <a16:creationId xmlns:a16="http://schemas.microsoft.com/office/drawing/2014/main" id="{7CB508EF-16FE-AD8C-DF8F-AED55F48D4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819" y="61729"/>
            <a:ext cx="2094265" cy="693306"/>
          </a:xfrm>
          <a:prstGeom prst="rect">
            <a:avLst/>
          </a:prstGeom>
        </p:spPr>
      </p:pic>
      <p:sp>
        <p:nvSpPr>
          <p:cNvPr id="4" name="TextBox 3">
            <a:extLst>
              <a:ext uri="{FF2B5EF4-FFF2-40B4-BE49-F238E27FC236}">
                <a16:creationId xmlns:a16="http://schemas.microsoft.com/office/drawing/2014/main" id="{78E22004-633C-1B12-3F00-63A88D76C34F}"/>
              </a:ext>
            </a:extLst>
          </p:cNvPr>
          <p:cNvSpPr txBox="1"/>
          <p:nvPr/>
        </p:nvSpPr>
        <p:spPr>
          <a:xfrm>
            <a:off x="1878763" y="1264700"/>
            <a:ext cx="2323322" cy="1464906"/>
          </a:xfrm>
          <a:prstGeom prst="rect">
            <a:avLst/>
          </a:prstGeom>
          <a:noFill/>
        </p:spPr>
        <p:txBody>
          <a:bodyPr wrap="square" rtlCol="0">
            <a:spAutoFit/>
          </a:bodyPr>
          <a:lstStyle/>
          <a:p>
            <a:endParaRPr lang="en-US"/>
          </a:p>
        </p:txBody>
      </p:sp>
      <p:sp>
        <p:nvSpPr>
          <p:cNvPr id="5" name="TextBox 4">
            <a:extLst>
              <a:ext uri="{FF2B5EF4-FFF2-40B4-BE49-F238E27FC236}">
                <a16:creationId xmlns:a16="http://schemas.microsoft.com/office/drawing/2014/main" id="{780E290E-3393-0238-8D2E-AAE81A31CB04}"/>
              </a:ext>
            </a:extLst>
          </p:cNvPr>
          <p:cNvSpPr txBox="1"/>
          <p:nvPr/>
        </p:nvSpPr>
        <p:spPr>
          <a:xfrm>
            <a:off x="4001729" y="176981"/>
            <a:ext cx="6912077" cy="369332"/>
          </a:xfrm>
          <a:prstGeom prst="rect">
            <a:avLst/>
          </a:prstGeom>
          <a:noFill/>
        </p:spPr>
        <p:txBody>
          <a:bodyPr wrap="square" rtlCol="0">
            <a:spAutoFit/>
          </a:bodyPr>
          <a:lstStyle/>
          <a:p>
            <a:endParaRPr lang="en-US">
              <a:latin typeface="Sans  "/>
            </a:endParaRPr>
          </a:p>
        </p:txBody>
      </p:sp>
      <p:sp>
        <p:nvSpPr>
          <p:cNvPr id="8" name="TextBox 7">
            <a:extLst>
              <a:ext uri="{FF2B5EF4-FFF2-40B4-BE49-F238E27FC236}">
                <a16:creationId xmlns:a16="http://schemas.microsoft.com/office/drawing/2014/main" id="{207E4FC6-B23D-1FF8-FC76-71516A3F6D58}"/>
              </a:ext>
            </a:extLst>
          </p:cNvPr>
          <p:cNvSpPr txBox="1"/>
          <p:nvPr/>
        </p:nvSpPr>
        <p:spPr>
          <a:xfrm>
            <a:off x="237850" y="1062535"/>
            <a:ext cx="1549669" cy="738664"/>
          </a:xfrm>
          <a:prstGeom prst="rect">
            <a:avLst/>
          </a:prstGeom>
          <a:noFill/>
        </p:spPr>
        <p:txBody>
          <a:bodyPr wrap="square" rtlCol="0">
            <a:spAutoFit/>
          </a:bodyPr>
          <a:lstStyle/>
          <a:p>
            <a:r>
              <a:rPr lang="en-US" sz="2200" b="1">
                <a:latin typeface="Product Sans Black" panose="020B0A03030502040203" pitchFamily="34" charset="0"/>
              </a:rPr>
              <a:t>₹ 444 B+ </a:t>
            </a:r>
          </a:p>
          <a:p>
            <a:endParaRPr lang="en-US" sz="2000">
              <a:latin typeface="Product Sans Black" panose="020B0A03030502040203" pitchFamily="34" charset="0"/>
            </a:endParaRPr>
          </a:p>
        </p:txBody>
      </p:sp>
      <p:sp>
        <p:nvSpPr>
          <p:cNvPr id="9" name="TextBox 8">
            <a:extLst>
              <a:ext uri="{FF2B5EF4-FFF2-40B4-BE49-F238E27FC236}">
                <a16:creationId xmlns:a16="http://schemas.microsoft.com/office/drawing/2014/main" id="{9391F6A2-A55F-A3B6-A637-112636560514}"/>
              </a:ext>
            </a:extLst>
          </p:cNvPr>
          <p:cNvSpPr txBox="1"/>
          <p:nvPr/>
        </p:nvSpPr>
        <p:spPr>
          <a:xfrm>
            <a:off x="1515861" y="961031"/>
            <a:ext cx="1731985" cy="830997"/>
          </a:xfrm>
          <a:prstGeom prst="rect">
            <a:avLst/>
          </a:prstGeom>
          <a:noFill/>
        </p:spPr>
        <p:txBody>
          <a:bodyPr wrap="square" rtlCol="0">
            <a:spAutoFit/>
          </a:bodyPr>
          <a:lstStyle/>
          <a:p>
            <a:r>
              <a:rPr lang="en-US" sz="1600" b="1">
                <a:latin typeface="Product Sans" panose="020B0403030502040203" pitchFamily="34" charset="0"/>
              </a:rPr>
              <a:t>Market</a:t>
            </a:r>
            <a:r>
              <a:rPr lang="en-US" sz="1600" b="1">
                <a:latin typeface="Product Sans" panose="020B0403030502040203" pitchFamily="34" charset="0"/>
                <a:cs typeface="Arial" panose="020B0604020202020204" pitchFamily="34" charset="0"/>
              </a:rPr>
              <a:t> Size </a:t>
            </a:r>
            <a:r>
              <a:rPr lang="en-US" sz="1600">
                <a:latin typeface="Product Sans" panose="020B0403030502040203" pitchFamily="34" charset="0"/>
                <a:cs typeface="Arial" panose="020B0604020202020204" pitchFamily="34" charset="0"/>
              </a:rPr>
              <a:t>of </a:t>
            </a:r>
            <a:r>
              <a:rPr lang="en-US" sz="1600" b="1">
                <a:latin typeface="Product Sans" panose="020B0403030502040203" pitchFamily="34" charset="0"/>
                <a:cs typeface="Arial" panose="020B0604020202020204" pitchFamily="34" charset="0"/>
              </a:rPr>
              <a:t>Beer</a:t>
            </a:r>
            <a:r>
              <a:rPr lang="en-US" sz="1600">
                <a:latin typeface="Product Sans" panose="020B0403030502040203" pitchFamily="34" charset="0"/>
                <a:cs typeface="Arial" panose="020B0604020202020204" pitchFamily="34" charset="0"/>
              </a:rPr>
              <a:t> Industry in India</a:t>
            </a:r>
          </a:p>
        </p:txBody>
      </p:sp>
      <p:sp>
        <p:nvSpPr>
          <p:cNvPr id="17" name="TextBox 16">
            <a:extLst>
              <a:ext uri="{FF2B5EF4-FFF2-40B4-BE49-F238E27FC236}">
                <a16:creationId xmlns:a16="http://schemas.microsoft.com/office/drawing/2014/main" id="{182DCA8A-3DA4-62B0-3386-AA8A2242A022}"/>
              </a:ext>
            </a:extLst>
          </p:cNvPr>
          <p:cNvSpPr txBox="1"/>
          <p:nvPr/>
        </p:nvSpPr>
        <p:spPr>
          <a:xfrm>
            <a:off x="706573" y="2122809"/>
            <a:ext cx="2251587" cy="707886"/>
          </a:xfrm>
          <a:prstGeom prst="rect">
            <a:avLst/>
          </a:prstGeom>
          <a:noFill/>
        </p:spPr>
        <p:txBody>
          <a:bodyPr wrap="square" rtlCol="0">
            <a:spAutoFit/>
          </a:bodyPr>
          <a:lstStyle/>
          <a:p>
            <a:r>
              <a:rPr lang="en-US" sz="2000">
                <a:latin typeface="Product Sans Black" panose="020B0A03030502040203" pitchFamily="34" charset="0"/>
              </a:rPr>
              <a:t> </a:t>
            </a:r>
          </a:p>
          <a:p>
            <a:endParaRPr lang="en-US" sz="2000">
              <a:latin typeface="Product Sans Black" panose="020B0A03030502040203" pitchFamily="34" charset="0"/>
            </a:endParaRPr>
          </a:p>
        </p:txBody>
      </p:sp>
      <p:sp>
        <p:nvSpPr>
          <p:cNvPr id="26" name="TextBox 25">
            <a:extLst>
              <a:ext uri="{FF2B5EF4-FFF2-40B4-BE49-F238E27FC236}">
                <a16:creationId xmlns:a16="http://schemas.microsoft.com/office/drawing/2014/main" id="{853CA0DA-D506-026E-0ECC-19BDAA0D49E6}"/>
              </a:ext>
            </a:extLst>
          </p:cNvPr>
          <p:cNvSpPr txBox="1"/>
          <p:nvPr/>
        </p:nvSpPr>
        <p:spPr>
          <a:xfrm>
            <a:off x="706572" y="2877787"/>
            <a:ext cx="2645379"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Company’s focus</a:t>
            </a:r>
          </a:p>
        </p:txBody>
      </p:sp>
      <p:sp>
        <p:nvSpPr>
          <p:cNvPr id="27" name="TextBox 26">
            <a:extLst>
              <a:ext uri="{FF2B5EF4-FFF2-40B4-BE49-F238E27FC236}">
                <a16:creationId xmlns:a16="http://schemas.microsoft.com/office/drawing/2014/main" id="{868C0CF9-51A1-7AA3-9ADC-05CA42760C28}"/>
              </a:ext>
            </a:extLst>
          </p:cNvPr>
          <p:cNvSpPr txBox="1"/>
          <p:nvPr/>
        </p:nvSpPr>
        <p:spPr>
          <a:xfrm>
            <a:off x="0" y="3274154"/>
            <a:ext cx="2023189" cy="338554"/>
          </a:xfrm>
          <a:prstGeom prst="rect">
            <a:avLst/>
          </a:prstGeom>
          <a:noFill/>
        </p:spPr>
        <p:txBody>
          <a:bodyPr wrap="square" rtlCol="0">
            <a:spAutoFit/>
          </a:bodyPr>
          <a:lstStyle/>
          <a:p>
            <a:r>
              <a:rPr lang="en-US" sz="1600" b="1">
                <a:solidFill>
                  <a:srgbClr val="FF9900"/>
                </a:solidFill>
                <a:latin typeface="Product Sans" panose="020B0403030502040203" pitchFamily="34" charset="0"/>
              </a:rPr>
              <a:t>Organic growth</a:t>
            </a:r>
          </a:p>
        </p:txBody>
      </p:sp>
      <p:sp>
        <p:nvSpPr>
          <p:cNvPr id="28" name="TextBox 27">
            <a:extLst>
              <a:ext uri="{FF2B5EF4-FFF2-40B4-BE49-F238E27FC236}">
                <a16:creationId xmlns:a16="http://schemas.microsoft.com/office/drawing/2014/main" id="{23420E1E-B4E0-CFA1-070E-C669724B1E93}"/>
              </a:ext>
            </a:extLst>
          </p:cNvPr>
          <p:cNvSpPr txBox="1"/>
          <p:nvPr/>
        </p:nvSpPr>
        <p:spPr>
          <a:xfrm>
            <a:off x="0" y="3554619"/>
            <a:ext cx="4052482" cy="692497"/>
          </a:xfrm>
          <a:prstGeom prst="rect">
            <a:avLst/>
          </a:prstGeom>
          <a:noFill/>
        </p:spPr>
        <p:txBody>
          <a:bodyPr wrap="square" rtlCol="0">
            <a:spAutoFit/>
          </a:bodyPr>
          <a:lstStyle/>
          <a:p>
            <a:r>
              <a:rPr lang="en-US" sz="1300">
                <a:solidFill>
                  <a:srgbClr val="010101"/>
                </a:solidFill>
                <a:latin typeface="Product Sans" panose="020B0403030502040203" pitchFamily="34" charset="0"/>
              </a:rPr>
              <a:t>The company’s main area of focus has shifted from acquisitions to having </a:t>
            </a:r>
            <a:r>
              <a:rPr lang="en-US" sz="1300" b="1">
                <a:solidFill>
                  <a:srgbClr val="010101"/>
                </a:solidFill>
                <a:latin typeface="Product Sans" panose="020B0403030502040203" pitchFamily="34" charset="0"/>
              </a:rPr>
              <a:t>organic growth </a:t>
            </a:r>
            <a:r>
              <a:rPr lang="en-US" sz="1300">
                <a:solidFill>
                  <a:srgbClr val="010101"/>
                </a:solidFill>
                <a:latin typeface="Product Sans" panose="020B0403030502040203" pitchFamily="34" charset="0"/>
              </a:rPr>
              <a:t>rather than acquiring</a:t>
            </a:r>
          </a:p>
        </p:txBody>
      </p:sp>
      <p:sp>
        <p:nvSpPr>
          <p:cNvPr id="33" name="TextBox 32">
            <a:extLst>
              <a:ext uri="{FF2B5EF4-FFF2-40B4-BE49-F238E27FC236}">
                <a16:creationId xmlns:a16="http://schemas.microsoft.com/office/drawing/2014/main" id="{D8C23743-8098-938E-FFF2-42C61B3F5466}"/>
              </a:ext>
            </a:extLst>
          </p:cNvPr>
          <p:cNvSpPr txBox="1"/>
          <p:nvPr/>
        </p:nvSpPr>
        <p:spPr>
          <a:xfrm>
            <a:off x="-10628" y="4275079"/>
            <a:ext cx="2524901" cy="338554"/>
          </a:xfrm>
          <a:prstGeom prst="rect">
            <a:avLst/>
          </a:prstGeom>
          <a:noFill/>
        </p:spPr>
        <p:txBody>
          <a:bodyPr wrap="square" rtlCol="0">
            <a:spAutoFit/>
          </a:bodyPr>
          <a:lstStyle/>
          <a:p>
            <a:r>
              <a:rPr lang="en-US" sz="1600" b="1">
                <a:solidFill>
                  <a:srgbClr val="FF9900"/>
                </a:solidFill>
                <a:latin typeface="Product Sans" panose="020B0403030502040203" pitchFamily="34" charset="0"/>
              </a:rPr>
              <a:t>Increase Profit Margins</a:t>
            </a:r>
          </a:p>
        </p:txBody>
      </p:sp>
      <p:sp>
        <p:nvSpPr>
          <p:cNvPr id="38" name="TextBox 37">
            <a:extLst>
              <a:ext uri="{FF2B5EF4-FFF2-40B4-BE49-F238E27FC236}">
                <a16:creationId xmlns:a16="http://schemas.microsoft.com/office/drawing/2014/main" id="{D646D5F5-34C9-544D-A739-9CEB73FB0D85}"/>
              </a:ext>
            </a:extLst>
          </p:cNvPr>
          <p:cNvSpPr txBox="1"/>
          <p:nvPr/>
        </p:nvSpPr>
        <p:spPr>
          <a:xfrm>
            <a:off x="-10628" y="5362424"/>
            <a:ext cx="1889391" cy="338554"/>
          </a:xfrm>
          <a:prstGeom prst="rect">
            <a:avLst/>
          </a:prstGeom>
          <a:noFill/>
        </p:spPr>
        <p:txBody>
          <a:bodyPr wrap="square" rtlCol="0">
            <a:spAutoFit/>
          </a:bodyPr>
          <a:lstStyle/>
          <a:p>
            <a:r>
              <a:rPr lang="en-US" sz="1600" b="1">
                <a:solidFill>
                  <a:srgbClr val="FF9900"/>
                </a:solidFill>
                <a:latin typeface="Product Sans" panose="020B0403030502040203" pitchFamily="34" charset="0"/>
              </a:rPr>
              <a:t>Sustainability</a:t>
            </a:r>
          </a:p>
        </p:txBody>
      </p:sp>
      <p:sp>
        <p:nvSpPr>
          <p:cNvPr id="40" name="TextBox 39">
            <a:extLst>
              <a:ext uri="{FF2B5EF4-FFF2-40B4-BE49-F238E27FC236}">
                <a16:creationId xmlns:a16="http://schemas.microsoft.com/office/drawing/2014/main" id="{E20F0733-7E58-0565-A15B-3BACF9D9BBA0}"/>
              </a:ext>
            </a:extLst>
          </p:cNvPr>
          <p:cNvSpPr txBox="1"/>
          <p:nvPr/>
        </p:nvSpPr>
        <p:spPr>
          <a:xfrm>
            <a:off x="-10628" y="5674322"/>
            <a:ext cx="4012357" cy="692497"/>
          </a:xfrm>
          <a:prstGeom prst="rect">
            <a:avLst/>
          </a:prstGeom>
          <a:noFill/>
        </p:spPr>
        <p:txBody>
          <a:bodyPr wrap="square" rtlCol="0">
            <a:spAutoFit/>
          </a:bodyPr>
          <a:lstStyle/>
          <a:p>
            <a:r>
              <a:rPr lang="en-US" sz="1300">
                <a:solidFill>
                  <a:srgbClr val="010101"/>
                </a:solidFill>
                <a:latin typeface="Product Sans" panose="020B0403030502040203" pitchFamily="34" charset="0"/>
              </a:rPr>
              <a:t>Company’s sustainability goals aim for </a:t>
            </a:r>
            <a:r>
              <a:rPr lang="en-US" sz="1300" b="1">
                <a:solidFill>
                  <a:srgbClr val="010101"/>
                </a:solidFill>
                <a:latin typeface="Product Sans" panose="020B0403030502040203" pitchFamily="34" charset="0"/>
              </a:rPr>
              <a:t>Water Stewardship , Circular Packaging</a:t>
            </a:r>
            <a:r>
              <a:rPr lang="en-US" sz="1300">
                <a:solidFill>
                  <a:srgbClr val="010101"/>
                </a:solidFill>
                <a:latin typeface="Product Sans" panose="020B0403030502040203" pitchFamily="34" charset="0"/>
              </a:rPr>
              <a:t> and decreasing </a:t>
            </a:r>
            <a:r>
              <a:rPr lang="en-US" sz="1300" b="1">
                <a:solidFill>
                  <a:srgbClr val="010101"/>
                </a:solidFill>
                <a:latin typeface="Product Sans" panose="020B0403030502040203" pitchFamily="34" charset="0"/>
              </a:rPr>
              <a:t>carbon footprints </a:t>
            </a:r>
            <a:r>
              <a:rPr lang="en-US" sz="1300">
                <a:solidFill>
                  <a:srgbClr val="010101"/>
                </a:solidFill>
                <a:latin typeface="Product Sans" panose="020B0403030502040203" pitchFamily="34" charset="0"/>
              </a:rPr>
              <a:t>from value chain</a:t>
            </a:r>
          </a:p>
        </p:txBody>
      </p:sp>
      <p:sp>
        <p:nvSpPr>
          <p:cNvPr id="11" name="TextBox 10">
            <a:extLst>
              <a:ext uri="{FF2B5EF4-FFF2-40B4-BE49-F238E27FC236}">
                <a16:creationId xmlns:a16="http://schemas.microsoft.com/office/drawing/2014/main" id="{3BAABF79-934A-FF5E-0BC8-833B580BD135}"/>
              </a:ext>
            </a:extLst>
          </p:cNvPr>
          <p:cNvSpPr txBox="1"/>
          <p:nvPr/>
        </p:nvSpPr>
        <p:spPr>
          <a:xfrm>
            <a:off x="6095999" y="693203"/>
            <a:ext cx="2335191" cy="369332"/>
          </a:xfrm>
          <a:prstGeom prst="rect">
            <a:avLst/>
          </a:prstGeom>
          <a:noFill/>
        </p:spPr>
        <p:txBody>
          <a:bodyPr wrap="square" rtlCol="0">
            <a:spAutoFit/>
          </a:bodyPr>
          <a:lstStyle/>
          <a:p>
            <a:r>
              <a:rPr lang="en-US" b="1">
                <a:solidFill>
                  <a:srgbClr val="FFFF00"/>
                </a:solidFill>
                <a:highlight>
                  <a:srgbClr val="000000"/>
                </a:highlight>
                <a:latin typeface="Product Sans" panose="020B0403030502040203" pitchFamily="34" charset="0"/>
              </a:rPr>
              <a:t>Industry Challenges </a:t>
            </a:r>
          </a:p>
        </p:txBody>
      </p:sp>
      <p:cxnSp>
        <p:nvCxnSpPr>
          <p:cNvPr id="13" name="Straight Connector 12">
            <a:extLst>
              <a:ext uri="{FF2B5EF4-FFF2-40B4-BE49-F238E27FC236}">
                <a16:creationId xmlns:a16="http://schemas.microsoft.com/office/drawing/2014/main" id="{B6884324-B72B-A0AB-6AA0-7AB2B0E7B4F9}"/>
              </a:ext>
            </a:extLst>
          </p:cNvPr>
          <p:cNvCxnSpPr>
            <a:cxnSpLocks/>
          </p:cNvCxnSpPr>
          <p:nvPr/>
        </p:nvCxnSpPr>
        <p:spPr>
          <a:xfrm>
            <a:off x="5489149" y="1752638"/>
            <a:ext cx="7272" cy="1038667"/>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4B0ED0E-ED4E-DFC6-ADF1-66648F35C9C7}"/>
              </a:ext>
            </a:extLst>
          </p:cNvPr>
          <p:cNvSpPr txBox="1"/>
          <p:nvPr/>
        </p:nvSpPr>
        <p:spPr>
          <a:xfrm>
            <a:off x="3420218" y="1066106"/>
            <a:ext cx="2409707" cy="584775"/>
          </a:xfrm>
          <a:prstGeom prst="rect">
            <a:avLst/>
          </a:prstGeom>
          <a:noFill/>
        </p:spPr>
        <p:txBody>
          <a:bodyPr wrap="square" rtlCol="0">
            <a:spAutoFit/>
          </a:bodyPr>
          <a:lstStyle/>
          <a:p>
            <a:r>
              <a:rPr lang="en-US" sz="1600" b="1">
                <a:latin typeface="Product Sans" panose="020B0403030502040203" pitchFamily="34" charset="0"/>
              </a:rPr>
              <a:t>Changing Consumer Preferences</a:t>
            </a:r>
          </a:p>
        </p:txBody>
      </p:sp>
      <p:sp>
        <p:nvSpPr>
          <p:cNvPr id="12" name="TextBox 11">
            <a:extLst>
              <a:ext uri="{FF2B5EF4-FFF2-40B4-BE49-F238E27FC236}">
                <a16:creationId xmlns:a16="http://schemas.microsoft.com/office/drawing/2014/main" id="{C323F05E-57BC-B1E2-9F7F-6EDE99F361F8}"/>
              </a:ext>
            </a:extLst>
          </p:cNvPr>
          <p:cNvSpPr txBox="1"/>
          <p:nvPr/>
        </p:nvSpPr>
        <p:spPr>
          <a:xfrm>
            <a:off x="1534053" y="1815499"/>
            <a:ext cx="1520728" cy="830997"/>
          </a:xfrm>
          <a:prstGeom prst="rect">
            <a:avLst/>
          </a:prstGeom>
          <a:noFill/>
        </p:spPr>
        <p:txBody>
          <a:bodyPr wrap="square">
            <a:spAutoFit/>
          </a:bodyPr>
          <a:lstStyle/>
          <a:p>
            <a:r>
              <a:rPr lang="en-US" sz="1600" b="1">
                <a:latin typeface="Product Sans" panose="020B0403030502040203" pitchFamily="34" charset="0"/>
                <a:cs typeface="Arial" panose="020B0604020202020204" pitchFamily="34" charset="0"/>
              </a:rPr>
              <a:t>CAGR </a:t>
            </a:r>
            <a:r>
              <a:rPr lang="en-US" sz="1600">
                <a:latin typeface="Product Sans" panose="020B0403030502040203" pitchFamily="34" charset="0"/>
                <a:cs typeface="Arial" panose="020B0604020202020204" pitchFamily="34" charset="0"/>
              </a:rPr>
              <a:t>of the </a:t>
            </a:r>
            <a:r>
              <a:rPr lang="en-US" sz="1600" b="1">
                <a:latin typeface="Product Sans" panose="020B0403030502040203" pitchFamily="34" charset="0"/>
                <a:cs typeface="Arial" panose="020B0604020202020204" pitchFamily="34" charset="0"/>
              </a:rPr>
              <a:t>Beer </a:t>
            </a:r>
            <a:r>
              <a:rPr lang="en-US" sz="1600">
                <a:latin typeface="Product Sans" panose="020B0403030502040203" pitchFamily="34" charset="0"/>
                <a:cs typeface="Arial" panose="020B0604020202020204" pitchFamily="34" charset="0"/>
              </a:rPr>
              <a:t>Industry in India</a:t>
            </a:r>
          </a:p>
        </p:txBody>
      </p:sp>
      <p:sp>
        <p:nvSpPr>
          <p:cNvPr id="10" name="TextBox 9">
            <a:extLst>
              <a:ext uri="{FF2B5EF4-FFF2-40B4-BE49-F238E27FC236}">
                <a16:creationId xmlns:a16="http://schemas.microsoft.com/office/drawing/2014/main" id="{54C5344D-FE9C-C532-350B-FAB3E7684F76}"/>
              </a:ext>
            </a:extLst>
          </p:cNvPr>
          <p:cNvSpPr txBox="1"/>
          <p:nvPr/>
        </p:nvSpPr>
        <p:spPr>
          <a:xfrm>
            <a:off x="367817" y="1911580"/>
            <a:ext cx="1282922" cy="769441"/>
          </a:xfrm>
          <a:prstGeom prst="rect">
            <a:avLst/>
          </a:prstGeom>
          <a:noFill/>
        </p:spPr>
        <p:txBody>
          <a:bodyPr wrap="square" rtlCol="0">
            <a:spAutoFit/>
          </a:bodyPr>
          <a:lstStyle/>
          <a:p>
            <a:r>
              <a:rPr lang="en-US" sz="2200" b="1">
                <a:latin typeface="Product Sans Black" panose="020B0A03030502040203" pitchFamily="34" charset="0"/>
              </a:rPr>
              <a:t>6.72</a:t>
            </a:r>
            <a:r>
              <a:rPr lang="en-US" sz="2400" b="1">
                <a:latin typeface="Product Sans Black" panose="020B0A03030502040203" pitchFamily="34" charset="0"/>
              </a:rPr>
              <a:t>%</a:t>
            </a:r>
          </a:p>
          <a:p>
            <a:endParaRPr lang="en-US" sz="2000">
              <a:latin typeface="Product Sans Black" panose="020B0A03030502040203" pitchFamily="34" charset="0"/>
            </a:endParaRPr>
          </a:p>
        </p:txBody>
      </p:sp>
      <p:sp>
        <p:nvSpPr>
          <p:cNvPr id="23" name="TextBox 22">
            <a:extLst>
              <a:ext uri="{FF2B5EF4-FFF2-40B4-BE49-F238E27FC236}">
                <a16:creationId xmlns:a16="http://schemas.microsoft.com/office/drawing/2014/main" id="{98C5F4A6-C74D-36A8-1EC8-6E27B42B7D41}"/>
              </a:ext>
            </a:extLst>
          </p:cNvPr>
          <p:cNvSpPr txBox="1"/>
          <p:nvPr/>
        </p:nvSpPr>
        <p:spPr>
          <a:xfrm>
            <a:off x="5599625" y="1101990"/>
            <a:ext cx="3716284" cy="338554"/>
          </a:xfrm>
          <a:prstGeom prst="rect">
            <a:avLst/>
          </a:prstGeom>
          <a:noFill/>
        </p:spPr>
        <p:txBody>
          <a:bodyPr wrap="square">
            <a:spAutoFit/>
          </a:bodyPr>
          <a:lstStyle/>
          <a:p>
            <a:r>
              <a:rPr lang="en-US" sz="1600" b="1">
                <a:latin typeface="Product Sans" panose="020B0403030502040203" pitchFamily="34" charset="0"/>
              </a:rPr>
              <a:t>Regulatory Issues</a:t>
            </a:r>
          </a:p>
        </p:txBody>
      </p:sp>
      <p:cxnSp>
        <p:nvCxnSpPr>
          <p:cNvPr id="29" name="Straight Connector 28">
            <a:extLst>
              <a:ext uri="{FF2B5EF4-FFF2-40B4-BE49-F238E27FC236}">
                <a16:creationId xmlns:a16="http://schemas.microsoft.com/office/drawing/2014/main" id="{324E7448-75FF-390D-2CE9-3A2D5D09FB5D}"/>
              </a:ext>
            </a:extLst>
          </p:cNvPr>
          <p:cNvCxnSpPr>
            <a:cxnSpLocks/>
          </p:cNvCxnSpPr>
          <p:nvPr/>
        </p:nvCxnSpPr>
        <p:spPr>
          <a:xfrm>
            <a:off x="7683746" y="1712460"/>
            <a:ext cx="0" cy="1061291"/>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E8B5592-2F61-1519-C419-5267703A2CD8}"/>
              </a:ext>
            </a:extLst>
          </p:cNvPr>
          <p:cNvSpPr txBox="1"/>
          <p:nvPr/>
        </p:nvSpPr>
        <p:spPr>
          <a:xfrm>
            <a:off x="7779032" y="1111880"/>
            <a:ext cx="3716284" cy="338554"/>
          </a:xfrm>
          <a:prstGeom prst="rect">
            <a:avLst/>
          </a:prstGeom>
          <a:noFill/>
        </p:spPr>
        <p:txBody>
          <a:bodyPr wrap="square">
            <a:spAutoFit/>
          </a:bodyPr>
          <a:lstStyle/>
          <a:p>
            <a:r>
              <a:rPr lang="en-US" sz="1600" b="1">
                <a:latin typeface="Product Sans" panose="020B0403030502040203" pitchFamily="34" charset="0"/>
              </a:rPr>
              <a:t>Procurement</a:t>
            </a:r>
          </a:p>
        </p:txBody>
      </p:sp>
      <p:cxnSp>
        <p:nvCxnSpPr>
          <p:cNvPr id="36" name="Straight Connector 35">
            <a:extLst>
              <a:ext uri="{FF2B5EF4-FFF2-40B4-BE49-F238E27FC236}">
                <a16:creationId xmlns:a16="http://schemas.microsoft.com/office/drawing/2014/main" id="{14A28160-AF59-C9B6-C188-03F3D2E0E683}"/>
              </a:ext>
            </a:extLst>
          </p:cNvPr>
          <p:cNvCxnSpPr>
            <a:cxnSpLocks/>
          </p:cNvCxnSpPr>
          <p:nvPr/>
        </p:nvCxnSpPr>
        <p:spPr>
          <a:xfrm>
            <a:off x="9487976" y="1792028"/>
            <a:ext cx="0" cy="1021994"/>
          </a:xfrm>
          <a:prstGeom prst="lin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2B112FD-47B9-F0B6-496C-0DDA0D36C7E9}"/>
              </a:ext>
            </a:extLst>
          </p:cNvPr>
          <p:cNvSpPr txBox="1"/>
          <p:nvPr/>
        </p:nvSpPr>
        <p:spPr>
          <a:xfrm>
            <a:off x="3414208" y="1585126"/>
            <a:ext cx="2072350" cy="1292662"/>
          </a:xfrm>
          <a:prstGeom prst="rect">
            <a:avLst/>
          </a:prstGeom>
          <a:noFill/>
        </p:spPr>
        <p:txBody>
          <a:bodyPr wrap="square" rtlCol="0">
            <a:spAutoFit/>
          </a:bodyPr>
          <a:lstStyle/>
          <a:p>
            <a:r>
              <a:rPr lang="en-US" sz="1300">
                <a:solidFill>
                  <a:srgbClr val="010101"/>
                </a:solidFill>
                <a:latin typeface="Product Sans" panose="020B0403030502040203" pitchFamily="34" charset="0"/>
              </a:rPr>
              <a:t>Gen-Z and newer generations are consuming less alcohol  and more inclination towards white liquor and craft beers</a:t>
            </a:r>
          </a:p>
        </p:txBody>
      </p:sp>
      <p:sp>
        <p:nvSpPr>
          <p:cNvPr id="43" name="TextBox 42">
            <a:extLst>
              <a:ext uri="{FF2B5EF4-FFF2-40B4-BE49-F238E27FC236}">
                <a16:creationId xmlns:a16="http://schemas.microsoft.com/office/drawing/2014/main" id="{1A825EFE-D805-69AC-282B-5D29DDE82D55}"/>
              </a:ext>
            </a:extLst>
          </p:cNvPr>
          <p:cNvSpPr txBox="1"/>
          <p:nvPr/>
        </p:nvSpPr>
        <p:spPr>
          <a:xfrm>
            <a:off x="0" y="4586322"/>
            <a:ext cx="4052482" cy="738664"/>
          </a:xfrm>
          <a:prstGeom prst="rect">
            <a:avLst/>
          </a:prstGeom>
          <a:noFill/>
        </p:spPr>
        <p:txBody>
          <a:bodyPr wrap="square">
            <a:spAutoFit/>
          </a:bodyPr>
          <a:lstStyle/>
          <a:p>
            <a:r>
              <a:rPr lang="en-US" sz="1400">
                <a:latin typeface="Product Sans" panose="020B0403030502040203" pitchFamily="34" charset="0"/>
              </a:rPr>
              <a:t>The company's approach to increasing its profit margin is centered on </a:t>
            </a:r>
            <a:r>
              <a:rPr lang="en-US" sz="1400" b="1">
                <a:latin typeface="Product Sans" panose="020B0403030502040203" pitchFamily="34" charset="0"/>
              </a:rPr>
              <a:t>disciplined cost management </a:t>
            </a:r>
            <a:r>
              <a:rPr lang="en-US" sz="1400">
                <a:latin typeface="Product Sans" panose="020B0403030502040203" pitchFamily="34" charset="0"/>
              </a:rPr>
              <a:t>and</a:t>
            </a:r>
            <a:r>
              <a:rPr lang="en-US" sz="1400" b="1">
                <a:latin typeface="Product Sans" panose="020B0403030502040203" pitchFamily="34" charset="0"/>
              </a:rPr>
              <a:t> strategic revenue growth.</a:t>
            </a:r>
            <a:endParaRPr lang="en-US" sz="1400"/>
          </a:p>
        </p:txBody>
      </p:sp>
      <p:cxnSp>
        <p:nvCxnSpPr>
          <p:cNvPr id="31" name="Straight Connector 30">
            <a:extLst>
              <a:ext uri="{FF2B5EF4-FFF2-40B4-BE49-F238E27FC236}">
                <a16:creationId xmlns:a16="http://schemas.microsoft.com/office/drawing/2014/main" id="{F266A0FB-8BD8-3EFD-2312-4938D182CAF5}"/>
              </a:ext>
            </a:extLst>
          </p:cNvPr>
          <p:cNvCxnSpPr>
            <a:cxnSpLocks/>
          </p:cNvCxnSpPr>
          <p:nvPr/>
        </p:nvCxnSpPr>
        <p:spPr>
          <a:xfrm>
            <a:off x="2818151" y="445014"/>
            <a:ext cx="0" cy="3851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0562011-4BE4-0A67-1750-18039440FC53}"/>
              </a:ext>
            </a:extLst>
          </p:cNvPr>
          <p:cNvCxnSpPr>
            <a:cxnSpLocks/>
          </p:cNvCxnSpPr>
          <p:nvPr/>
        </p:nvCxnSpPr>
        <p:spPr>
          <a:xfrm>
            <a:off x="2818151" y="445014"/>
            <a:ext cx="90990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BBFE62B-B6AB-1202-5448-7687DD8AAA52}"/>
              </a:ext>
            </a:extLst>
          </p:cNvPr>
          <p:cNvSpPr txBox="1"/>
          <p:nvPr/>
        </p:nvSpPr>
        <p:spPr>
          <a:xfrm>
            <a:off x="5512582" y="1570004"/>
            <a:ext cx="2154494" cy="1308050"/>
          </a:xfrm>
          <a:prstGeom prst="rect">
            <a:avLst/>
          </a:prstGeom>
          <a:noFill/>
        </p:spPr>
        <p:txBody>
          <a:bodyPr wrap="square">
            <a:spAutoFit/>
          </a:bodyPr>
          <a:lstStyle/>
          <a:p>
            <a:r>
              <a:rPr lang="en-US" sz="1300">
                <a:latin typeface="Product Sans" panose="020B0403030502040203" pitchFamily="34" charset="0"/>
              </a:rPr>
              <a:t>India has a complex web of varying state-level policies, high and inconsistent taxation, and restrictions on distribution and advertising</a:t>
            </a:r>
            <a:r>
              <a:rPr lang="en-US" sz="1400">
                <a:solidFill>
                  <a:srgbClr val="E6E8F0"/>
                </a:solidFill>
                <a:latin typeface="Product Sans" panose="020B0403030502040203" pitchFamily="34" charset="0"/>
              </a:rPr>
              <a:t>.</a:t>
            </a:r>
            <a:endParaRPr lang="en-US" sz="1400">
              <a:latin typeface="Product Sans" panose="020B0403030502040203" pitchFamily="34" charset="0"/>
            </a:endParaRPr>
          </a:p>
        </p:txBody>
      </p:sp>
      <p:cxnSp>
        <p:nvCxnSpPr>
          <p:cNvPr id="6" name="Straight Connector 5">
            <a:extLst>
              <a:ext uri="{FF2B5EF4-FFF2-40B4-BE49-F238E27FC236}">
                <a16:creationId xmlns:a16="http://schemas.microsoft.com/office/drawing/2014/main" id="{DB110FF2-B0E7-ECB9-2714-C0CE26B27FAD}"/>
              </a:ext>
            </a:extLst>
          </p:cNvPr>
          <p:cNvCxnSpPr/>
          <p:nvPr/>
        </p:nvCxnSpPr>
        <p:spPr>
          <a:xfrm>
            <a:off x="11917180" y="445014"/>
            <a:ext cx="0" cy="33474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04F9907-CD53-1282-5C29-079287C73E32}"/>
              </a:ext>
            </a:extLst>
          </p:cNvPr>
          <p:cNvCxnSpPr>
            <a:cxnSpLocks/>
          </p:cNvCxnSpPr>
          <p:nvPr/>
        </p:nvCxnSpPr>
        <p:spPr>
          <a:xfrm flipH="1">
            <a:off x="11353681" y="3792511"/>
            <a:ext cx="56349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610C9B28-808E-A39C-4616-D124D8B86548}"/>
              </a:ext>
            </a:extLst>
          </p:cNvPr>
          <p:cNvSpPr/>
          <p:nvPr/>
        </p:nvSpPr>
        <p:spPr>
          <a:xfrm>
            <a:off x="4012358" y="3274154"/>
            <a:ext cx="7330694" cy="3309150"/>
          </a:xfrm>
          <a:prstGeom prst="rect">
            <a:avLst/>
          </a:prstGeom>
          <a:solidFill>
            <a:srgbClr val="FFF9E7"/>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C111316B-88E0-AA4C-4835-6E999BA7B3A8}"/>
              </a:ext>
            </a:extLst>
          </p:cNvPr>
          <p:cNvSpPr txBox="1"/>
          <p:nvPr/>
        </p:nvSpPr>
        <p:spPr>
          <a:xfrm>
            <a:off x="9728139" y="1101990"/>
            <a:ext cx="3716284" cy="338554"/>
          </a:xfrm>
          <a:prstGeom prst="rect">
            <a:avLst/>
          </a:prstGeom>
          <a:noFill/>
        </p:spPr>
        <p:txBody>
          <a:bodyPr wrap="square">
            <a:spAutoFit/>
          </a:bodyPr>
          <a:lstStyle/>
          <a:p>
            <a:r>
              <a:rPr lang="en-US" sz="1600" b="1">
                <a:latin typeface="Product Sans" panose="020B0403030502040203" pitchFamily="34" charset="0"/>
              </a:rPr>
              <a:t>Distribution</a:t>
            </a:r>
          </a:p>
        </p:txBody>
      </p:sp>
      <p:pic>
        <p:nvPicPr>
          <p:cNvPr id="54" name="Picture 53">
            <a:extLst>
              <a:ext uri="{FF2B5EF4-FFF2-40B4-BE49-F238E27FC236}">
                <a16:creationId xmlns:a16="http://schemas.microsoft.com/office/drawing/2014/main" id="{92B81ADA-D10D-5BAB-F8E4-06F23B965F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8453" y="3693356"/>
            <a:ext cx="1509099" cy="920277"/>
          </a:xfrm>
          <a:prstGeom prst="rect">
            <a:avLst/>
          </a:prstGeom>
        </p:spPr>
      </p:pic>
      <p:sp>
        <p:nvSpPr>
          <p:cNvPr id="56" name="TextBox 55">
            <a:extLst>
              <a:ext uri="{FF2B5EF4-FFF2-40B4-BE49-F238E27FC236}">
                <a16:creationId xmlns:a16="http://schemas.microsoft.com/office/drawing/2014/main" id="{9572E85D-4ACA-CD2A-A791-D409834C56D5}"/>
              </a:ext>
            </a:extLst>
          </p:cNvPr>
          <p:cNvSpPr txBox="1"/>
          <p:nvPr/>
        </p:nvSpPr>
        <p:spPr>
          <a:xfrm>
            <a:off x="7729332" y="1553936"/>
            <a:ext cx="1990026" cy="1292662"/>
          </a:xfrm>
          <a:prstGeom prst="rect">
            <a:avLst/>
          </a:prstGeom>
          <a:noFill/>
        </p:spPr>
        <p:txBody>
          <a:bodyPr wrap="square">
            <a:spAutoFit/>
          </a:bodyPr>
          <a:lstStyle/>
          <a:p>
            <a:r>
              <a:rPr lang="en-US" sz="1300">
                <a:latin typeface="Product Sans" panose="020B0403030502040203" pitchFamily="34" charset="0"/>
              </a:rPr>
              <a:t>High volatility in Packaging material</a:t>
            </a:r>
          </a:p>
          <a:p>
            <a:r>
              <a:rPr lang="en-US" sz="1300">
                <a:latin typeface="Product Sans" panose="020B0403030502040203" pitchFamily="34" charset="0"/>
              </a:rPr>
              <a:t>(Aluminum, Glass)  prices as well as High Import costs of malt </a:t>
            </a:r>
          </a:p>
          <a:p>
            <a:r>
              <a:rPr lang="en-US" sz="1300">
                <a:latin typeface="Product Sans" panose="020B0403030502040203" pitchFamily="34" charset="0"/>
              </a:rPr>
              <a:t>and hops.</a:t>
            </a:r>
          </a:p>
        </p:txBody>
      </p:sp>
      <p:sp>
        <p:nvSpPr>
          <p:cNvPr id="55" name="TextBox 54">
            <a:extLst>
              <a:ext uri="{FF2B5EF4-FFF2-40B4-BE49-F238E27FC236}">
                <a16:creationId xmlns:a16="http://schemas.microsoft.com/office/drawing/2014/main" id="{541CBC59-60B3-6147-65D3-4F0506EDE678}"/>
              </a:ext>
            </a:extLst>
          </p:cNvPr>
          <p:cNvSpPr txBox="1"/>
          <p:nvPr/>
        </p:nvSpPr>
        <p:spPr>
          <a:xfrm>
            <a:off x="4673741" y="3093725"/>
            <a:ext cx="6240065"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Beer Brands with high market presence and Brand Image </a:t>
            </a:r>
          </a:p>
        </p:txBody>
      </p:sp>
      <p:pic>
        <p:nvPicPr>
          <p:cNvPr id="57" name="Picture 2">
            <a:extLst>
              <a:ext uri="{FF2B5EF4-FFF2-40B4-BE49-F238E27FC236}">
                <a16:creationId xmlns:a16="http://schemas.microsoft.com/office/drawing/2014/main" id="{958E3162-D31E-6C15-1849-90A7EE6A5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7328" y="4997257"/>
            <a:ext cx="1304145" cy="729164"/>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
            <a:extLst>
              <a:ext uri="{FF2B5EF4-FFF2-40B4-BE49-F238E27FC236}">
                <a16:creationId xmlns:a16="http://schemas.microsoft.com/office/drawing/2014/main" id="{B0C59E8D-2942-8181-3072-2EE045DE89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2292" y="5816635"/>
            <a:ext cx="1567301" cy="729164"/>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A89F54EC-0C30-1638-76FE-57D02188EBFD}"/>
              </a:ext>
            </a:extLst>
          </p:cNvPr>
          <p:cNvSpPr txBox="1"/>
          <p:nvPr/>
        </p:nvSpPr>
        <p:spPr>
          <a:xfrm>
            <a:off x="9487980" y="1510332"/>
            <a:ext cx="2325096" cy="1492716"/>
          </a:xfrm>
          <a:prstGeom prst="rect">
            <a:avLst/>
          </a:prstGeom>
          <a:noFill/>
        </p:spPr>
        <p:txBody>
          <a:bodyPr wrap="square">
            <a:spAutoFit/>
          </a:bodyPr>
          <a:lstStyle/>
          <a:p>
            <a:r>
              <a:rPr lang="en-US" sz="1300">
                <a:latin typeface="Product Sans" panose="020B0403030502040203" pitchFamily="34" charset="0"/>
              </a:rPr>
              <a:t>Inadequate cold chain infrastructure coupled with fragmented distribution systems (government-controlled, open market, and hybrid) across  makes beer distribution highly challenging</a:t>
            </a:r>
            <a:endParaRPr lang="en-US" sz="1300"/>
          </a:p>
        </p:txBody>
      </p:sp>
      <p:sp>
        <p:nvSpPr>
          <p:cNvPr id="64" name="TextBox 63">
            <a:extLst>
              <a:ext uri="{FF2B5EF4-FFF2-40B4-BE49-F238E27FC236}">
                <a16:creationId xmlns:a16="http://schemas.microsoft.com/office/drawing/2014/main" id="{13622634-59F0-19FB-11C2-8ACF98FAA1F1}"/>
              </a:ext>
            </a:extLst>
          </p:cNvPr>
          <p:cNvSpPr txBox="1"/>
          <p:nvPr/>
        </p:nvSpPr>
        <p:spPr>
          <a:xfrm>
            <a:off x="5678181" y="3522441"/>
            <a:ext cx="5675500" cy="1492716"/>
          </a:xfrm>
          <a:prstGeom prst="rect">
            <a:avLst/>
          </a:prstGeom>
          <a:noFill/>
        </p:spPr>
        <p:txBody>
          <a:bodyPr wrap="square">
            <a:spAutoFit/>
          </a:bodyPr>
          <a:lstStyle/>
          <a:p>
            <a:r>
              <a:rPr lang="en-US" sz="1300">
                <a:solidFill>
                  <a:srgbClr val="010101"/>
                </a:solidFill>
                <a:latin typeface="Product Sans" panose="020B0403030502040203" pitchFamily="34" charset="0"/>
              </a:rPr>
              <a:t>It includes </a:t>
            </a:r>
            <a:r>
              <a:rPr lang="en-US" sz="1300" b="1">
                <a:solidFill>
                  <a:srgbClr val="010101"/>
                </a:solidFill>
                <a:latin typeface="Product Sans" panose="020B0403030502040203" pitchFamily="34" charset="0"/>
              </a:rPr>
              <a:t>Budweiser classic</a:t>
            </a:r>
            <a:r>
              <a:rPr lang="en-US" sz="1300">
                <a:solidFill>
                  <a:srgbClr val="010101"/>
                </a:solidFill>
                <a:latin typeface="Product Sans" panose="020B0403030502040203" pitchFamily="34" charset="0"/>
              </a:rPr>
              <a:t>(lager) with low ABV , </a:t>
            </a:r>
            <a:r>
              <a:rPr lang="en-US" sz="1300" b="1">
                <a:solidFill>
                  <a:srgbClr val="010101"/>
                </a:solidFill>
                <a:latin typeface="Product Sans" panose="020B0403030502040203" pitchFamily="34" charset="0"/>
              </a:rPr>
              <a:t>Budweiser Magnum </a:t>
            </a:r>
            <a:r>
              <a:rPr lang="en-US" sz="1300">
                <a:solidFill>
                  <a:srgbClr val="010101"/>
                </a:solidFill>
                <a:latin typeface="Product Sans" panose="020B0403030502040203" pitchFamily="34" charset="0"/>
              </a:rPr>
              <a:t>with high ABV(strong lager) ,</a:t>
            </a:r>
            <a:r>
              <a:rPr lang="en-US" sz="1300" b="1">
                <a:solidFill>
                  <a:srgbClr val="010101"/>
                </a:solidFill>
                <a:latin typeface="Product Sans" panose="020B0403030502040203" pitchFamily="34" charset="0"/>
              </a:rPr>
              <a:t>Budweiser 0.0</a:t>
            </a:r>
            <a:r>
              <a:rPr lang="en-US" sz="1300">
                <a:solidFill>
                  <a:srgbClr val="010101"/>
                </a:solidFill>
                <a:latin typeface="Product Sans" panose="020B0403030502040203" pitchFamily="34" charset="0"/>
              </a:rPr>
              <a:t>(non-alcoholic) ,</a:t>
            </a:r>
            <a:r>
              <a:rPr lang="en-US" sz="1300" b="1">
                <a:solidFill>
                  <a:srgbClr val="010101"/>
                </a:solidFill>
                <a:latin typeface="Product Sans" panose="020B0403030502040203" pitchFamily="34" charset="0"/>
              </a:rPr>
              <a:t>Budweiser Beats</a:t>
            </a:r>
            <a:r>
              <a:rPr lang="en-US" sz="1300">
                <a:solidFill>
                  <a:srgbClr val="010101"/>
                </a:solidFill>
                <a:latin typeface="Product Sans" panose="020B0403030502040203" pitchFamily="34" charset="0"/>
              </a:rPr>
              <a:t>(Energy Drink) and newly introduced </a:t>
            </a:r>
            <a:r>
              <a:rPr lang="en-US" sz="1300" b="1">
                <a:solidFill>
                  <a:srgbClr val="010101"/>
                </a:solidFill>
                <a:latin typeface="Product Sans" panose="020B0403030502040203" pitchFamily="34" charset="0"/>
              </a:rPr>
              <a:t>Budweiser magnum double barrel whisky </a:t>
            </a:r>
            <a:r>
              <a:rPr lang="en-US" sz="1300">
                <a:solidFill>
                  <a:srgbClr val="010101"/>
                </a:solidFill>
                <a:latin typeface="Product Sans" panose="020B0403030502040203" pitchFamily="34" charset="0"/>
              </a:rPr>
              <a:t>these are key products in the umbrella of Budweiser .Persona varies from </a:t>
            </a:r>
            <a:r>
              <a:rPr lang="en-US" sz="1300" b="1">
                <a:solidFill>
                  <a:srgbClr val="010101"/>
                </a:solidFill>
                <a:latin typeface="Product Sans" panose="020B0403030502040203" pitchFamily="34" charset="0"/>
              </a:rPr>
              <a:t>strong bold Indian taste </a:t>
            </a:r>
            <a:r>
              <a:rPr lang="en-US" sz="1300">
                <a:solidFill>
                  <a:srgbClr val="010101"/>
                </a:solidFill>
                <a:latin typeface="Product Sans" panose="020B0403030502040203" pitchFamily="34" charset="0"/>
              </a:rPr>
              <a:t>to classic Budweiser experience </a:t>
            </a:r>
            <a:r>
              <a:rPr lang="en-US" sz="1300" b="1">
                <a:solidFill>
                  <a:srgbClr val="010101"/>
                </a:solidFill>
                <a:latin typeface="Product Sans" panose="020B0403030502040203" pitchFamily="34" charset="0"/>
              </a:rPr>
              <a:t>without alcoho</a:t>
            </a:r>
            <a:r>
              <a:rPr lang="en-US" sz="1300">
                <a:solidFill>
                  <a:srgbClr val="010101"/>
                </a:solidFill>
                <a:latin typeface="Product Sans" panose="020B0403030502040203" pitchFamily="34" charset="0"/>
              </a:rPr>
              <a:t>l and also introduces parent brand in new </a:t>
            </a:r>
            <a:r>
              <a:rPr lang="en-US" sz="1300" b="1">
                <a:solidFill>
                  <a:srgbClr val="010101"/>
                </a:solidFill>
                <a:latin typeface="Product Sans" panose="020B0403030502040203" pitchFamily="34" charset="0"/>
              </a:rPr>
              <a:t>Indian single malts corn whisky </a:t>
            </a:r>
            <a:r>
              <a:rPr lang="en-US" sz="1300">
                <a:solidFill>
                  <a:srgbClr val="010101"/>
                </a:solidFill>
                <a:latin typeface="Product Sans" panose="020B0403030502040203" pitchFamily="34" charset="0"/>
              </a:rPr>
              <a:t>market</a:t>
            </a:r>
          </a:p>
        </p:txBody>
      </p:sp>
      <p:sp>
        <p:nvSpPr>
          <p:cNvPr id="66" name="TextBox 65">
            <a:extLst>
              <a:ext uri="{FF2B5EF4-FFF2-40B4-BE49-F238E27FC236}">
                <a16:creationId xmlns:a16="http://schemas.microsoft.com/office/drawing/2014/main" id="{65224B5C-2CD3-B254-3868-2787A6BFE949}"/>
              </a:ext>
            </a:extLst>
          </p:cNvPr>
          <p:cNvSpPr txBox="1"/>
          <p:nvPr/>
        </p:nvSpPr>
        <p:spPr>
          <a:xfrm>
            <a:off x="5678181" y="4974259"/>
            <a:ext cx="5458079" cy="892552"/>
          </a:xfrm>
          <a:prstGeom prst="rect">
            <a:avLst/>
          </a:prstGeom>
          <a:noFill/>
        </p:spPr>
        <p:txBody>
          <a:bodyPr wrap="square">
            <a:spAutoFit/>
          </a:bodyPr>
          <a:lstStyle/>
          <a:p>
            <a:r>
              <a:rPr lang="en-US" sz="1300">
                <a:latin typeface="Product Sans" panose="020B0403030502040203" pitchFamily="34" charset="0"/>
              </a:rPr>
              <a:t>Seen as a </a:t>
            </a:r>
            <a:r>
              <a:rPr lang="en-US" sz="1300" b="1">
                <a:latin typeface="Product Sans" panose="020B0403030502040203" pitchFamily="34" charset="0"/>
              </a:rPr>
              <a:t>“lifestyle beer”</a:t>
            </a:r>
            <a:r>
              <a:rPr lang="en-US" sz="1300">
                <a:latin typeface="Product Sans" panose="020B0403030502040203" pitchFamily="34" charset="0"/>
              </a:rPr>
              <a:t> associated with beaches, vacations, and international culture. In India, often marketed as the beer “</a:t>
            </a:r>
            <a:r>
              <a:rPr lang="en-US" sz="1300" b="1">
                <a:latin typeface="Product Sans" panose="020B0403030502040203" pitchFamily="34" charset="0"/>
              </a:rPr>
              <a:t>you have with lime,” </a:t>
            </a:r>
            <a:r>
              <a:rPr lang="en-US" sz="1300">
                <a:latin typeface="Product Sans" panose="020B0403030502040203" pitchFamily="34" charset="0"/>
              </a:rPr>
              <a:t>which differentiates it from other lagers. Popular in </a:t>
            </a:r>
            <a:r>
              <a:rPr lang="en-US" sz="1300" b="1">
                <a:latin typeface="Product Sans" panose="020B0403030502040203" pitchFamily="34" charset="0"/>
              </a:rPr>
              <a:t>restaurants, pubs, nightclubs, and premium hotels</a:t>
            </a:r>
            <a:r>
              <a:rPr lang="en-US" sz="1300">
                <a:latin typeface="Product Sans" panose="020B0403030502040203" pitchFamily="34" charset="0"/>
              </a:rPr>
              <a:t>, rather than mass retail.</a:t>
            </a:r>
            <a:endParaRPr lang="en-US" sz="1300">
              <a:solidFill>
                <a:srgbClr val="010101"/>
              </a:solidFill>
              <a:latin typeface="Product Sans" panose="020B0403030502040203" pitchFamily="34" charset="0"/>
            </a:endParaRPr>
          </a:p>
        </p:txBody>
      </p:sp>
      <p:sp>
        <p:nvSpPr>
          <p:cNvPr id="68" name="TextBox 67">
            <a:extLst>
              <a:ext uri="{FF2B5EF4-FFF2-40B4-BE49-F238E27FC236}">
                <a16:creationId xmlns:a16="http://schemas.microsoft.com/office/drawing/2014/main" id="{1D99D613-34B8-D5F4-D70D-279B23FCA85B}"/>
              </a:ext>
            </a:extLst>
          </p:cNvPr>
          <p:cNvSpPr txBox="1"/>
          <p:nvPr/>
        </p:nvSpPr>
        <p:spPr>
          <a:xfrm>
            <a:off x="5709593" y="5877834"/>
            <a:ext cx="5622831" cy="692497"/>
          </a:xfrm>
          <a:prstGeom prst="rect">
            <a:avLst/>
          </a:prstGeom>
          <a:noFill/>
        </p:spPr>
        <p:txBody>
          <a:bodyPr wrap="square">
            <a:spAutoFit/>
          </a:bodyPr>
          <a:lstStyle/>
          <a:p>
            <a:r>
              <a:rPr lang="en-US" sz="1300">
                <a:latin typeface="Product Sans" panose="020B0403030502040203" pitchFamily="34" charset="0"/>
              </a:rPr>
              <a:t>Consumers who find lagers too bitter or heavy often shift to Hoegaarden for its </a:t>
            </a:r>
            <a:r>
              <a:rPr lang="en-US" sz="1300" b="1">
                <a:latin typeface="Product Sans" panose="020B0403030502040203" pitchFamily="34" charset="0"/>
              </a:rPr>
              <a:t>citrusy, smooth, and refreshing taste</a:t>
            </a:r>
            <a:r>
              <a:rPr lang="en-US" sz="1300">
                <a:latin typeface="Product Sans" panose="020B0403030502040203" pitchFamily="34" charset="0"/>
              </a:rPr>
              <a:t>. It’s often recommended by bartenders as a </a:t>
            </a:r>
            <a:r>
              <a:rPr lang="en-US" sz="1300" b="1">
                <a:latin typeface="Product Sans" panose="020B0403030502040203" pitchFamily="34" charset="0"/>
              </a:rPr>
              <a:t>“premium international wheat beer.”</a:t>
            </a:r>
            <a:endParaRPr lang="en-US" sz="1300" b="1">
              <a:solidFill>
                <a:srgbClr val="010101"/>
              </a:solidFill>
              <a:latin typeface="Product Sans" panose="020B0403030502040203" pitchFamily="34" charset="0"/>
            </a:endParaRPr>
          </a:p>
        </p:txBody>
      </p:sp>
    </p:spTree>
    <p:extLst>
      <p:ext uri="{BB962C8B-B14F-4D97-AF65-F5344CB8AC3E}">
        <p14:creationId xmlns:p14="http://schemas.microsoft.com/office/powerpoint/2010/main" val="1774396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1B715"/>
            </a:gs>
            <a:gs pos="80000">
              <a:srgbClr val="F7DD00"/>
            </a:gs>
            <a:gs pos="97000">
              <a:srgbClr val="F8DF00">
                <a:alpha val="77000"/>
              </a:srgbClr>
            </a:gs>
            <a:gs pos="100000">
              <a:srgbClr val="F9E000">
                <a:alpha val="6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2D1DC8-A993-6012-4362-0C9F67858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0032" y="1330203"/>
            <a:ext cx="1521746" cy="2284903"/>
          </a:xfrm>
          <a:prstGeom prst="rect">
            <a:avLst/>
          </a:prstGeom>
          <a:ln>
            <a:noFill/>
          </a:ln>
          <a:effectLst>
            <a:outerShdw blurRad="292100" dist="139700" dir="2700000" algn="tl" rotWithShape="0">
              <a:srgbClr val="333333">
                <a:alpha val="84000"/>
              </a:srgbClr>
            </a:outerShdw>
          </a:effectLst>
        </p:spPr>
      </p:pic>
      <p:sp>
        <p:nvSpPr>
          <p:cNvPr id="7" name="TextBox 6">
            <a:extLst>
              <a:ext uri="{FF2B5EF4-FFF2-40B4-BE49-F238E27FC236}">
                <a16:creationId xmlns:a16="http://schemas.microsoft.com/office/drawing/2014/main" id="{844F3FD1-A6DE-265A-07CA-2A323BFB0D8E}"/>
              </a:ext>
            </a:extLst>
          </p:cNvPr>
          <p:cNvSpPr txBox="1"/>
          <p:nvPr/>
        </p:nvSpPr>
        <p:spPr>
          <a:xfrm>
            <a:off x="169902" y="126370"/>
            <a:ext cx="7531509" cy="646331"/>
          </a:xfrm>
          <a:prstGeom prst="rect">
            <a:avLst/>
          </a:prstGeom>
          <a:noFill/>
        </p:spPr>
        <p:txBody>
          <a:bodyPr wrap="square" rtlCol="0">
            <a:spAutoFit/>
          </a:bodyPr>
          <a:lstStyle/>
          <a:p>
            <a:r>
              <a:rPr lang="en-US" sz="3600" b="1">
                <a:latin typeface="Product Sans Black" panose="020B0A03030502040203" pitchFamily="34" charset="0"/>
              </a:rPr>
              <a:t>The Packaging Problem</a:t>
            </a:r>
          </a:p>
        </p:txBody>
      </p:sp>
      <p:sp>
        <p:nvSpPr>
          <p:cNvPr id="8" name="TextBox 7">
            <a:extLst>
              <a:ext uri="{FF2B5EF4-FFF2-40B4-BE49-F238E27FC236}">
                <a16:creationId xmlns:a16="http://schemas.microsoft.com/office/drawing/2014/main" id="{BA706997-F331-E722-EA1B-77EF70CAEC0C}"/>
              </a:ext>
            </a:extLst>
          </p:cNvPr>
          <p:cNvSpPr txBox="1"/>
          <p:nvPr/>
        </p:nvSpPr>
        <p:spPr>
          <a:xfrm>
            <a:off x="698316" y="1674541"/>
            <a:ext cx="1505796" cy="646331"/>
          </a:xfrm>
          <a:prstGeom prst="rect">
            <a:avLst/>
          </a:prstGeom>
          <a:noFill/>
        </p:spPr>
        <p:txBody>
          <a:bodyPr wrap="square" rtlCol="0">
            <a:spAutoFit/>
          </a:bodyPr>
          <a:lstStyle/>
          <a:p>
            <a:r>
              <a:rPr lang="en-US" sz="3600" b="1">
                <a:solidFill>
                  <a:srgbClr val="FFF9E7"/>
                </a:solidFill>
                <a:latin typeface="Product Sans Black" panose="020B0A03030502040203" pitchFamily="34" charset="0"/>
              </a:rPr>
              <a:t> 45 %</a:t>
            </a:r>
          </a:p>
        </p:txBody>
      </p:sp>
      <p:sp>
        <p:nvSpPr>
          <p:cNvPr id="2" name="TextBox 1">
            <a:extLst>
              <a:ext uri="{FF2B5EF4-FFF2-40B4-BE49-F238E27FC236}">
                <a16:creationId xmlns:a16="http://schemas.microsoft.com/office/drawing/2014/main" id="{1D3EBA68-BE5D-2B83-A4A8-7D813C573561}"/>
              </a:ext>
            </a:extLst>
          </p:cNvPr>
          <p:cNvSpPr txBox="1"/>
          <p:nvPr/>
        </p:nvSpPr>
        <p:spPr>
          <a:xfrm>
            <a:off x="719213" y="2796534"/>
            <a:ext cx="1464002" cy="646331"/>
          </a:xfrm>
          <a:prstGeom prst="rect">
            <a:avLst/>
          </a:prstGeom>
          <a:noFill/>
        </p:spPr>
        <p:txBody>
          <a:bodyPr wrap="square" rtlCol="0">
            <a:spAutoFit/>
          </a:bodyPr>
          <a:lstStyle/>
          <a:p>
            <a:r>
              <a:rPr lang="en-US" sz="3600" b="1">
                <a:solidFill>
                  <a:schemeClr val="bg1"/>
                </a:solidFill>
                <a:latin typeface="Product Sans Black" panose="020B0A03030502040203" pitchFamily="34" charset="0"/>
              </a:rPr>
              <a:t> 20 %</a:t>
            </a:r>
          </a:p>
        </p:txBody>
      </p:sp>
      <p:sp>
        <p:nvSpPr>
          <p:cNvPr id="3" name="TextBox 2">
            <a:extLst>
              <a:ext uri="{FF2B5EF4-FFF2-40B4-BE49-F238E27FC236}">
                <a16:creationId xmlns:a16="http://schemas.microsoft.com/office/drawing/2014/main" id="{EDD360D2-2F24-D4CC-68FF-AB53ED2978A3}"/>
              </a:ext>
            </a:extLst>
          </p:cNvPr>
          <p:cNvSpPr txBox="1"/>
          <p:nvPr/>
        </p:nvSpPr>
        <p:spPr>
          <a:xfrm>
            <a:off x="10239654" y="1458368"/>
            <a:ext cx="1505796" cy="646331"/>
          </a:xfrm>
          <a:prstGeom prst="rect">
            <a:avLst/>
          </a:prstGeom>
          <a:noFill/>
        </p:spPr>
        <p:txBody>
          <a:bodyPr wrap="square" rtlCol="0">
            <a:spAutoFit/>
          </a:bodyPr>
          <a:lstStyle/>
          <a:p>
            <a:r>
              <a:rPr lang="en-US" sz="3600" b="1">
                <a:solidFill>
                  <a:schemeClr val="bg1"/>
                </a:solidFill>
                <a:latin typeface="Product Sans Black" panose="020B0A03030502040203" pitchFamily="34" charset="0"/>
              </a:rPr>
              <a:t> 20 %</a:t>
            </a:r>
          </a:p>
        </p:txBody>
      </p:sp>
      <p:sp>
        <p:nvSpPr>
          <p:cNvPr id="4" name="TextBox 3">
            <a:extLst>
              <a:ext uri="{FF2B5EF4-FFF2-40B4-BE49-F238E27FC236}">
                <a16:creationId xmlns:a16="http://schemas.microsoft.com/office/drawing/2014/main" id="{B0C57BF4-23AC-A745-F2B3-0C621998035C}"/>
              </a:ext>
            </a:extLst>
          </p:cNvPr>
          <p:cNvSpPr txBox="1"/>
          <p:nvPr/>
        </p:nvSpPr>
        <p:spPr>
          <a:xfrm>
            <a:off x="10239654" y="2815750"/>
            <a:ext cx="1505796" cy="646331"/>
          </a:xfrm>
          <a:prstGeom prst="rect">
            <a:avLst/>
          </a:prstGeom>
          <a:noFill/>
        </p:spPr>
        <p:txBody>
          <a:bodyPr wrap="square" rtlCol="0">
            <a:spAutoFit/>
          </a:bodyPr>
          <a:lstStyle/>
          <a:p>
            <a:r>
              <a:rPr lang="en-US" sz="3600" b="1">
                <a:solidFill>
                  <a:schemeClr val="bg1"/>
                </a:solidFill>
                <a:latin typeface="Product Sans Black" panose="020B0A03030502040203" pitchFamily="34" charset="0"/>
              </a:rPr>
              <a:t> 15 %</a:t>
            </a:r>
          </a:p>
        </p:txBody>
      </p:sp>
      <p:sp>
        <p:nvSpPr>
          <p:cNvPr id="9" name="TextBox 8">
            <a:extLst>
              <a:ext uri="{FF2B5EF4-FFF2-40B4-BE49-F238E27FC236}">
                <a16:creationId xmlns:a16="http://schemas.microsoft.com/office/drawing/2014/main" id="{474BC60F-3C42-3788-C229-929A00E678EE}"/>
              </a:ext>
            </a:extLst>
          </p:cNvPr>
          <p:cNvSpPr txBox="1"/>
          <p:nvPr/>
        </p:nvSpPr>
        <p:spPr>
          <a:xfrm>
            <a:off x="2001034" y="1548715"/>
            <a:ext cx="3650226" cy="1200329"/>
          </a:xfrm>
          <a:prstGeom prst="rect">
            <a:avLst/>
          </a:prstGeom>
          <a:noFill/>
        </p:spPr>
        <p:txBody>
          <a:bodyPr wrap="square">
            <a:spAutoFit/>
          </a:bodyPr>
          <a:lstStyle/>
          <a:p>
            <a:r>
              <a:rPr lang="en-US">
                <a:latin typeface="Product Sans Black" panose="020B0A03030502040203" pitchFamily="34" charset="0"/>
              </a:rPr>
              <a:t>Packaging Costs</a:t>
            </a:r>
          </a:p>
          <a:p>
            <a:r>
              <a:rPr lang="en-US" sz="1800">
                <a:latin typeface="Product Sans" panose="020B0403030502040203" pitchFamily="34" charset="0"/>
              </a:rPr>
              <a:t>Major Chunk of cost is from cans made up of </a:t>
            </a:r>
            <a:r>
              <a:rPr lang="en-US" sz="1800" b="1">
                <a:solidFill>
                  <a:schemeClr val="bg1"/>
                </a:solidFill>
                <a:latin typeface="Product Sans" panose="020B0403030502040203" pitchFamily="34" charset="0"/>
              </a:rPr>
              <a:t>Aluminum</a:t>
            </a:r>
            <a:r>
              <a:rPr lang="en-US" sz="1800">
                <a:latin typeface="Product Sans" panose="020B0403030502040203" pitchFamily="34" charset="0"/>
              </a:rPr>
              <a:t> &amp; bottles of </a:t>
            </a:r>
            <a:r>
              <a:rPr lang="en-US" sz="1800" b="1">
                <a:solidFill>
                  <a:schemeClr val="bg1"/>
                </a:solidFill>
                <a:latin typeface="Product Sans" panose="020B0403030502040203" pitchFamily="34" charset="0"/>
              </a:rPr>
              <a:t>Glass</a:t>
            </a:r>
          </a:p>
        </p:txBody>
      </p:sp>
      <p:sp>
        <p:nvSpPr>
          <p:cNvPr id="10" name="TextBox 9">
            <a:extLst>
              <a:ext uri="{FF2B5EF4-FFF2-40B4-BE49-F238E27FC236}">
                <a16:creationId xmlns:a16="http://schemas.microsoft.com/office/drawing/2014/main" id="{876A0A15-DBAC-9172-3579-E8ED59262CAA}"/>
              </a:ext>
            </a:extLst>
          </p:cNvPr>
          <p:cNvSpPr txBox="1"/>
          <p:nvPr/>
        </p:nvSpPr>
        <p:spPr>
          <a:xfrm>
            <a:off x="2001034" y="2796534"/>
            <a:ext cx="2938688" cy="923330"/>
          </a:xfrm>
          <a:prstGeom prst="rect">
            <a:avLst/>
          </a:prstGeom>
          <a:noFill/>
        </p:spPr>
        <p:txBody>
          <a:bodyPr wrap="square" rtlCol="0">
            <a:spAutoFit/>
          </a:bodyPr>
          <a:lstStyle/>
          <a:p>
            <a:r>
              <a:rPr lang="en-US">
                <a:latin typeface="Product Sans Black" panose="020B0A03030502040203" pitchFamily="34" charset="0"/>
              </a:rPr>
              <a:t>Raw Material Costs </a:t>
            </a:r>
            <a:r>
              <a:rPr lang="en-US">
                <a:latin typeface="Product Sans" panose="020B0403030502040203" pitchFamily="34" charset="0"/>
              </a:rPr>
              <a:t>Includes </a:t>
            </a:r>
            <a:r>
              <a:rPr lang="en-US" b="1">
                <a:solidFill>
                  <a:schemeClr val="bg1"/>
                </a:solidFill>
                <a:latin typeface="Product Sans" panose="020B0403030502040203" pitchFamily="34" charset="0"/>
              </a:rPr>
              <a:t>Malt</a:t>
            </a:r>
            <a:r>
              <a:rPr lang="en-US">
                <a:latin typeface="Product Sans" panose="020B0403030502040203" pitchFamily="34" charset="0"/>
              </a:rPr>
              <a:t>, </a:t>
            </a:r>
            <a:r>
              <a:rPr lang="en-US" b="1">
                <a:solidFill>
                  <a:schemeClr val="bg1"/>
                </a:solidFill>
                <a:latin typeface="Product Sans" panose="020B0403030502040203" pitchFamily="34" charset="0"/>
              </a:rPr>
              <a:t>Hops</a:t>
            </a:r>
            <a:r>
              <a:rPr lang="en-US">
                <a:latin typeface="Product Sans" panose="020B0403030502040203" pitchFamily="34" charset="0"/>
              </a:rPr>
              <a:t>, </a:t>
            </a:r>
            <a:r>
              <a:rPr lang="en-US" b="1">
                <a:solidFill>
                  <a:schemeClr val="bg1"/>
                </a:solidFill>
                <a:latin typeface="Product Sans" panose="020B0403030502040203" pitchFamily="34" charset="0"/>
              </a:rPr>
              <a:t>Water</a:t>
            </a:r>
            <a:r>
              <a:rPr lang="en-US">
                <a:latin typeface="Product Sans" panose="020B0403030502040203" pitchFamily="34" charset="0"/>
              </a:rPr>
              <a:t> &amp; </a:t>
            </a:r>
            <a:r>
              <a:rPr lang="en-US" b="1">
                <a:solidFill>
                  <a:schemeClr val="bg1"/>
                </a:solidFill>
                <a:latin typeface="Product Sans" panose="020B0403030502040203" pitchFamily="34" charset="0"/>
              </a:rPr>
              <a:t>Yeast</a:t>
            </a:r>
            <a:r>
              <a:rPr lang="en-US">
                <a:solidFill>
                  <a:schemeClr val="bg1"/>
                </a:solidFill>
                <a:latin typeface="Product Sans" panose="020B0403030502040203" pitchFamily="34" charset="0"/>
              </a:rPr>
              <a:t> </a:t>
            </a:r>
            <a:endParaRPr lang="en-US">
              <a:solidFill>
                <a:schemeClr val="bg1"/>
              </a:solidFill>
              <a:latin typeface="Product Sans Black" panose="020B0A03030502040203" pitchFamily="34" charset="0"/>
            </a:endParaRPr>
          </a:p>
        </p:txBody>
      </p:sp>
      <p:sp>
        <p:nvSpPr>
          <p:cNvPr id="12" name="TextBox 11">
            <a:extLst>
              <a:ext uri="{FF2B5EF4-FFF2-40B4-BE49-F238E27FC236}">
                <a16:creationId xmlns:a16="http://schemas.microsoft.com/office/drawing/2014/main" id="{18B65E0F-D9AB-006A-2A5A-F19B3CAE26C1}"/>
              </a:ext>
            </a:extLst>
          </p:cNvPr>
          <p:cNvSpPr txBox="1"/>
          <p:nvPr/>
        </p:nvSpPr>
        <p:spPr>
          <a:xfrm>
            <a:off x="7015652" y="1491447"/>
            <a:ext cx="3464750" cy="923330"/>
          </a:xfrm>
          <a:prstGeom prst="rect">
            <a:avLst/>
          </a:prstGeom>
          <a:noFill/>
        </p:spPr>
        <p:txBody>
          <a:bodyPr wrap="square" rtlCol="0">
            <a:spAutoFit/>
          </a:bodyPr>
          <a:lstStyle/>
          <a:p>
            <a:r>
              <a:rPr lang="en-US">
                <a:latin typeface="Product Sans Black" panose="020B0A03030502040203" pitchFamily="34" charset="0"/>
              </a:rPr>
              <a:t>Distribution Costs </a:t>
            </a:r>
            <a:r>
              <a:rPr lang="en-US">
                <a:latin typeface="Product Sans" panose="020B0403030502040203" pitchFamily="34" charset="0"/>
              </a:rPr>
              <a:t>Includes </a:t>
            </a:r>
            <a:r>
              <a:rPr lang="en-US" b="1">
                <a:solidFill>
                  <a:schemeClr val="bg1"/>
                </a:solidFill>
                <a:latin typeface="Product Sans" panose="020B0403030502040203" pitchFamily="34" charset="0"/>
              </a:rPr>
              <a:t>transportation</a:t>
            </a:r>
            <a:r>
              <a:rPr lang="en-US">
                <a:latin typeface="Product Sans" panose="020B0403030502040203" pitchFamily="34" charset="0"/>
              </a:rPr>
              <a:t>, </a:t>
            </a:r>
            <a:r>
              <a:rPr lang="en-US" b="1">
                <a:solidFill>
                  <a:schemeClr val="bg1"/>
                </a:solidFill>
                <a:latin typeface="Product Sans" panose="020B0403030502040203" pitchFamily="34" charset="0"/>
              </a:rPr>
              <a:t>cold chain</a:t>
            </a:r>
            <a:r>
              <a:rPr lang="en-US">
                <a:latin typeface="Product Sans" panose="020B0403030502040203" pitchFamily="34" charset="0"/>
              </a:rPr>
              <a:t>, </a:t>
            </a:r>
            <a:r>
              <a:rPr lang="en-US" b="1">
                <a:solidFill>
                  <a:schemeClr val="bg1"/>
                </a:solidFill>
                <a:latin typeface="Product Sans" panose="020B0403030502040203" pitchFamily="34" charset="0"/>
              </a:rPr>
              <a:t>storage</a:t>
            </a:r>
            <a:endParaRPr lang="en-US" b="1">
              <a:solidFill>
                <a:schemeClr val="bg1"/>
              </a:solidFill>
              <a:latin typeface="Product Sans Black" panose="020B0A03030502040203" pitchFamily="34" charset="0"/>
            </a:endParaRPr>
          </a:p>
        </p:txBody>
      </p:sp>
      <p:sp>
        <p:nvSpPr>
          <p:cNvPr id="14" name="TextBox 13">
            <a:extLst>
              <a:ext uri="{FF2B5EF4-FFF2-40B4-BE49-F238E27FC236}">
                <a16:creationId xmlns:a16="http://schemas.microsoft.com/office/drawing/2014/main" id="{F3FE475B-C5E2-DB4C-CD10-A544230B8265}"/>
              </a:ext>
            </a:extLst>
          </p:cNvPr>
          <p:cNvSpPr txBox="1"/>
          <p:nvPr/>
        </p:nvSpPr>
        <p:spPr>
          <a:xfrm>
            <a:off x="7015652" y="2642961"/>
            <a:ext cx="3833851" cy="1200329"/>
          </a:xfrm>
          <a:prstGeom prst="rect">
            <a:avLst/>
          </a:prstGeom>
          <a:noFill/>
        </p:spPr>
        <p:txBody>
          <a:bodyPr wrap="square">
            <a:spAutoFit/>
          </a:bodyPr>
          <a:lstStyle/>
          <a:p>
            <a:r>
              <a:rPr lang="en-US" b="1">
                <a:latin typeface="Product Sans Black" panose="020B0A03030502040203" pitchFamily="34" charset="0"/>
              </a:rPr>
              <a:t>Operating Costs </a:t>
            </a:r>
            <a:r>
              <a:rPr lang="en-US">
                <a:latin typeface="Product Sans" panose="020B0403030502040203" pitchFamily="34" charset="0"/>
              </a:rPr>
              <a:t>Includes brewing and overhead costs such as</a:t>
            </a:r>
            <a:r>
              <a:rPr lang="en-US" b="1">
                <a:solidFill>
                  <a:schemeClr val="bg1"/>
                </a:solidFill>
                <a:latin typeface="Product Sans" panose="020B0403030502040203" pitchFamily="34" charset="0"/>
              </a:rPr>
              <a:t> electricity</a:t>
            </a:r>
            <a:r>
              <a:rPr lang="en-US" b="1">
                <a:latin typeface="Product Sans" panose="020B0403030502040203" pitchFamily="34" charset="0"/>
              </a:rPr>
              <a:t>,</a:t>
            </a:r>
            <a:r>
              <a:rPr lang="en-US" b="1">
                <a:solidFill>
                  <a:schemeClr val="bg1"/>
                </a:solidFill>
                <a:latin typeface="Product Sans" panose="020B0403030502040203" pitchFamily="34" charset="0"/>
              </a:rPr>
              <a:t> steam</a:t>
            </a:r>
            <a:r>
              <a:rPr lang="en-US" b="1">
                <a:latin typeface="Product Sans" panose="020B0403030502040203" pitchFamily="34" charset="0"/>
              </a:rPr>
              <a:t>,</a:t>
            </a:r>
            <a:r>
              <a:rPr lang="en-US" b="1">
                <a:solidFill>
                  <a:schemeClr val="bg1"/>
                </a:solidFill>
                <a:latin typeface="Product Sans" panose="020B0403030502040203" pitchFamily="34" charset="0"/>
              </a:rPr>
              <a:t> labor</a:t>
            </a:r>
            <a:r>
              <a:rPr lang="en-US" b="1">
                <a:latin typeface="Product Sans" panose="020B0403030502040203" pitchFamily="34" charset="0"/>
              </a:rPr>
              <a:t>,</a:t>
            </a:r>
            <a:r>
              <a:rPr lang="en-US" b="1">
                <a:solidFill>
                  <a:schemeClr val="bg1"/>
                </a:solidFill>
                <a:latin typeface="Product Sans" panose="020B0403030502040203" pitchFamily="34" charset="0"/>
              </a:rPr>
              <a:t> maintenance</a:t>
            </a:r>
            <a:r>
              <a:rPr lang="en-US" b="1">
                <a:latin typeface="Product Sans" panose="020B0403030502040203" pitchFamily="34" charset="0"/>
              </a:rPr>
              <a:t>,</a:t>
            </a:r>
            <a:r>
              <a:rPr lang="en-US" b="1">
                <a:solidFill>
                  <a:schemeClr val="bg1"/>
                </a:solidFill>
                <a:latin typeface="Product Sans" panose="020B0403030502040203" pitchFamily="34" charset="0"/>
              </a:rPr>
              <a:t> quality control</a:t>
            </a:r>
          </a:p>
        </p:txBody>
      </p:sp>
      <p:cxnSp>
        <p:nvCxnSpPr>
          <p:cNvPr id="16" name="Straight Connector 15">
            <a:extLst>
              <a:ext uri="{FF2B5EF4-FFF2-40B4-BE49-F238E27FC236}">
                <a16:creationId xmlns:a16="http://schemas.microsoft.com/office/drawing/2014/main" id="{428653D0-1A12-71EC-C33B-8B7C7C3B2F4E}"/>
              </a:ext>
            </a:extLst>
          </p:cNvPr>
          <p:cNvCxnSpPr>
            <a:cxnSpLocks/>
          </p:cNvCxnSpPr>
          <p:nvPr/>
        </p:nvCxnSpPr>
        <p:spPr>
          <a:xfrm>
            <a:off x="2460811" y="4954451"/>
            <a:ext cx="0" cy="1476216"/>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0B53DD5-125F-C5EA-260C-DEB3753803B5}"/>
              </a:ext>
            </a:extLst>
          </p:cNvPr>
          <p:cNvSpPr txBox="1"/>
          <p:nvPr/>
        </p:nvSpPr>
        <p:spPr>
          <a:xfrm>
            <a:off x="4794944" y="868306"/>
            <a:ext cx="4988763" cy="369332"/>
          </a:xfrm>
          <a:prstGeom prst="rect">
            <a:avLst/>
          </a:prstGeom>
          <a:noFill/>
        </p:spPr>
        <p:txBody>
          <a:bodyPr wrap="square" rtlCol="0">
            <a:spAutoFit/>
          </a:bodyPr>
          <a:lstStyle/>
          <a:p>
            <a:r>
              <a:rPr lang="en-US" b="1">
                <a:solidFill>
                  <a:srgbClr val="FFFF00"/>
                </a:solidFill>
                <a:highlight>
                  <a:srgbClr val="000000"/>
                </a:highlight>
                <a:latin typeface="Product Sans" panose="020B0403030502040203" pitchFamily="34" charset="0"/>
              </a:rPr>
              <a:t>Unit costs of a Beer Bottle </a:t>
            </a:r>
          </a:p>
        </p:txBody>
      </p:sp>
      <p:sp>
        <p:nvSpPr>
          <p:cNvPr id="25" name="TextBox 24">
            <a:extLst>
              <a:ext uri="{FF2B5EF4-FFF2-40B4-BE49-F238E27FC236}">
                <a16:creationId xmlns:a16="http://schemas.microsoft.com/office/drawing/2014/main" id="{38806B55-650B-4835-E4F6-2FE3A0EC20F7}"/>
              </a:ext>
            </a:extLst>
          </p:cNvPr>
          <p:cNvSpPr txBox="1"/>
          <p:nvPr/>
        </p:nvSpPr>
        <p:spPr>
          <a:xfrm>
            <a:off x="4117059" y="4124643"/>
            <a:ext cx="4689635"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Aluminum  Issue</a:t>
            </a:r>
          </a:p>
        </p:txBody>
      </p:sp>
      <p:sp>
        <p:nvSpPr>
          <p:cNvPr id="30" name="TextBox 29">
            <a:extLst>
              <a:ext uri="{FF2B5EF4-FFF2-40B4-BE49-F238E27FC236}">
                <a16:creationId xmlns:a16="http://schemas.microsoft.com/office/drawing/2014/main" id="{1B3AB275-D6EE-A4A7-DB04-9ACF3FAD3FBA}"/>
              </a:ext>
            </a:extLst>
          </p:cNvPr>
          <p:cNvSpPr txBox="1"/>
          <p:nvPr/>
        </p:nvSpPr>
        <p:spPr>
          <a:xfrm>
            <a:off x="125555" y="4525415"/>
            <a:ext cx="6189406" cy="369332"/>
          </a:xfrm>
          <a:prstGeom prst="rect">
            <a:avLst/>
          </a:prstGeom>
          <a:noFill/>
        </p:spPr>
        <p:txBody>
          <a:bodyPr wrap="square">
            <a:spAutoFit/>
          </a:bodyPr>
          <a:lstStyle/>
          <a:p>
            <a:r>
              <a:rPr lang="en-US" sz="1800" b="1" i="0" u="none" strike="noStrike">
                <a:solidFill>
                  <a:srgbClr val="1B1C1D"/>
                </a:solidFill>
                <a:effectLst/>
                <a:latin typeface="Product Sans" panose="020B0403030502040203" pitchFamily="34" charset="0"/>
                <a:cs typeface="Poppins" panose="00000500000000000000" pitchFamily="2" charset="0"/>
              </a:rPr>
              <a:t>Surging Demand</a:t>
            </a:r>
            <a:endParaRPr lang="en-US">
              <a:latin typeface="Product Sans" panose="020B0403030502040203" pitchFamily="34" charset="0"/>
              <a:cs typeface="Poppins" panose="00000500000000000000" pitchFamily="2" charset="0"/>
            </a:endParaRPr>
          </a:p>
        </p:txBody>
      </p:sp>
      <p:sp>
        <p:nvSpPr>
          <p:cNvPr id="32" name="TextBox 31">
            <a:extLst>
              <a:ext uri="{FF2B5EF4-FFF2-40B4-BE49-F238E27FC236}">
                <a16:creationId xmlns:a16="http://schemas.microsoft.com/office/drawing/2014/main" id="{E4A1DA3C-C701-04C3-2B91-3088FA4D8B6B}"/>
              </a:ext>
            </a:extLst>
          </p:cNvPr>
          <p:cNvSpPr txBox="1"/>
          <p:nvPr/>
        </p:nvSpPr>
        <p:spPr>
          <a:xfrm>
            <a:off x="125555" y="4846174"/>
            <a:ext cx="2267306" cy="1492716"/>
          </a:xfrm>
          <a:prstGeom prst="rect">
            <a:avLst/>
          </a:prstGeom>
          <a:noFill/>
        </p:spPr>
        <p:txBody>
          <a:bodyPr wrap="square">
            <a:spAutoFit/>
          </a:bodyPr>
          <a:lstStyle/>
          <a:p>
            <a:r>
              <a:rPr lang="en-US" sz="1300">
                <a:latin typeface="Product Sans" panose="020B0403030502040203" pitchFamily="34" charset="0"/>
              </a:rPr>
              <a:t>The market’s unpredictable demand can lead to supply shocks especially in states like Uttar Pradesh,  where cans can account for 75-80% of sales for major brewers.</a:t>
            </a:r>
          </a:p>
        </p:txBody>
      </p:sp>
      <p:sp>
        <p:nvSpPr>
          <p:cNvPr id="35" name="TextBox 34">
            <a:extLst>
              <a:ext uri="{FF2B5EF4-FFF2-40B4-BE49-F238E27FC236}">
                <a16:creationId xmlns:a16="http://schemas.microsoft.com/office/drawing/2014/main" id="{EDB08579-DD9F-0D2D-6315-1C064E92FE97}"/>
              </a:ext>
            </a:extLst>
          </p:cNvPr>
          <p:cNvSpPr txBox="1"/>
          <p:nvPr/>
        </p:nvSpPr>
        <p:spPr>
          <a:xfrm>
            <a:off x="2525108" y="4493342"/>
            <a:ext cx="6189406" cy="369332"/>
          </a:xfrm>
          <a:prstGeom prst="rect">
            <a:avLst/>
          </a:prstGeom>
          <a:noFill/>
        </p:spPr>
        <p:txBody>
          <a:bodyPr wrap="square">
            <a:spAutoFit/>
          </a:bodyPr>
          <a:lstStyle/>
          <a:p>
            <a:r>
              <a:rPr lang="en-US" sz="1800" b="1" i="0" u="none" strike="noStrike">
                <a:solidFill>
                  <a:srgbClr val="1B1C1D"/>
                </a:solidFill>
                <a:effectLst/>
                <a:latin typeface="Product Sans" panose="020B0403030502040203" pitchFamily="34" charset="0"/>
                <a:cs typeface="Poppins" panose="00000500000000000000" pitchFamily="2" charset="0"/>
              </a:rPr>
              <a:t>Import Dependency</a:t>
            </a:r>
            <a:endParaRPr lang="en-US">
              <a:latin typeface="Product Sans" panose="020B0403030502040203" pitchFamily="34" charset="0"/>
              <a:cs typeface="Poppins" panose="00000500000000000000" pitchFamily="2" charset="0"/>
            </a:endParaRPr>
          </a:p>
        </p:txBody>
      </p:sp>
      <p:sp>
        <p:nvSpPr>
          <p:cNvPr id="36" name="TextBox 35">
            <a:extLst>
              <a:ext uri="{FF2B5EF4-FFF2-40B4-BE49-F238E27FC236}">
                <a16:creationId xmlns:a16="http://schemas.microsoft.com/office/drawing/2014/main" id="{017BB36D-D1FE-A364-EC33-D963B49C3FE7}"/>
              </a:ext>
            </a:extLst>
          </p:cNvPr>
          <p:cNvSpPr txBox="1"/>
          <p:nvPr/>
        </p:nvSpPr>
        <p:spPr>
          <a:xfrm>
            <a:off x="2751195" y="4846174"/>
            <a:ext cx="2420503" cy="1692771"/>
          </a:xfrm>
          <a:prstGeom prst="rect">
            <a:avLst/>
          </a:prstGeom>
          <a:noFill/>
        </p:spPr>
        <p:txBody>
          <a:bodyPr wrap="square">
            <a:spAutoFit/>
          </a:bodyPr>
          <a:lstStyle/>
          <a:p>
            <a:r>
              <a:rPr lang="en-US" sz="1300">
                <a:latin typeface="Product Sans" panose="020B0403030502040203" pitchFamily="34" charset="0"/>
              </a:rPr>
              <a:t>India has limited domestic can manufacturing abilities which are owned by International giants </a:t>
            </a:r>
            <a:r>
              <a:rPr lang="en-US" sz="1300" err="1">
                <a:latin typeface="Product Sans" panose="020B0403030502040203" pitchFamily="34" charset="0"/>
              </a:rPr>
              <a:t>Canpack</a:t>
            </a:r>
            <a:r>
              <a:rPr lang="en-US" sz="1300">
                <a:latin typeface="Product Sans" panose="020B0403030502040203" pitchFamily="34" charset="0"/>
              </a:rPr>
              <a:t> and Ball, compounding these issues the aluminum required for manufacturing of specific gauge is imported.</a:t>
            </a:r>
          </a:p>
        </p:txBody>
      </p:sp>
      <p:cxnSp>
        <p:nvCxnSpPr>
          <p:cNvPr id="37" name="Straight Connector 36">
            <a:extLst>
              <a:ext uri="{FF2B5EF4-FFF2-40B4-BE49-F238E27FC236}">
                <a16:creationId xmlns:a16="http://schemas.microsoft.com/office/drawing/2014/main" id="{B10F41DD-FC12-43E4-3612-8D8172A4ADA1}"/>
              </a:ext>
            </a:extLst>
          </p:cNvPr>
          <p:cNvCxnSpPr>
            <a:cxnSpLocks/>
          </p:cNvCxnSpPr>
          <p:nvPr/>
        </p:nvCxnSpPr>
        <p:spPr>
          <a:xfrm>
            <a:off x="5252884" y="4954451"/>
            <a:ext cx="0" cy="1476216"/>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BB0922D-824A-AF4D-FC53-40E8F7438F00}"/>
              </a:ext>
            </a:extLst>
          </p:cNvPr>
          <p:cNvSpPr txBox="1"/>
          <p:nvPr/>
        </p:nvSpPr>
        <p:spPr>
          <a:xfrm>
            <a:off x="5376395" y="4492879"/>
            <a:ext cx="6189406" cy="369332"/>
          </a:xfrm>
          <a:prstGeom prst="rect">
            <a:avLst/>
          </a:prstGeom>
          <a:noFill/>
        </p:spPr>
        <p:txBody>
          <a:bodyPr wrap="square">
            <a:spAutoFit/>
          </a:bodyPr>
          <a:lstStyle/>
          <a:p>
            <a:r>
              <a:rPr lang="en-US" b="1">
                <a:latin typeface="Product Sans" panose="020B0403030502040203" pitchFamily="34" charset="0"/>
                <a:cs typeface="Poppins" panose="00000500000000000000" pitchFamily="2" charset="0"/>
              </a:rPr>
              <a:t>Regulatory Gridlock</a:t>
            </a:r>
          </a:p>
        </p:txBody>
      </p:sp>
      <p:cxnSp>
        <p:nvCxnSpPr>
          <p:cNvPr id="39" name="Straight Connector 38">
            <a:extLst>
              <a:ext uri="{FF2B5EF4-FFF2-40B4-BE49-F238E27FC236}">
                <a16:creationId xmlns:a16="http://schemas.microsoft.com/office/drawing/2014/main" id="{024B3C53-F286-8E60-A7A1-4590186D1772}"/>
              </a:ext>
            </a:extLst>
          </p:cNvPr>
          <p:cNvCxnSpPr>
            <a:cxnSpLocks/>
          </p:cNvCxnSpPr>
          <p:nvPr/>
        </p:nvCxnSpPr>
        <p:spPr>
          <a:xfrm>
            <a:off x="8031994" y="4954451"/>
            <a:ext cx="0" cy="1476216"/>
          </a:xfrm>
          <a:prstGeom prst="line">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70D085D-BA5E-7E5F-7C4D-B043E53F9FE2}"/>
              </a:ext>
            </a:extLst>
          </p:cNvPr>
          <p:cNvSpPr txBox="1"/>
          <p:nvPr/>
        </p:nvSpPr>
        <p:spPr>
          <a:xfrm>
            <a:off x="5530032" y="4846174"/>
            <a:ext cx="2380121" cy="1492716"/>
          </a:xfrm>
          <a:prstGeom prst="rect">
            <a:avLst/>
          </a:prstGeom>
          <a:noFill/>
        </p:spPr>
        <p:txBody>
          <a:bodyPr wrap="square">
            <a:spAutoFit/>
          </a:bodyPr>
          <a:lstStyle/>
          <a:p>
            <a:r>
              <a:rPr lang="en-US" sz="1300">
                <a:latin typeface="Product Sans" panose="020B0403030502040203" pitchFamily="34" charset="0"/>
              </a:rPr>
              <a:t>New mandate requiring BIS (Bureau of Indian Standards) for cans has become a major impediment, slower process has caused significant delays in shipments from international suppliers    </a:t>
            </a:r>
          </a:p>
        </p:txBody>
      </p:sp>
      <p:sp>
        <p:nvSpPr>
          <p:cNvPr id="44" name="TextBox 43">
            <a:extLst>
              <a:ext uri="{FF2B5EF4-FFF2-40B4-BE49-F238E27FC236}">
                <a16:creationId xmlns:a16="http://schemas.microsoft.com/office/drawing/2014/main" id="{7FFCE66F-2226-4569-7D58-0CDB53B7A07A}"/>
              </a:ext>
            </a:extLst>
          </p:cNvPr>
          <p:cNvSpPr txBox="1"/>
          <p:nvPr/>
        </p:nvSpPr>
        <p:spPr>
          <a:xfrm>
            <a:off x="8227682" y="4476842"/>
            <a:ext cx="6189406" cy="369332"/>
          </a:xfrm>
          <a:prstGeom prst="rect">
            <a:avLst/>
          </a:prstGeom>
          <a:noFill/>
        </p:spPr>
        <p:txBody>
          <a:bodyPr wrap="square">
            <a:spAutoFit/>
          </a:bodyPr>
          <a:lstStyle/>
          <a:p>
            <a:r>
              <a:rPr lang="en-US" b="1">
                <a:latin typeface="Product Sans" panose="020B0403030502040203" pitchFamily="34" charset="0"/>
                <a:cs typeface="Poppins" panose="00000500000000000000" pitchFamily="2" charset="0"/>
              </a:rPr>
              <a:t>Price Volatility </a:t>
            </a:r>
          </a:p>
        </p:txBody>
      </p:sp>
      <p:sp>
        <p:nvSpPr>
          <p:cNvPr id="45" name="TextBox 44">
            <a:extLst>
              <a:ext uri="{FF2B5EF4-FFF2-40B4-BE49-F238E27FC236}">
                <a16:creationId xmlns:a16="http://schemas.microsoft.com/office/drawing/2014/main" id="{6E167E72-0FFB-3954-1C60-08C617E38F9E}"/>
              </a:ext>
            </a:extLst>
          </p:cNvPr>
          <p:cNvSpPr txBox="1"/>
          <p:nvPr/>
        </p:nvSpPr>
        <p:spPr>
          <a:xfrm>
            <a:off x="8308869" y="4846174"/>
            <a:ext cx="3609804" cy="1523494"/>
          </a:xfrm>
          <a:prstGeom prst="rect">
            <a:avLst/>
          </a:prstGeom>
          <a:noFill/>
        </p:spPr>
        <p:txBody>
          <a:bodyPr wrap="square">
            <a:spAutoFit/>
          </a:bodyPr>
          <a:lstStyle/>
          <a:p>
            <a:r>
              <a:rPr lang="en-US" sz="1300">
                <a:latin typeface="Product Sans" panose="020B0403030502040203" pitchFamily="34" charset="0"/>
              </a:rPr>
              <a:t>Aluminum had a 22% volatility in 2024 and 19% in 2023 exposed company’s equity of 408 million USD in 2024 and 337 million USD in 2023, AB InBev has largest commodity exposure of 1,841 million USD hedged for year 2024, fluctuations in price represent the </a:t>
            </a:r>
            <a:r>
              <a:rPr lang="en-US" sz="1300" b="1">
                <a:latin typeface="Product Sans" panose="020B0403030502040203" pitchFamily="34" charset="0"/>
              </a:rPr>
              <a:t>most significant commodity risk</a:t>
            </a:r>
            <a:r>
              <a:rPr lang="en-US" sz="1300">
                <a:latin typeface="Product Sans" panose="020B0403030502040203" pitchFamily="34" charset="0"/>
              </a:rPr>
              <a:t> for AB InBev</a:t>
            </a:r>
            <a:r>
              <a:rPr lang="en-US" sz="1400"/>
              <a:t>.</a:t>
            </a:r>
            <a:endParaRPr lang="en-US" sz="1300">
              <a:latin typeface="Product Sans" panose="020B0403030502040203" pitchFamily="34" charset="0"/>
            </a:endParaRPr>
          </a:p>
        </p:txBody>
      </p:sp>
      <p:cxnSp>
        <p:nvCxnSpPr>
          <p:cNvPr id="11" name="Straight Connector 10">
            <a:extLst>
              <a:ext uri="{FF2B5EF4-FFF2-40B4-BE49-F238E27FC236}">
                <a16:creationId xmlns:a16="http://schemas.microsoft.com/office/drawing/2014/main" id="{B1F826AB-C10A-763B-16A7-A46882133CB8}"/>
              </a:ext>
            </a:extLst>
          </p:cNvPr>
          <p:cNvCxnSpPr>
            <a:stCxn id="8" idx="1"/>
          </p:cNvCxnSpPr>
          <p:nvPr/>
        </p:nvCxnSpPr>
        <p:spPr>
          <a:xfrm flipH="1" flipV="1">
            <a:off x="245806" y="1997706"/>
            <a:ext cx="452510" cy="1"/>
          </a:xfrm>
          <a:prstGeom prst="line">
            <a:avLst/>
          </a:prstGeom>
          <a:ln>
            <a:solidFill>
              <a:srgbClr val="010101"/>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23DD64-65BB-032A-6D85-465EB4586FC8}"/>
              </a:ext>
            </a:extLst>
          </p:cNvPr>
          <p:cNvCxnSpPr/>
          <p:nvPr/>
        </p:nvCxnSpPr>
        <p:spPr>
          <a:xfrm>
            <a:off x="255639" y="1997706"/>
            <a:ext cx="0" cy="2311603"/>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300B600-70CB-A491-E756-DC25BE7D575B}"/>
              </a:ext>
            </a:extLst>
          </p:cNvPr>
          <p:cNvCxnSpPr>
            <a:endCxn id="25" idx="1"/>
          </p:cNvCxnSpPr>
          <p:nvPr/>
        </p:nvCxnSpPr>
        <p:spPr>
          <a:xfrm>
            <a:off x="255639" y="4309309"/>
            <a:ext cx="386142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1367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D3A53-8C36-8111-C667-EEF37D949E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584AC5-4C00-4B6A-C075-70429EAB3014}"/>
              </a:ext>
            </a:extLst>
          </p:cNvPr>
          <p:cNvSpPr txBox="1"/>
          <p:nvPr/>
        </p:nvSpPr>
        <p:spPr>
          <a:xfrm>
            <a:off x="0" y="2610252"/>
            <a:ext cx="7531509" cy="584775"/>
          </a:xfrm>
          <a:prstGeom prst="rect">
            <a:avLst/>
          </a:prstGeom>
          <a:noFill/>
        </p:spPr>
        <p:txBody>
          <a:bodyPr wrap="square" rtlCol="0">
            <a:spAutoFit/>
          </a:bodyPr>
          <a:lstStyle/>
          <a:p>
            <a:r>
              <a:rPr lang="en-US" sz="3200">
                <a:solidFill>
                  <a:srgbClr val="FFC000"/>
                </a:solidFill>
                <a:latin typeface="Product Sans Black" panose="020B0A03030502040203" pitchFamily="34" charset="0"/>
              </a:rPr>
              <a:t>Solution </a:t>
            </a:r>
          </a:p>
        </p:txBody>
      </p:sp>
      <p:sp>
        <p:nvSpPr>
          <p:cNvPr id="4" name="TextBox 3">
            <a:extLst>
              <a:ext uri="{FF2B5EF4-FFF2-40B4-BE49-F238E27FC236}">
                <a16:creationId xmlns:a16="http://schemas.microsoft.com/office/drawing/2014/main" id="{579D046B-2CB2-D6DE-CE48-CA9A5E74B155}"/>
              </a:ext>
            </a:extLst>
          </p:cNvPr>
          <p:cNvSpPr txBox="1"/>
          <p:nvPr/>
        </p:nvSpPr>
        <p:spPr>
          <a:xfrm>
            <a:off x="0" y="3204366"/>
            <a:ext cx="3696556"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Collaboration with Partners</a:t>
            </a:r>
          </a:p>
        </p:txBody>
      </p:sp>
      <p:sp>
        <p:nvSpPr>
          <p:cNvPr id="13" name="TextBox 12">
            <a:extLst>
              <a:ext uri="{FF2B5EF4-FFF2-40B4-BE49-F238E27FC236}">
                <a16:creationId xmlns:a16="http://schemas.microsoft.com/office/drawing/2014/main" id="{CEF6CDF3-6241-8527-7458-ECC5213BB84A}"/>
              </a:ext>
            </a:extLst>
          </p:cNvPr>
          <p:cNvSpPr txBox="1"/>
          <p:nvPr/>
        </p:nvSpPr>
        <p:spPr>
          <a:xfrm>
            <a:off x="0" y="3617574"/>
            <a:ext cx="5340600" cy="892552"/>
          </a:xfrm>
          <a:prstGeom prst="rect">
            <a:avLst/>
          </a:prstGeom>
          <a:noFill/>
        </p:spPr>
        <p:txBody>
          <a:bodyPr wrap="square">
            <a:spAutoFit/>
          </a:bodyPr>
          <a:lstStyle/>
          <a:p>
            <a:r>
              <a:rPr lang="en-US" sz="1300">
                <a:latin typeface="Product Sans" panose="020B0403030502040203" pitchFamily="34" charset="0"/>
              </a:rPr>
              <a:t>Shift sourcing from transactional buys to strategic partnerships across the full aluminum value chain—primary producers, coil/sheet mills, can-makers, and logistics—locking in quality, volumes, and service with multi‑year agreements and shared KPIs</a:t>
            </a:r>
            <a:endParaRPr lang="en-US" sz="1300" b="1">
              <a:solidFill>
                <a:srgbClr val="F9E000"/>
              </a:solidFill>
              <a:latin typeface="Product Sans" panose="020B0403030502040203" pitchFamily="34" charset="0"/>
            </a:endParaRPr>
          </a:p>
        </p:txBody>
      </p:sp>
      <p:sp>
        <p:nvSpPr>
          <p:cNvPr id="15" name="TextBox 14">
            <a:extLst>
              <a:ext uri="{FF2B5EF4-FFF2-40B4-BE49-F238E27FC236}">
                <a16:creationId xmlns:a16="http://schemas.microsoft.com/office/drawing/2014/main" id="{3CE257AC-093E-0DD5-60AC-A6F87FBCC293}"/>
              </a:ext>
            </a:extLst>
          </p:cNvPr>
          <p:cNvSpPr txBox="1"/>
          <p:nvPr/>
        </p:nvSpPr>
        <p:spPr>
          <a:xfrm>
            <a:off x="5907187" y="3882383"/>
            <a:ext cx="5176518" cy="892552"/>
          </a:xfrm>
          <a:prstGeom prst="rect">
            <a:avLst/>
          </a:prstGeom>
          <a:noFill/>
        </p:spPr>
        <p:txBody>
          <a:bodyPr wrap="square">
            <a:spAutoFit/>
          </a:bodyPr>
          <a:lstStyle/>
          <a:p>
            <a:pPr algn="l"/>
            <a:r>
              <a:rPr lang="en-US" sz="1300" b="0" i="0">
                <a:effectLst/>
                <a:latin typeface="Product Sans" panose="020B0403030502040203" pitchFamily="34" charset="0"/>
              </a:rPr>
              <a:t>Break silos between procurement, finance, R&amp;D, sustainability, and operations by instituting an enterprise commodity‑risk framework that aligns short‑term hedges, mid‑term contracting, and long‑term design changes into one coherent plan.</a:t>
            </a:r>
          </a:p>
        </p:txBody>
      </p:sp>
      <p:sp>
        <p:nvSpPr>
          <p:cNvPr id="19" name="TextBox 18">
            <a:extLst>
              <a:ext uri="{FF2B5EF4-FFF2-40B4-BE49-F238E27FC236}">
                <a16:creationId xmlns:a16="http://schemas.microsoft.com/office/drawing/2014/main" id="{D3CCBC87-73E8-9714-9981-0B15C6380B41}"/>
              </a:ext>
            </a:extLst>
          </p:cNvPr>
          <p:cNvSpPr txBox="1"/>
          <p:nvPr/>
        </p:nvSpPr>
        <p:spPr>
          <a:xfrm>
            <a:off x="5907187" y="3429000"/>
            <a:ext cx="4576231"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Integrating Risk Management Holistically </a:t>
            </a:r>
          </a:p>
        </p:txBody>
      </p:sp>
      <p:sp>
        <p:nvSpPr>
          <p:cNvPr id="3" name="TextBox 2">
            <a:extLst>
              <a:ext uri="{FF2B5EF4-FFF2-40B4-BE49-F238E27FC236}">
                <a16:creationId xmlns:a16="http://schemas.microsoft.com/office/drawing/2014/main" id="{DDA6A08B-BA92-D721-BD78-F4ADCBDEA442}"/>
              </a:ext>
            </a:extLst>
          </p:cNvPr>
          <p:cNvSpPr txBox="1"/>
          <p:nvPr/>
        </p:nvSpPr>
        <p:spPr>
          <a:xfrm>
            <a:off x="0" y="4528803"/>
            <a:ext cx="3696556"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Re-engineering light weight cans</a:t>
            </a:r>
          </a:p>
        </p:txBody>
      </p:sp>
      <p:sp>
        <p:nvSpPr>
          <p:cNvPr id="5" name="TextBox 4">
            <a:extLst>
              <a:ext uri="{FF2B5EF4-FFF2-40B4-BE49-F238E27FC236}">
                <a16:creationId xmlns:a16="http://schemas.microsoft.com/office/drawing/2014/main" id="{7FC27902-7A78-0012-56D3-F7DC1E3B539E}"/>
              </a:ext>
            </a:extLst>
          </p:cNvPr>
          <p:cNvSpPr txBox="1"/>
          <p:nvPr/>
        </p:nvSpPr>
        <p:spPr>
          <a:xfrm>
            <a:off x="0" y="4942011"/>
            <a:ext cx="5933440" cy="692497"/>
          </a:xfrm>
          <a:prstGeom prst="rect">
            <a:avLst/>
          </a:prstGeom>
          <a:noFill/>
        </p:spPr>
        <p:txBody>
          <a:bodyPr wrap="square">
            <a:spAutoFit/>
          </a:bodyPr>
          <a:lstStyle/>
          <a:p>
            <a:r>
              <a:rPr lang="en-US" sz="1300">
                <a:latin typeface="Product Sans" panose="020B0403030502040203" pitchFamily="34" charset="0"/>
              </a:rPr>
              <a:t>Reduce metal per unit by optimizing can body gauge, end diameter, and seaming without compromising performance, cutting permanent material intensity and cost per hectoliter.</a:t>
            </a:r>
          </a:p>
        </p:txBody>
      </p:sp>
      <p:sp>
        <p:nvSpPr>
          <p:cNvPr id="6" name="TextBox 5">
            <a:extLst>
              <a:ext uri="{FF2B5EF4-FFF2-40B4-BE49-F238E27FC236}">
                <a16:creationId xmlns:a16="http://schemas.microsoft.com/office/drawing/2014/main" id="{11C9AC69-95E9-FD92-9920-1FF36064DA20}"/>
              </a:ext>
            </a:extLst>
          </p:cNvPr>
          <p:cNvSpPr txBox="1"/>
          <p:nvPr/>
        </p:nvSpPr>
        <p:spPr>
          <a:xfrm>
            <a:off x="5913235" y="4918927"/>
            <a:ext cx="4576231"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Investing in Financial Instruments </a:t>
            </a:r>
          </a:p>
        </p:txBody>
      </p:sp>
      <p:sp>
        <p:nvSpPr>
          <p:cNvPr id="7" name="TextBox 6">
            <a:extLst>
              <a:ext uri="{FF2B5EF4-FFF2-40B4-BE49-F238E27FC236}">
                <a16:creationId xmlns:a16="http://schemas.microsoft.com/office/drawing/2014/main" id="{9A997113-1EFC-9DF2-1247-06943A162551}"/>
              </a:ext>
            </a:extLst>
          </p:cNvPr>
          <p:cNvSpPr txBox="1"/>
          <p:nvPr/>
        </p:nvSpPr>
        <p:spPr>
          <a:xfrm>
            <a:off x="5933440" y="5432251"/>
            <a:ext cx="5207655" cy="892552"/>
          </a:xfrm>
          <a:prstGeom prst="rect">
            <a:avLst/>
          </a:prstGeom>
          <a:noFill/>
        </p:spPr>
        <p:txBody>
          <a:bodyPr wrap="square">
            <a:spAutoFit/>
          </a:bodyPr>
          <a:lstStyle/>
          <a:p>
            <a:r>
              <a:rPr lang="en-US" sz="1300" b="0" i="0">
                <a:effectLst/>
                <a:latin typeface="Product Sans" panose="020B0403030502040203" pitchFamily="34" charset="0"/>
              </a:rPr>
              <a:t>Implement a layered hedging program (forwards/swaps/futures and options) to cap upside price risk while preserving downside participation, executed with creditworthy counterparties and monitored by an internal risk committee</a:t>
            </a:r>
            <a:endParaRPr lang="en-US" sz="1300">
              <a:latin typeface="Product Sans" panose="020B0403030502040203" pitchFamily="34" charset="0"/>
            </a:endParaRPr>
          </a:p>
        </p:txBody>
      </p:sp>
      <p:sp>
        <p:nvSpPr>
          <p:cNvPr id="8" name="TextBox 7">
            <a:extLst>
              <a:ext uri="{FF2B5EF4-FFF2-40B4-BE49-F238E27FC236}">
                <a16:creationId xmlns:a16="http://schemas.microsoft.com/office/drawing/2014/main" id="{9120B0E2-D1B0-8543-57A4-0BFF2D5F4C64}"/>
              </a:ext>
            </a:extLst>
          </p:cNvPr>
          <p:cNvSpPr txBox="1"/>
          <p:nvPr/>
        </p:nvSpPr>
        <p:spPr>
          <a:xfrm>
            <a:off x="0" y="5631938"/>
            <a:ext cx="3554444"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Using Recycled Aluminum </a:t>
            </a:r>
          </a:p>
        </p:txBody>
      </p:sp>
      <p:sp>
        <p:nvSpPr>
          <p:cNvPr id="9" name="TextBox 8">
            <a:extLst>
              <a:ext uri="{FF2B5EF4-FFF2-40B4-BE49-F238E27FC236}">
                <a16:creationId xmlns:a16="http://schemas.microsoft.com/office/drawing/2014/main" id="{3EB82599-8F49-A034-9ED1-21CAD2C241AD}"/>
              </a:ext>
            </a:extLst>
          </p:cNvPr>
          <p:cNvSpPr txBox="1"/>
          <p:nvPr/>
        </p:nvSpPr>
        <p:spPr>
          <a:xfrm>
            <a:off x="0" y="5998700"/>
            <a:ext cx="5913236" cy="692497"/>
          </a:xfrm>
          <a:prstGeom prst="rect">
            <a:avLst/>
          </a:prstGeom>
          <a:noFill/>
        </p:spPr>
        <p:txBody>
          <a:bodyPr wrap="square">
            <a:spAutoFit/>
          </a:bodyPr>
          <a:lstStyle/>
          <a:p>
            <a:r>
              <a:rPr lang="en-US" sz="1300" b="0" i="0">
                <a:effectLst/>
                <a:latin typeface="Product Sans" panose="020B0403030502040203" pitchFamily="34" charset="0"/>
              </a:rPr>
              <a:t>Producing aluminum from recycled scrap uses up to about 95% less energy than from virgin bauxite, delivering significant cost and carbon benefits over the long term</a:t>
            </a:r>
            <a:endParaRPr lang="en-US" sz="1300">
              <a:latin typeface="Product Sans" panose="020B0403030502040203" pitchFamily="34" charset="0"/>
            </a:endParaRPr>
          </a:p>
        </p:txBody>
      </p:sp>
      <p:sp>
        <p:nvSpPr>
          <p:cNvPr id="11" name="TextBox 10">
            <a:extLst>
              <a:ext uri="{FF2B5EF4-FFF2-40B4-BE49-F238E27FC236}">
                <a16:creationId xmlns:a16="http://schemas.microsoft.com/office/drawing/2014/main" id="{321BED5D-3624-0906-50F0-166EE93A32EC}"/>
              </a:ext>
            </a:extLst>
          </p:cNvPr>
          <p:cNvSpPr txBox="1"/>
          <p:nvPr/>
        </p:nvSpPr>
        <p:spPr>
          <a:xfrm>
            <a:off x="6206950" y="1247633"/>
            <a:ext cx="6134518" cy="923330"/>
          </a:xfrm>
          <a:prstGeom prst="rect">
            <a:avLst/>
          </a:prstGeom>
          <a:noFill/>
        </p:spPr>
        <p:txBody>
          <a:bodyPr wrap="square">
            <a:spAutoFit/>
          </a:bodyPr>
          <a:lstStyle/>
          <a:p>
            <a:r>
              <a:rPr lang="en-US" b="1">
                <a:solidFill>
                  <a:srgbClr val="FFC000"/>
                </a:solidFill>
                <a:latin typeface="Product Sans" panose="020B0403030502040203" pitchFamily="34" charset="0"/>
              </a:rPr>
              <a:t>18.4%</a:t>
            </a:r>
            <a:r>
              <a:rPr lang="en-US">
                <a:solidFill>
                  <a:srgbClr val="1B1C1D"/>
                </a:solidFill>
                <a:latin typeface="Product Sans" panose="020B0403030502040203" pitchFamily="34" charset="0"/>
              </a:rPr>
              <a:t> </a:t>
            </a:r>
            <a:r>
              <a:rPr lang="en-US" b="1">
                <a:solidFill>
                  <a:srgbClr val="1B1C1D"/>
                </a:solidFill>
                <a:latin typeface="Product Sans" panose="020B0403030502040203" pitchFamily="34" charset="0"/>
              </a:rPr>
              <a:t>increase in cost of sales &amp; </a:t>
            </a:r>
            <a:r>
              <a:rPr lang="en-US" b="1">
                <a:solidFill>
                  <a:schemeClr val="accent4"/>
                </a:solidFill>
                <a:latin typeface="Product Sans" panose="020B0403030502040203" pitchFamily="34" charset="0"/>
              </a:rPr>
              <a:t>15.8 </a:t>
            </a:r>
            <a:r>
              <a:rPr lang="en-US" b="1">
                <a:latin typeface="Product Sans" panose="020B0403030502040203" pitchFamily="34" charset="0"/>
              </a:rPr>
              <a:t>% rise per hectoliter</a:t>
            </a:r>
          </a:p>
          <a:p>
            <a:endParaRPr lang="en-US" b="1">
              <a:solidFill>
                <a:schemeClr val="accent4"/>
              </a:solidFill>
            </a:endParaRPr>
          </a:p>
        </p:txBody>
      </p:sp>
      <p:sp>
        <p:nvSpPr>
          <p:cNvPr id="12" name="TextBox 11">
            <a:extLst>
              <a:ext uri="{FF2B5EF4-FFF2-40B4-BE49-F238E27FC236}">
                <a16:creationId xmlns:a16="http://schemas.microsoft.com/office/drawing/2014/main" id="{CE499D21-24E0-18BF-1D4F-2A5A93A858C3}"/>
              </a:ext>
            </a:extLst>
          </p:cNvPr>
          <p:cNvSpPr txBox="1"/>
          <p:nvPr/>
        </p:nvSpPr>
        <p:spPr>
          <a:xfrm>
            <a:off x="6206950" y="328859"/>
            <a:ext cx="6287728" cy="923330"/>
          </a:xfrm>
          <a:prstGeom prst="rect">
            <a:avLst/>
          </a:prstGeom>
          <a:noFill/>
        </p:spPr>
        <p:txBody>
          <a:bodyPr wrap="square">
            <a:spAutoFit/>
          </a:bodyPr>
          <a:lstStyle/>
          <a:p>
            <a:r>
              <a:rPr lang="en-US" sz="1800" b="1" i="0">
                <a:solidFill>
                  <a:srgbClr val="FFC000"/>
                </a:solidFill>
                <a:effectLst/>
                <a:latin typeface="Product Sans" panose="020B0403030502040203" pitchFamily="34" charset="0"/>
              </a:rPr>
              <a:t>AB InBev’s </a:t>
            </a:r>
            <a:r>
              <a:rPr lang="en-US" sz="1800" b="1" i="0">
                <a:effectLst/>
                <a:latin typeface="Product Sans" panose="020B0403030502040203" pitchFamily="34" charset="0"/>
              </a:rPr>
              <a:t>cost of sales rose sharply in 2022 as </a:t>
            </a:r>
            <a:r>
              <a:rPr lang="en-US" sz="1800" b="1" i="0">
                <a:solidFill>
                  <a:srgbClr val="FFC000"/>
                </a:solidFill>
                <a:effectLst/>
                <a:latin typeface="Product Sans" panose="020B0403030502040203" pitchFamily="34" charset="0"/>
              </a:rPr>
              <a:t>commodity inflation </a:t>
            </a:r>
            <a:r>
              <a:rPr lang="en-US" sz="1800" b="1" i="0">
                <a:effectLst/>
                <a:latin typeface="Product Sans" panose="020B0403030502040203" pitchFamily="34" charset="0"/>
              </a:rPr>
              <a:t>and </a:t>
            </a:r>
            <a:r>
              <a:rPr lang="en-US" sz="1800" b="1" i="0">
                <a:solidFill>
                  <a:srgbClr val="FFC000"/>
                </a:solidFill>
                <a:effectLst/>
                <a:latin typeface="Product Sans" panose="020B0403030502040203" pitchFamily="34" charset="0"/>
              </a:rPr>
              <a:t>currency effects </a:t>
            </a:r>
            <a:r>
              <a:rPr lang="en-US" sz="1800" b="1" i="0">
                <a:effectLst/>
                <a:latin typeface="Product Sans" panose="020B0403030502040203" pitchFamily="34" charset="0"/>
              </a:rPr>
              <a:t>pushed up packaging inputs</a:t>
            </a:r>
            <a:endParaRPr lang="en-US" b="1"/>
          </a:p>
        </p:txBody>
      </p:sp>
      <p:pic>
        <p:nvPicPr>
          <p:cNvPr id="14" name="Picture 13">
            <a:extLst>
              <a:ext uri="{FF2B5EF4-FFF2-40B4-BE49-F238E27FC236}">
                <a16:creationId xmlns:a16="http://schemas.microsoft.com/office/drawing/2014/main" id="{851DAC51-2611-C55D-AD76-5D394585C6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418" y="179551"/>
            <a:ext cx="5799633" cy="2389762"/>
          </a:xfrm>
          <a:prstGeom prst="rect">
            <a:avLst/>
          </a:prstGeom>
        </p:spPr>
      </p:pic>
      <p:sp>
        <p:nvSpPr>
          <p:cNvPr id="18" name="TextBox 17">
            <a:extLst>
              <a:ext uri="{FF2B5EF4-FFF2-40B4-BE49-F238E27FC236}">
                <a16:creationId xmlns:a16="http://schemas.microsoft.com/office/drawing/2014/main" id="{7B7C704B-A932-FD99-1E1C-E187852E9D0A}"/>
              </a:ext>
            </a:extLst>
          </p:cNvPr>
          <p:cNvSpPr txBox="1"/>
          <p:nvPr/>
        </p:nvSpPr>
        <p:spPr>
          <a:xfrm>
            <a:off x="6170468" y="1830649"/>
            <a:ext cx="5836113" cy="1477328"/>
          </a:xfrm>
          <a:prstGeom prst="rect">
            <a:avLst/>
          </a:prstGeom>
          <a:noFill/>
        </p:spPr>
        <p:txBody>
          <a:bodyPr wrap="square">
            <a:spAutoFit/>
          </a:bodyPr>
          <a:lstStyle/>
          <a:p>
            <a:r>
              <a:rPr lang="en-US" sz="1800" b="1" i="0">
                <a:effectLst/>
                <a:latin typeface="Product Sans" panose="020B0403030502040203" pitchFamily="34" charset="0"/>
              </a:rPr>
              <a:t>In India, aluminum supply is materially </a:t>
            </a:r>
            <a:r>
              <a:rPr lang="en-US" sz="1800" b="1" i="0">
                <a:solidFill>
                  <a:srgbClr val="FFC000"/>
                </a:solidFill>
                <a:effectLst/>
                <a:latin typeface="Product Sans" panose="020B0403030502040203" pitchFamily="34" charset="0"/>
              </a:rPr>
              <a:t>import‑linked</a:t>
            </a:r>
            <a:r>
              <a:rPr lang="en-US" sz="1800" b="1" i="0">
                <a:effectLst/>
                <a:latin typeface="Product Sans" panose="020B0403030502040203" pitchFamily="34" charset="0"/>
              </a:rPr>
              <a:t>, with a large share of scrap and primary metal </a:t>
            </a:r>
            <a:r>
              <a:rPr lang="en-US" sz="1800" b="1" i="0">
                <a:solidFill>
                  <a:srgbClr val="FFC000"/>
                </a:solidFill>
                <a:effectLst/>
                <a:latin typeface="Product Sans" panose="020B0403030502040203" pitchFamily="34" charset="0"/>
              </a:rPr>
              <a:t>sourced from abroad</a:t>
            </a:r>
            <a:r>
              <a:rPr lang="en-US" b="1">
                <a:latin typeface="Product Sans" panose="020B0403030502040203" pitchFamily="34" charset="0"/>
              </a:rPr>
              <a:t> </a:t>
            </a:r>
            <a:r>
              <a:rPr lang="en-US" sz="1800" b="1" i="0">
                <a:effectLst/>
                <a:latin typeface="Product Sans" panose="020B0403030502040203" pitchFamily="34" charset="0"/>
              </a:rPr>
              <a:t>this makes local can costs </a:t>
            </a:r>
            <a:r>
              <a:rPr lang="en-US" sz="1800" b="1" i="0">
                <a:solidFill>
                  <a:srgbClr val="FFC000"/>
                </a:solidFill>
                <a:effectLst/>
                <a:latin typeface="Product Sans" panose="020B0403030502040203" pitchFamily="34" charset="0"/>
              </a:rPr>
              <a:t>sensitive to global aluminum prices </a:t>
            </a:r>
            <a:r>
              <a:rPr lang="en-US" sz="1800" b="1" i="0">
                <a:effectLst/>
                <a:latin typeface="Product Sans" panose="020B0403030502040203" pitchFamily="34" charset="0"/>
              </a:rPr>
              <a:t>and </a:t>
            </a:r>
            <a:r>
              <a:rPr lang="en-US" sz="1800" b="1" i="0">
                <a:solidFill>
                  <a:srgbClr val="FFC000"/>
                </a:solidFill>
                <a:effectLst/>
                <a:latin typeface="Product Sans" panose="020B0403030502040203" pitchFamily="34" charset="0"/>
              </a:rPr>
              <a:t>rupee movements.</a:t>
            </a:r>
            <a:endParaRPr lang="en-US" b="1">
              <a:solidFill>
                <a:srgbClr val="FFC000"/>
              </a:solidFill>
            </a:endParaRPr>
          </a:p>
        </p:txBody>
      </p:sp>
    </p:spTree>
    <p:extLst>
      <p:ext uri="{BB962C8B-B14F-4D97-AF65-F5344CB8AC3E}">
        <p14:creationId xmlns:p14="http://schemas.microsoft.com/office/powerpoint/2010/main" val="261280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chemeClr val="tx1">
                <a:lumMod val="95000"/>
                <a:lumOff val="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8DDD473-F591-2C7C-10B8-58978F327F96}"/>
              </a:ext>
            </a:extLst>
          </p:cNvPr>
          <p:cNvSpPr/>
          <p:nvPr/>
        </p:nvSpPr>
        <p:spPr>
          <a:xfrm>
            <a:off x="245145" y="701778"/>
            <a:ext cx="11376863" cy="455814"/>
          </a:xfrm>
          <a:prstGeom prst="rect">
            <a:avLst/>
          </a:prstGeom>
          <a:solidFill>
            <a:srgbClr val="FFF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B8836531-39B9-F9D3-198A-65384BA96D2A}"/>
              </a:ext>
            </a:extLst>
          </p:cNvPr>
          <p:cNvSpPr/>
          <p:nvPr/>
        </p:nvSpPr>
        <p:spPr>
          <a:xfrm>
            <a:off x="235972" y="1059074"/>
            <a:ext cx="6682988" cy="441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09EC0A4-0BD5-5B1E-DC1D-E10495ACBB02}"/>
              </a:ext>
            </a:extLst>
          </p:cNvPr>
          <p:cNvSpPr/>
          <p:nvPr/>
        </p:nvSpPr>
        <p:spPr>
          <a:xfrm>
            <a:off x="235969" y="1839380"/>
            <a:ext cx="11376863" cy="609939"/>
          </a:xfrm>
          <a:prstGeom prst="rect">
            <a:avLst/>
          </a:prstGeom>
          <a:solidFill>
            <a:srgbClr val="FFF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0053399-7CDD-2436-54CE-DD5A02C8918D}"/>
              </a:ext>
            </a:extLst>
          </p:cNvPr>
          <p:cNvSpPr/>
          <p:nvPr/>
        </p:nvSpPr>
        <p:spPr>
          <a:xfrm>
            <a:off x="235972" y="1941161"/>
            <a:ext cx="7649495" cy="441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991ABB2-FF10-0BCB-2D9E-EA3844E16E99}"/>
              </a:ext>
            </a:extLst>
          </p:cNvPr>
          <p:cNvSpPr/>
          <p:nvPr/>
        </p:nvSpPr>
        <p:spPr>
          <a:xfrm>
            <a:off x="245142" y="3083290"/>
            <a:ext cx="11376863" cy="589078"/>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Top Corners Rounded 17">
            <a:extLst>
              <a:ext uri="{FF2B5EF4-FFF2-40B4-BE49-F238E27FC236}">
                <a16:creationId xmlns:a16="http://schemas.microsoft.com/office/drawing/2014/main" id="{8B2E0D8E-B3EC-F51E-6D2D-306D6A812893}"/>
              </a:ext>
            </a:extLst>
          </p:cNvPr>
          <p:cNvSpPr/>
          <p:nvPr/>
        </p:nvSpPr>
        <p:spPr>
          <a:xfrm>
            <a:off x="245147" y="256907"/>
            <a:ext cx="11376858" cy="450884"/>
          </a:xfrm>
          <a:prstGeom prst="round2SameRect">
            <a:avLst/>
          </a:prstGeom>
          <a:gradFill flip="none" rotWithShape="1">
            <a:gsLst>
              <a:gs pos="0">
                <a:srgbClr val="E6AF02"/>
              </a:gs>
              <a:gs pos="33000">
                <a:srgbClr val="F2CF01"/>
              </a:gs>
              <a:gs pos="71000">
                <a:srgbClr val="FFE308"/>
              </a:gs>
              <a:gs pos="100000">
                <a:srgbClr val="FBDB06"/>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Product Sans" panose="020B0403030502040203" pitchFamily="34" charset="0"/>
              </a:rPr>
              <a:t>Strategic Comparison of Aluminum Procurement Approaches</a:t>
            </a:r>
          </a:p>
        </p:txBody>
      </p:sp>
      <p:sp>
        <p:nvSpPr>
          <p:cNvPr id="21" name="Rectangle: Top Corners Rounded 20">
            <a:extLst>
              <a:ext uri="{FF2B5EF4-FFF2-40B4-BE49-F238E27FC236}">
                <a16:creationId xmlns:a16="http://schemas.microsoft.com/office/drawing/2014/main" id="{CBC0774F-DF61-7742-954D-773E84D35D35}"/>
              </a:ext>
            </a:extLst>
          </p:cNvPr>
          <p:cNvSpPr/>
          <p:nvPr/>
        </p:nvSpPr>
        <p:spPr>
          <a:xfrm rot="10800000">
            <a:off x="245145" y="3655756"/>
            <a:ext cx="11376862" cy="772384"/>
          </a:xfrm>
          <a:prstGeom prst="round2Same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Rectangle 21">
            <a:extLst>
              <a:ext uri="{FF2B5EF4-FFF2-40B4-BE49-F238E27FC236}">
                <a16:creationId xmlns:a16="http://schemas.microsoft.com/office/drawing/2014/main" id="{C9432BCA-4359-161F-45B8-4EE3C853ADF4}"/>
              </a:ext>
            </a:extLst>
          </p:cNvPr>
          <p:cNvSpPr/>
          <p:nvPr/>
        </p:nvSpPr>
        <p:spPr>
          <a:xfrm>
            <a:off x="245147" y="2407336"/>
            <a:ext cx="11376858" cy="687700"/>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6826E2-EA0B-F996-87FE-987DBCCA53C9}"/>
              </a:ext>
            </a:extLst>
          </p:cNvPr>
          <p:cNvSpPr/>
          <p:nvPr/>
        </p:nvSpPr>
        <p:spPr>
          <a:xfrm>
            <a:off x="245147" y="1139519"/>
            <a:ext cx="11376858" cy="740619"/>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B65638DB-64BF-0E28-2DF0-A770A00EAE0C}"/>
              </a:ext>
            </a:extLst>
          </p:cNvPr>
          <p:cNvCxnSpPr>
            <a:cxnSpLocks/>
          </p:cNvCxnSpPr>
          <p:nvPr/>
        </p:nvCxnSpPr>
        <p:spPr>
          <a:xfrm flipH="1">
            <a:off x="3895073" y="682383"/>
            <a:ext cx="28561" cy="3745757"/>
          </a:xfrm>
          <a:prstGeom prst="line">
            <a:avLst/>
          </a:prstGeom>
          <a:ln>
            <a:solidFill>
              <a:srgbClr val="E6AF0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87C6A3-8A0B-B102-4A90-E732459E470D}"/>
              </a:ext>
            </a:extLst>
          </p:cNvPr>
          <p:cNvCxnSpPr>
            <a:cxnSpLocks/>
          </p:cNvCxnSpPr>
          <p:nvPr/>
        </p:nvCxnSpPr>
        <p:spPr>
          <a:xfrm>
            <a:off x="6813673" y="694675"/>
            <a:ext cx="0" cy="3740905"/>
          </a:xfrm>
          <a:prstGeom prst="line">
            <a:avLst/>
          </a:prstGeom>
          <a:ln>
            <a:solidFill>
              <a:srgbClr val="E6AF0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453897A-FC8C-3CE6-D5A0-DE234B26B6E3}"/>
              </a:ext>
            </a:extLst>
          </p:cNvPr>
          <p:cNvSpPr txBox="1"/>
          <p:nvPr/>
        </p:nvSpPr>
        <p:spPr>
          <a:xfrm>
            <a:off x="685477" y="694675"/>
            <a:ext cx="2045107" cy="369332"/>
          </a:xfrm>
          <a:prstGeom prst="rect">
            <a:avLst/>
          </a:prstGeom>
          <a:noFill/>
        </p:spPr>
        <p:txBody>
          <a:bodyPr wrap="square" rtlCol="0">
            <a:spAutoFit/>
          </a:bodyPr>
          <a:lstStyle/>
          <a:p>
            <a:pPr algn="ctr"/>
            <a:r>
              <a:rPr lang="en-US" b="1">
                <a:latin typeface="Product Sans" panose="020B0403030502040203" pitchFamily="34" charset="0"/>
              </a:rPr>
              <a:t>Feature</a:t>
            </a:r>
          </a:p>
        </p:txBody>
      </p:sp>
      <p:sp>
        <p:nvSpPr>
          <p:cNvPr id="3" name="TextBox 2">
            <a:extLst>
              <a:ext uri="{FF2B5EF4-FFF2-40B4-BE49-F238E27FC236}">
                <a16:creationId xmlns:a16="http://schemas.microsoft.com/office/drawing/2014/main" id="{1DB2B3A0-32B1-1346-5D16-B103CB7AE0FF}"/>
              </a:ext>
            </a:extLst>
          </p:cNvPr>
          <p:cNvSpPr txBox="1"/>
          <p:nvPr/>
        </p:nvSpPr>
        <p:spPr>
          <a:xfrm>
            <a:off x="227078" y="1232899"/>
            <a:ext cx="3696556" cy="292388"/>
          </a:xfrm>
          <a:prstGeom prst="rect">
            <a:avLst/>
          </a:prstGeom>
          <a:noFill/>
        </p:spPr>
        <p:txBody>
          <a:bodyPr wrap="square" rtlCol="0">
            <a:spAutoFit/>
          </a:bodyPr>
          <a:lstStyle/>
          <a:p>
            <a:r>
              <a:rPr lang="en-US" sz="1300" b="1">
                <a:solidFill>
                  <a:srgbClr val="FFCC00"/>
                </a:solidFill>
                <a:highlight>
                  <a:srgbClr val="000000"/>
                </a:highlight>
                <a:latin typeface="Product Sans" panose="020B0403030502040203" pitchFamily="34" charset="0"/>
              </a:rPr>
              <a:t>Collaboration with Partners</a:t>
            </a:r>
          </a:p>
        </p:txBody>
      </p:sp>
      <p:sp>
        <p:nvSpPr>
          <p:cNvPr id="4" name="TextBox 3">
            <a:extLst>
              <a:ext uri="{FF2B5EF4-FFF2-40B4-BE49-F238E27FC236}">
                <a16:creationId xmlns:a16="http://schemas.microsoft.com/office/drawing/2014/main" id="{A66F7162-45D8-7DA9-E84F-8F462ADF29C3}"/>
              </a:ext>
            </a:extLst>
          </p:cNvPr>
          <p:cNvSpPr txBox="1"/>
          <p:nvPr/>
        </p:nvSpPr>
        <p:spPr>
          <a:xfrm>
            <a:off x="227078" y="1969102"/>
            <a:ext cx="2542148" cy="292388"/>
          </a:xfrm>
          <a:prstGeom prst="rect">
            <a:avLst/>
          </a:prstGeom>
          <a:noFill/>
        </p:spPr>
        <p:txBody>
          <a:bodyPr wrap="square" rtlCol="0">
            <a:spAutoFit/>
          </a:bodyPr>
          <a:lstStyle/>
          <a:p>
            <a:r>
              <a:rPr lang="en-US" sz="1300" b="1">
                <a:solidFill>
                  <a:srgbClr val="FFCC00"/>
                </a:solidFill>
                <a:highlight>
                  <a:srgbClr val="000000"/>
                </a:highlight>
                <a:latin typeface="Product Sans" panose="020B0403030502040203" pitchFamily="34" charset="0"/>
              </a:rPr>
              <a:t>Using Recycled Aluminum </a:t>
            </a:r>
          </a:p>
        </p:txBody>
      </p:sp>
      <p:sp>
        <p:nvSpPr>
          <p:cNvPr id="5" name="TextBox 4">
            <a:extLst>
              <a:ext uri="{FF2B5EF4-FFF2-40B4-BE49-F238E27FC236}">
                <a16:creationId xmlns:a16="http://schemas.microsoft.com/office/drawing/2014/main" id="{0890235B-D9A8-3EBD-4165-52A185348078}"/>
              </a:ext>
            </a:extLst>
          </p:cNvPr>
          <p:cNvSpPr txBox="1"/>
          <p:nvPr/>
        </p:nvSpPr>
        <p:spPr>
          <a:xfrm>
            <a:off x="227050" y="2594807"/>
            <a:ext cx="3071682" cy="292388"/>
          </a:xfrm>
          <a:prstGeom prst="rect">
            <a:avLst/>
          </a:prstGeom>
          <a:noFill/>
        </p:spPr>
        <p:txBody>
          <a:bodyPr wrap="square" rtlCol="0">
            <a:spAutoFit/>
          </a:bodyPr>
          <a:lstStyle/>
          <a:p>
            <a:r>
              <a:rPr lang="en-US" sz="1300" b="1">
                <a:solidFill>
                  <a:srgbClr val="FFCC00"/>
                </a:solidFill>
                <a:highlight>
                  <a:srgbClr val="000000"/>
                </a:highlight>
                <a:latin typeface="Product Sans" panose="020B0403030502040203" pitchFamily="34" charset="0"/>
              </a:rPr>
              <a:t>Investing in Financial Instruments </a:t>
            </a:r>
          </a:p>
        </p:txBody>
      </p:sp>
      <p:sp>
        <p:nvSpPr>
          <p:cNvPr id="6" name="TextBox 5">
            <a:extLst>
              <a:ext uri="{FF2B5EF4-FFF2-40B4-BE49-F238E27FC236}">
                <a16:creationId xmlns:a16="http://schemas.microsoft.com/office/drawing/2014/main" id="{1B5B1D6F-6F42-2975-7A78-FF2F02454924}"/>
              </a:ext>
            </a:extLst>
          </p:cNvPr>
          <p:cNvSpPr txBox="1"/>
          <p:nvPr/>
        </p:nvSpPr>
        <p:spPr>
          <a:xfrm>
            <a:off x="235972" y="3239934"/>
            <a:ext cx="3961875" cy="292388"/>
          </a:xfrm>
          <a:prstGeom prst="rect">
            <a:avLst/>
          </a:prstGeom>
          <a:noFill/>
        </p:spPr>
        <p:txBody>
          <a:bodyPr wrap="square" rtlCol="0">
            <a:spAutoFit/>
          </a:bodyPr>
          <a:lstStyle/>
          <a:p>
            <a:r>
              <a:rPr lang="en-US" sz="1300" b="1">
                <a:solidFill>
                  <a:srgbClr val="FFCC00"/>
                </a:solidFill>
                <a:highlight>
                  <a:srgbClr val="000000"/>
                </a:highlight>
                <a:latin typeface="Product Sans" panose="020B0403030502040203" pitchFamily="34" charset="0"/>
              </a:rPr>
              <a:t>Re-engineering light weight cans</a:t>
            </a:r>
          </a:p>
        </p:txBody>
      </p:sp>
      <p:sp>
        <p:nvSpPr>
          <p:cNvPr id="7" name="TextBox 6">
            <a:extLst>
              <a:ext uri="{FF2B5EF4-FFF2-40B4-BE49-F238E27FC236}">
                <a16:creationId xmlns:a16="http://schemas.microsoft.com/office/drawing/2014/main" id="{40EEDF80-3088-5614-27C9-A84382BB1DD8}"/>
              </a:ext>
            </a:extLst>
          </p:cNvPr>
          <p:cNvSpPr txBox="1"/>
          <p:nvPr/>
        </p:nvSpPr>
        <p:spPr>
          <a:xfrm>
            <a:off x="227050" y="3926839"/>
            <a:ext cx="4576231" cy="292388"/>
          </a:xfrm>
          <a:prstGeom prst="rect">
            <a:avLst/>
          </a:prstGeom>
          <a:noFill/>
        </p:spPr>
        <p:txBody>
          <a:bodyPr wrap="square" rtlCol="0">
            <a:spAutoFit/>
          </a:bodyPr>
          <a:lstStyle/>
          <a:p>
            <a:r>
              <a:rPr lang="en-US" sz="1300" b="1">
                <a:solidFill>
                  <a:srgbClr val="FFCC00"/>
                </a:solidFill>
                <a:highlight>
                  <a:srgbClr val="000000"/>
                </a:highlight>
                <a:latin typeface="Product Sans" panose="020B0403030502040203" pitchFamily="34" charset="0"/>
              </a:rPr>
              <a:t>Integrating Risk Management Holistically </a:t>
            </a:r>
          </a:p>
        </p:txBody>
      </p:sp>
      <p:sp>
        <p:nvSpPr>
          <p:cNvPr id="8" name="TextBox 7">
            <a:extLst>
              <a:ext uri="{FF2B5EF4-FFF2-40B4-BE49-F238E27FC236}">
                <a16:creationId xmlns:a16="http://schemas.microsoft.com/office/drawing/2014/main" id="{6F956238-2287-E6B8-EFB3-F07BCD85E869}"/>
              </a:ext>
            </a:extLst>
          </p:cNvPr>
          <p:cNvSpPr txBox="1"/>
          <p:nvPr/>
        </p:nvSpPr>
        <p:spPr>
          <a:xfrm>
            <a:off x="4111540" y="745019"/>
            <a:ext cx="2512862" cy="369332"/>
          </a:xfrm>
          <a:prstGeom prst="rect">
            <a:avLst/>
          </a:prstGeom>
          <a:noFill/>
        </p:spPr>
        <p:txBody>
          <a:bodyPr wrap="square" rtlCol="0">
            <a:spAutoFit/>
          </a:bodyPr>
          <a:lstStyle/>
          <a:p>
            <a:pPr algn="ctr"/>
            <a:r>
              <a:rPr lang="en-US" b="1">
                <a:latin typeface="Product Sans" panose="020B0403030502040203" pitchFamily="34" charset="0"/>
              </a:rPr>
              <a:t>Company’s Approach</a:t>
            </a:r>
          </a:p>
        </p:txBody>
      </p:sp>
      <p:sp>
        <p:nvSpPr>
          <p:cNvPr id="9" name="TextBox 8">
            <a:extLst>
              <a:ext uri="{FF2B5EF4-FFF2-40B4-BE49-F238E27FC236}">
                <a16:creationId xmlns:a16="http://schemas.microsoft.com/office/drawing/2014/main" id="{9796BA39-26CD-6C3B-B9F7-E0B03E3B70A6}"/>
              </a:ext>
            </a:extLst>
          </p:cNvPr>
          <p:cNvSpPr txBox="1"/>
          <p:nvPr/>
        </p:nvSpPr>
        <p:spPr>
          <a:xfrm>
            <a:off x="7002945" y="735761"/>
            <a:ext cx="2045107" cy="369332"/>
          </a:xfrm>
          <a:prstGeom prst="rect">
            <a:avLst/>
          </a:prstGeom>
          <a:noFill/>
        </p:spPr>
        <p:txBody>
          <a:bodyPr wrap="square" rtlCol="0">
            <a:spAutoFit/>
          </a:bodyPr>
          <a:lstStyle/>
          <a:p>
            <a:pPr algn="ctr"/>
            <a:r>
              <a:rPr lang="en-US" b="1">
                <a:latin typeface="Product Sans" panose="020B0403030502040203" pitchFamily="34" charset="0"/>
              </a:rPr>
              <a:t>Compatibility </a:t>
            </a:r>
          </a:p>
        </p:txBody>
      </p:sp>
      <p:cxnSp>
        <p:nvCxnSpPr>
          <p:cNvPr id="10" name="Straight Connector 9">
            <a:extLst>
              <a:ext uri="{FF2B5EF4-FFF2-40B4-BE49-F238E27FC236}">
                <a16:creationId xmlns:a16="http://schemas.microsoft.com/office/drawing/2014/main" id="{F178C04C-8050-FC1E-E154-F508EC13D2D6}"/>
              </a:ext>
            </a:extLst>
          </p:cNvPr>
          <p:cNvCxnSpPr>
            <a:cxnSpLocks/>
          </p:cNvCxnSpPr>
          <p:nvPr/>
        </p:nvCxnSpPr>
        <p:spPr>
          <a:xfrm>
            <a:off x="9113673" y="705840"/>
            <a:ext cx="16951" cy="3729740"/>
          </a:xfrm>
          <a:prstGeom prst="line">
            <a:avLst/>
          </a:prstGeom>
          <a:ln>
            <a:solidFill>
              <a:srgbClr val="E6AF0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74E3B2B-B7CE-D449-0019-324100603E00}"/>
              </a:ext>
            </a:extLst>
          </p:cNvPr>
          <p:cNvSpPr txBox="1"/>
          <p:nvPr/>
        </p:nvSpPr>
        <p:spPr>
          <a:xfrm>
            <a:off x="9703713" y="728510"/>
            <a:ext cx="1708027" cy="369332"/>
          </a:xfrm>
          <a:prstGeom prst="rect">
            <a:avLst/>
          </a:prstGeom>
          <a:noFill/>
        </p:spPr>
        <p:txBody>
          <a:bodyPr wrap="square" rtlCol="0">
            <a:spAutoFit/>
          </a:bodyPr>
          <a:lstStyle/>
          <a:p>
            <a:r>
              <a:rPr lang="en-IN" b="1">
                <a:latin typeface="Product Sans" panose="020B0403030502040203" pitchFamily="34" charset="0"/>
              </a:rPr>
              <a:t>Viability</a:t>
            </a:r>
          </a:p>
        </p:txBody>
      </p:sp>
      <p:sp>
        <p:nvSpPr>
          <p:cNvPr id="30" name="TextBox 29">
            <a:extLst>
              <a:ext uri="{FF2B5EF4-FFF2-40B4-BE49-F238E27FC236}">
                <a16:creationId xmlns:a16="http://schemas.microsoft.com/office/drawing/2014/main" id="{046ADEBC-0BEF-6E4D-3B31-1DC0EFCC30CE}"/>
              </a:ext>
            </a:extLst>
          </p:cNvPr>
          <p:cNvSpPr txBox="1"/>
          <p:nvPr/>
        </p:nvSpPr>
        <p:spPr>
          <a:xfrm>
            <a:off x="3895073" y="1152762"/>
            <a:ext cx="2918591" cy="784830"/>
          </a:xfrm>
          <a:prstGeom prst="rect">
            <a:avLst/>
          </a:prstGeom>
          <a:noFill/>
        </p:spPr>
        <p:txBody>
          <a:bodyPr wrap="square">
            <a:spAutoFit/>
          </a:bodyPr>
          <a:lstStyle/>
          <a:p>
            <a:r>
              <a:rPr lang="en-US" sz="1100" b="1">
                <a:latin typeface="Product Sans" panose="020B0403030502040203" pitchFamily="34" charset="0"/>
              </a:rPr>
              <a:t>AB InBev works closely with aluminum suppliers, logistics providers, and recycling partners to secure a reliable aluminum supply chain</a:t>
            </a:r>
            <a:r>
              <a:rPr lang="en-US" sz="1200" b="1">
                <a:latin typeface="Product Sans" panose="020B0403030502040203" pitchFamily="34" charset="0"/>
              </a:rPr>
              <a:t>.</a:t>
            </a:r>
            <a:endParaRPr lang="en-IN" sz="1200" b="1">
              <a:latin typeface="Product Sans" panose="020B0403030502040203" pitchFamily="34" charset="0"/>
            </a:endParaRPr>
          </a:p>
        </p:txBody>
      </p:sp>
      <p:sp>
        <p:nvSpPr>
          <p:cNvPr id="32" name="TextBox 31">
            <a:extLst>
              <a:ext uri="{FF2B5EF4-FFF2-40B4-BE49-F238E27FC236}">
                <a16:creationId xmlns:a16="http://schemas.microsoft.com/office/drawing/2014/main" id="{110EA15A-AB5C-4E94-F55C-4CAD9A920A3D}"/>
              </a:ext>
            </a:extLst>
          </p:cNvPr>
          <p:cNvSpPr txBox="1"/>
          <p:nvPr/>
        </p:nvSpPr>
        <p:spPr>
          <a:xfrm>
            <a:off x="6844716" y="1148807"/>
            <a:ext cx="2443743" cy="769441"/>
          </a:xfrm>
          <a:prstGeom prst="rect">
            <a:avLst/>
          </a:prstGeom>
          <a:noFill/>
        </p:spPr>
        <p:txBody>
          <a:bodyPr wrap="square">
            <a:spAutoFit/>
          </a:bodyPr>
          <a:lstStyle/>
          <a:p>
            <a:r>
              <a:rPr lang="en-US" sz="1100" b="1">
                <a:latin typeface="Product Sans" panose="020B0403030502040203" pitchFamily="34" charset="0"/>
              </a:rPr>
              <a:t>Strong – supports supplier relationships and long-term contracts, but may limit flexibility in volatile markets</a:t>
            </a:r>
            <a:r>
              <a:rPr lang="en-US" sz="1100" b="1"/>
              <a:t>.</a:t>
            </a:r>
            <a:endParaRPr lang="en-IN" sz="1100" b="1"/>
          </a:p>
        </p:txBody>
      </p:sp>
      <p:sp>
        <p:nvSpPr>
          <p:cNvPr id="34" name="TextBox 33">
            <a:extLst>
              <a:ext uri="{FF2B5EF4-FFF2-40B4-BE49-F238E27FC236}">
                <a16:creationId xmlns:a16="http://schemas.microsoft.com/office/drawing/2014/main" id="{21DAC78E-6677-DF18-4746-9EEB55D17A37}"/>
              </a:ext>
            </a:extLst>
          </p:cNvPr>
          <p:cNvSpPr txBox="1"/>
          <p:nvPr/>
        </p:nvSpPr>
        <p:spPr>
          <a:xfrm>
            <a:off x="9158726" y="1198404"/>
            <a:ext cx="2499696" cy="600164"/>
          </a:xfrm>
          <a:prstGeom prst="rect">
            <a:avLst/>
          </a:prstGeom>
          <a:noFill/>
        </p:spPr>
        <p:txBody>
          <a:bodyPr wrap="square">
            <a:spAutoFit/>
          </a:bodyPr>
          <a:lstStyle/>
          <a:p>
            <a:r>
              <a:rPr lang="en-US" sz="1100" b="1">
                <a:latin typeface="Product Sans" panose="020B0403030502040203" pitchFamily="34" charset="0"/>
              </a:rPr>
              <a:t>High – strengthens supplier ecosystem but offers limited price control.</a:t>
            </a:r>
            <a:endParaRPr lang="en-IN" sz="1100" b="1">
              <a:latin typeface="Product Sans" panose="020B0403030502040203" pitchFamily="34" charset="0"/>
            </a:endParaRPr>
          </a:p>
        </p:txBody>
      </p:sp>
      <p:sp>
        <p:nvSpPr>
          <p:cNvPr id="39" name="TextBox 38">
            <a:extLst>
              <a:ext uri="{FF2B5EF4-FFF2-40B4-BE49-F238E27FC236}">
                <a16:creationId xmlns:a16="http://schemas.microsoft.com/office/drawing/2014/main" id="{48A8DBF5-35F4-15B8-05E9-6FF9B388DD7D}"/>
              </a:ext>
            </a:extLst>
          </p:cNvPr>
          <p:cNvSpPr txBox="1"/>
          <p:nvPr/>
        </p:nvSpPr>
        <p:spPr>
          <a:xfrm>
            <a:off x="3903066" y="1872876"/>
            <a:ext cx="2787817" cy="600164"/>
          </a:xfrm>
          <a:prstGeom prst="rect">
            <a:avLst/>
          </a:prstGeom>
          <a:noFill/>
        </p:spPr>
        <p:txBody>
          <a:bodyPr wrap="square">
            <a:spAutoFit/>
          </a:bodyPr>
          <a:lstStyle/>
          <a:p>
            <a:r>
              <a:rPr lang="en-US" sz="1100" b="1">
                <a:latin typeface="Product Sans" panose="020B0403030502040203" pitchFamily="34" charset="0"/>
              </a:rPr>
              <a:t>Heavy investment in post-consumer recycled aluminum to cut costs and reduce carbon footprint.</a:t>
            </a:r>
            <a:endParaRPr lang="en-IN" sz="1100" b="1">
              <a:latin typeface="Product Sans" panose="020B0403030502040203" pitchFamily="34" charset="0"/>
            </a:endParaRPr>
          </a:p>
        </p:txBody>
      </p:sp>
      <p:sp>
        <p:nvSpPr>
          <p:cNvPr id="41" name="TextBox 40">
            <a:extLst>
              <a:ext uri="{FF2B5EF4-FFF2-40B4-BE49-F238E27FC236}">
                <a16:creationId xmlns:a16="http://schemas.microsoft.com/office/drawing/2014/main" id="{9EE92620-7867-9C5D-E625-25A8BB109A92}"/>
              </a:ext>
            </a:extLst>
          </p:cNvPr>
          <p:cNvSpPr txBox="1"/>
          <p:nvPr/>
        </p:nvSpPr>
        <p:spPr>
          <a:xfrm>
            <a:off x="6835415" y="1885592"/>
            <a:ext cx="2361190" cy="600164"/>
          </a:xfrm>
          <a:prstGeom prst="rect">
            <a:avLst/>
          </a:prstGeom>
          <a:noFill/>
        </p:spPr>
        <p:txBody>
          <a:bodyPr wrap="square">
            <a:spAutoFit/>
          </a:bodyPr>
          <a:lstStyle/>
          <a:p>
            <a:r>
              <a:rPr lang="en-US" sz="1100" b="1">
                <a:latin typeface="Product Sans" panose="020B0403030502040203" pitchFamily="34" charset="0"/>
              </a:rPr>
              <a:t>High – aligns with ESG goals, but dependent on availability and quality of scrap aluminum.</a:t>
            </a:r>
            <a:endParaRPr lang="en-IN" sz="1100" b="1">
              <a:latin typeface="Product Sans" panose="020B0403030502040203" pitchFamily="34" charset="0"/>
            </a:endParaRPr>
          </a:p>
        </p:txBody>
      </p:sp>
      <p:sp>
        <p:nvSpPr>
          <p:cNvPr id="43" name="TextBox 42">
            <a:extLst>
              <a:ext uri="{FF2B5EF4-FFF2-40B4-BE49-F238E27FC236}">
                <a16:creationId xmlns:a16="http://schemas.microsoft.com/office/drawing/2014/main" id="{AEB2B7CB-7484-FFD5-AE14-01572F89ABCA}"/>
              </a:ext>
            </a:extLst>
          </p:cNvPr>
          <p:cNvSpPr txBox="1"/>
          <p:nvPr/>
        </p:nvSpPr>
        <p:spPr>
          <a:xfrm>
            <a:off x="9152961" y="1885592"/>
            <a:ext cx="2138688" cy="600164"/>
          </a:xfrm>
          <a:prstGeom prst="rect">
            <a:avLst/>
          </a:prstGeom>
          <a:noFill/>
        </p:spPr>
        <p:txBody>
          <a:bodyPr wrap="square">
            <a:spAutoFit/>
          </a:bodyPr>
          <a:lstStyle/>
          <a:p>
            <a:r>
              <a:rPr lang="en-US" sz="1100" b="1">
                <a:latin typeface="Product Sans" panose="020B0403030502040203" pitchFamily="34" charset="0"/>
              </a:rPr>
              <a:t>Medium – good for ESG branding but scaling globally is difficult.</a:t>
            </a:r>
            <a:endParaRPr lang="en-IN" sz="1100" b="1">
              <a:latin typeface="Product Sans" panose="020B0403030502040203" pitchFamily="34" charset="0"/>
            </a:endParaRPr>
          </a:p>
        </p:txBody>
      </p:sp>
      <p:sp>
        <p:nvSpPr>
          <p:cNvPr id="45" name="TextBox 44">
            <a:extLst>
              <a:ext uri="{FF2B5EF4-FFF2-40B4-BE49-F238E27FC236}">
                <a16:creationId xmlns:a16="http://schemas.microsoft.com/office/drawing/2014/main" id="{DCB5D331-CE39-F0FF-072F-C7DA0EBBD893}"/>
              </a:ext>
            </a:extLst>
          </p:cNvPr>
          <p:cNvSpPr txBox="1"/>
          <p:nvPr/>
        </p:nvSpPr>
        <p:spPr>
          <a:xfrm>
            <a:off x="3918843" y="2386223"/>
            <a:ext cx="2836363" cy="769441"/>
          </a:xfrm>
          <a:prstGeom prst="rect">
            <a:avLst/>
          </a:prstGeom>
          <a:noFill/>
        </p:spPr>
        <p:txBody>
          <a:bodyPr wrap="square">
            <a:spAutoFit/>
          </a:bodyPr>
          <a:lstStyle/>
          <a:p>
            <a:r>
              <a:rPr lang="en-US" sz="1100" b="1">
                <a:latin typeface="Product Sans" panose="020B0403030502040203" pitchFamily="34" charset="0"/>
              </a:rPr>
              <a:t>Uses futures, options, and hedging contracts to lock in aluminum prices, stabilize procurement costs, and maintain liquidity.</a:t>
            </a:r>
            <a:endParaRPr lang="en-IN" sz="1100" b="1">
              <a:latin typeface="Product Sans" panose="020B0403030502040203" pitchFamily="34" charset="0"/>
            </a:endParaRPr>
          </a:p>
        </p:txBody>
      </p:sp>
      <p:sp>
        <p:nvSpPr>
          <p:cNvPr id="47" name="TextBox 46">
            <a:extLst>
              <a:ext uri="{FF2B5EF4-FFF2-40B4-BE49-F238E27FC236}">
                <a16:creationId xmlns:a16="http://schemas.microsoft.com/office/drawing/2014/main" id="{86206C44-E5E5-53BA-4029-D9D21AF03DFA}"/>
              </a:ext>
            </a:extLst>
          </p:cNvPr>
          <p:cNvSpPr txBox="1"/>
          <p:nvPr/>
        </p:nvSpPr>
        <p:spPr>
          <a:xfrm>
            <a:off x="6869810" y="2387626"/>
            <a:ext cx="2361190" cy="769441"/>
          </a:xfrm>
          <a:prstGeom prst="rect">
            <a:avLst/>
          </a:prstGeom>
          <a:noFill/>
        </p:spPr>
        <p:txBody>
          <a:bodyPr wrap="square">
            <a:spAutoFit/>
          </a:bodyPr>
          <a:lstStyle/>
          <a:p>
            <a:r>
              <a:rPr lang="en-US" sz="1100" b="1">
                <a:latin typeface="Product Sans" panose="020B0403030502040203" pitchFamily="34" charset="0"/>
              </a:rPr>
              <a:t>Very High – reduces price volatility risks, frees cash for growth, and offers better long-term predictability.</a:t>
            </a:r>
            <a:endParaRPr lang="en-IN" sz="1100" b="1">
              <a:latin typeface="Product Sans" panose="020B0403030502040203" pitchFamily="34" charset="0"/>
            </a:endParaRPr>
          </a:p>
        </p:txBody>
      </p:sp>
      <p:sp>
        <p:nvSpPr>
          <p:cNvPr id="49" name="TextBox 48">
            <a:extLst>
              <a:ext uri="{FF2B5EF4-FFF2-40B4-BE49-F238E27FC236}">
                <a16:creationId xmlns:a16="http://schemas.microsoft.com/office/drawing/2014/main" id="{8E49908E-5642-18CD-4F6E-0D789A686937}"/>
              </a:ext>
            </a:extLst>
          </p:cNvPr>
          <p:cNvSpPr txBox="1"/>
          <p:nvPr/>
        </p:nvSpPr>
        <p:spPr>
          <a:xfrm>
            <a:off x="9143822" y="2558659"/>
            <a:ext cx="2514600" cy="430887"/>
          </a:xfrm>
          <a:prstGeom prst="rect">
            <a:avLst/>
          </a:prstGeom>
          <a:noFill/>
        </p:spPr>
        <p:txBody>
          <a:bodyPr wrap="square">
            <a:spAutoFit/>
          </a:bodyPr>
          <a:lstStyle/>
          <a:p>
            <a:r>
              <a:rPr lang="en-US" sz="1100" b="1">
                <a:latin typeface="Product Sans" panose="020B0403030502040203" pitchFamily="34" charset="0"/>
              </a:rPr>
              <a:t>Very High – mature markets make this highly scalable and profitable</a:t>
            </a:r>
            <a:r>
              <a:rPr lang="en-US" sz="1100">
                <a:latin typeface="Product Sans" panose="020B0403030502040203" pitchFamily="34" charset="0"/>
              </a:rPr>
              <a:t>.</a:t>
            </a:r>
            <a:endParaRPr lang="en-IN" sz="1100">
              <a:latin typeface="Product Sans" panose="020B0403030502040203" pitchFamily="34" charset="0"/>
            </a:endParaRPr>
          </a:p>
        </p:txBody>
      </p:sp>
      <p:sp>
        <p:nvSpPr>
          <p:cNvPr id="54" name="TextBox 53">
            <a:extLst>
              <a:ext uri="{FF2B5EF4-FFF2-40B4-BE49-F238E27FC236}">
                <a16:creationId xmlns:a16="http://schemas.microsoft.com/office/drawing/2014/main" id="{9CBD04E7-F5D9-2E88-F91F-95097134A333}"/>
              </a:ext>
            </a:extLst>
          </p:cNvPr>
          <p:cNvSpPr txBox="1"/>
          <p:nvPr/>
        </p:nvSpPr>
        <p:spPr>
          <a:xfrm>
            <a:off x="3897102" y="3117388"/>
            <a:ext cx="2669499" cy="600164"/>
          </a:xfrm>
          <a:prstGeom prst="rect">
            <a:avLst/>
          </a:prstGeom>
          <a:noFill/>
        </p:spPr>
        <p:txBody>
          <a:bodyPr wrap="square">
            <a:spAutoFit/>
          </a:bodyPr>
          <a:lstStyle/>
          <a:p>
            <a:r>
              <a:rPr lang="en-US" sz="1100" b="1">
                <a:latin typeface="Product Sans" panose="020B0403030502040203" pitchFamily="34" charset="0"/>
              </a:rPr>
              <a:t>Innovates in packaging to reduce material use per can, lowering costs and emissions.</a:t>
            </a:r>
            <a:endParaRPr lang="en-IN" sz="1100" b="1">
              <a:latin typeface="Product Sans" panose="020B0403030502040203" pitchFamily="34" charset="0"/>
            </a:endParaRPr>
          </a:p>
        </p:txBody>
      </p:sp>
      <p:sp>
        <p:nvSpPr>
          <p:cNvPr id="56" name="TextBox 55">
            <a:extLst>
              <a:ext uri="{FF2B5EF4-FFF2-40B4-BE49-F238E27FC236}">
                <a16:creationId xmlns:a16="http://schemas.microsoft.com/office/drawing/2014/main" id="{F8D39129-6669-10A9-E508-45DED64C0DA3}"/>
              </a:ext>
            </a:extLst>
          </p:cNvPr>
          <p:cNvSpPr txBox="1"/>
          <p:nvPr/>
        </p:nvSpPr>
        <p:spPr>
          <a:xfrm>
            <a:off x="6851889" y="3080931"/>
            <a:ext cx="2172274" cy="600164"/>
          </a:xfrm>
          <a:prstGeom prst="rect">
            <a:avLst/>
          </a:prstGeom>
          <a:noFill/>
        </p:spPr>
        <p:txBody>
          <a:bodyPr wrap="square">
            <a:spAutoFit/>
          </a:bodyPr>
          <a:lstStyle/>
          <a:p>
            <a:r>
              <a:rPr lang="en-US" sz="1100" b="1">
                <a:latin typeface="Product Sans" panose="020B0403030502040203" pitchFamily="34" charset="0"/>
              </a:rPr>
              <a:t>High – cost-saving and eco-friendly but requires upfront R&amp;D and retooling investment</a:t>
            </a:r>
            <a:endParaRPr lang="en-IN" sz="1100" b="1">
              <a:latin typeface="Product Sans" panose="020B0403030502040203" pitchFamily="34" charset="0"/>
            </a:endParaRPr>
          </a:p>
        </p:txBody>
      </p:sp>
      <p:sp>
        <p:nvSpPr>
          <p:cNvPr id="58" name="TextBox 57">
            <a:extLst>
              <a:ext uri="{FF2B5EF4-FFF2-40B4-BE49-F238E27FC236}">
                <a16:creationId xmlns:a16="http://schemas.microsoft.com/office/drawing/2014/main" id="{553E02AF-05BB-6BEC-5C2B-1F85059D3505}"/>
              </a:ext>
            </a:extLst>
          </p:cNvPr>
          <p:cNvSpPr txBox="1"/>
          <p:nvPr/>
        </p:nvSpPr>
        <p:spPr>
          <a:xfrm>
            <a:off x="9089822" y="3187055"/>
            <a:ext cx="2721454" cy="430887"/>
          </a:xfrm>
          <a:prstGeom prst="rect">
            <a:avLst/>
          </a:prstGeom>
          <a:noFill/>
        </p:spPr>
        <p:txBody>
          <a:bodyPr wrap="square">
            <a:spAutoFit/>
          </a:bodyPr>
          <a:lstStyle/>
          <a:p>
            <a:r>
              <a:rPr lang="en-US" sz="1100" b="1">
                <a:latin typeface="Product Sans" panose="020B0403030502040203" pitchFamily="34" charset="0"/>
              </a:rPr>
              <a:t>Medium – strong future payoff but slow ROI due to capital needs</a:t>
            </a:r>
            <a:r>
              <a:rPr lang="en-US" sz="1100"/>
              <a:t>.</a:t>
            </a:r>
            <a:endParaRPr lang="en-IN" sz="1100"/>
          </a:p>
        </p:txBody>
      </p:sp>
      <p:sp>
        <p:nvSpPr>
          <p:cNvPr id="60" name="TextBox 59">
            <a:extLst>
              <a:ext uri="{FF2B5EF4-FFF2-40B4-BE49-F238E27FC236}">
                <a16:creationId xmlns:a16="http://schemas.microsoft.com/office/drawing/2014/main" id="{DEC3FD27-D644-524C-6384-B308B731C15F}"/>
              </a:ext>
            </a:extLst>
          </p:cNvPr>
          <p:cNvSpPr txBox="1"/>
          <p:nvPr/>
        </p:nvSpPr>
        <p:spPr>
          <a:xfrm>
            <a:off x="3895073" y="3805086"/>
            <a:ext cx="3048000" cy="600164"/>
          </a:xfrm>
          <a:prstGeom prst="rect">
            <a:avLst/>
          </a:prstGeom>
          <a:noFill/>
        </p:spPr>
        <p:txBody>
          <a:bodyPr wrap="square">
            <a:spAutoFit/>
          </a:bodyPr>
          <a:lstStyle/>
          <a:p>
            <a:r>
              <a:rPr lang="en-IN" sz="1100" b="1">
                <a:latin typeface="Product Sans" panose="020B0403030502040203" pitchFamily="34" charset="0"/>
              </a:rPr>
              <a:t>Combines supplier diversification, hedging, and ESG targets for a resilient aluminium procurement strategy.</a:t>
            </a:r>
          </a:p>
        </p:txBody>
      </p:sp>
      <p:sp>
        <p:nvSpPr>
          <p:cNvPr id="62" name="TextBox 61">
            <a:extLst>
              <a:ext uri="{FF2B5EF4-FFF2-40B4-BE49-F238E27FC236}">
                <a16:creationId xmlns:a16="http://schemas.microsoft.com/office/drawing/2014/main" id="{EB4B4F10-9883-0420-77AC-9F50039E1262}"/>
              </a:ext>
            </a:extLst>
          </p:cNvPr>
          <p:cNvSpPr txBox="1"/>
          <p:nvPr/>
        </p:nvSpPr>
        <p:spPr>
          <a:xfrm>
            <a:off x="6862307" y="3768039"/>
            <a:ext cx="2669495" cy="769441"/>
          </a:xfrm>
          <a:prstGeom prst="rect">
            <a:avLst/>
          </a:prstGeom>
          <a:noFill/>
        </p:spPr>
        <p:txBody>
          <a:bodyPr wrap="square">
            <a:spAutoFit/>
          </a:bodyPr>
          <a:lstStyle/>
          <a:p>
            <a:r>
              <a:rPr lang="en-US" sz="1100" b="1">
                <a:latin typeface="Product Sans" panose="020B0403030502040203" pitchFamily="34" charset="0"/>
              </a:rPr>
              <a:t>Very High – creates a balanced, future-proof supply chain that mitigates both financial and operational risks.</a:t>
            </a:r>
            <a:endParaRPr lang="en-IN"/>
          </a:p>
        </p:txBody>
      </p:sp>
      <p:sp>
        <p:nvSpPr>
          <p:cNvPr id="68" name="TextBox 67">
            <a:extLst>
              <a:ext uri="{FF2B5EF4-FFF2-40B4-BE49-F238E27FC236}">
                <a16:creationId xmlns:a16="http://schemas.microsoft.com/office/drawing/2014/main" id="{A70BB91F-CFA8-B254-2563-D06B3EF31FA7}"/>
              </a:ext>
            </a:extLst>
          </p:cNvPr>
          <p:cNvSpPr txBox="1"/>
          <p:nvPr/>
        </p:nvSpPr>
        <p:spPr>
          <a:xfrm>
            <a:off x="9107564" y="3835416"/>
            <a:ext cx="2591615" cy="600164"/>
          </a:xfrm>
          <a:prstGeom prst="rect">
            <a:avLst/>
          </a:prstGeom>
          <a:noFill/>
        </p:spPr>
        <p:txBody>
          <a:bodyPr wrap="square">
            <a:spAutoFit/>
          </a:bodyPr>
          <a:lstStyle/>
          <a:p>
            <a:r>
              <a:rPr lang="en-US" sz="1100" b="1">
                <a:latin typeface="Product Sans" panose="020B0403030502040203" pitchFamily="34" charset="0"/>
              </a:rPr>
              <a:t>High – supports long-term resilience but needs strong execution and systems.</a:t>
            </a:r>
            <a:endParaRPr lang="en-IN" sz="1100" b="1">
              <a:latin typeface="Product Sans" panose="020B0403030502040203" pitchFamily="34" charset="0"/>
            </a:endParaRPr>
          </a:p>
        </p:txBody>
      </p:sp>
      <p:sp>
        <p:nvSpPr>
          <p:cNvPr id="70" name="TextBox 69">
            <a:extLst>
              <a:ext uri="{FF2B5EF4-FFF2-40B4-BE49-F238E27FC236}">
                <a16:creationId xmlns:a16="http://schemas.microsoft.com/office/drawing/2014/main" id="{27E1FBCF-1783-AF36-F1A1-BF3BE371DBC7}"/>
              </a:ext>
            </a:extLst>
          </p:cNvPr>
          <p:cNvSpPr txBox="1"/>
          <p:nvPr/>
        </p:nvSpPr>
        <p:spPr>
          <a:xfrm>
            <a:off x="161727" y="4673118"/>
            <a:ext cx="11451104" cy="2031325"/>
          </a:xfrm>
          <a:prstGeom prst="rect">
            <a:avLst/>
          </a:prstGeom>
          <a:noFill/>
        </p:spPr>
        <p:txBody>
          <a:bodyPr wrap="square">
            <a:spAutoFit/>
          </a:bodyPr>
          <a:lstStyle/>
          <a:p>
            <a:pPr marL="285750" indent="-285750">
              <a:buFont typeface="Arial" panose="020B0604020202020204" pitchFamily="34" charset="0"/>
              <a:buChar char="•"/>
            </a:pPr>
            <a:r>
              <a:rPr lang="en-US" b="1">
                <a:solidFill>
                  <a:schemeClr val="bg1"/>
                </a:solidFill>
                <a:latin typeface="Product Sans" panose="020B0403030502040203" pitchFamily="34" charset="0"/>
              </a:rPr>
              <a:t>Investing in financial instruments (hedging, futures, and options) emerges as the most viable choice, offering immediate price stability, global scalability, and stronger cash flow management.</a:t>
            </a:r>
            <a:r>
              <a:rPr lang="en-US"/>
              <a:t> </a:t>
            </a:r>
            <a:r>
              <a:rPr lang="en-US" b="1">
                <a:solidFill>
                  <a:schemeClr val="bg1"/>
                </a:solidFill>
                <a:latin typeface="Product Sans" panose="020B0403030502040203" pitchFamily="34" charset="0"/>
              </a:rPr>
              <a:t>Hedging will not just a defensive move but a strategic enabler, aligning with AB InBev’s size and financial maturity.</a:t>
            </a:r>
          </a:p>
          <a:p>
            <a:pPr marL="285750" indent="-285750">
              <a:buFont typeface="Arial" panose="020B0604020202020204" pitchFamily="34" charset="0"/>
              <a:buChar char="•"/>
            </a:pPr>
            <a:r>
              <a:rPr lang="en-US" b="1">
                <a:solidFill>
                  <a:schemeClr val="bg1"/>
                </a:solidFill>
                <a:latin typeface="Product Sans" panose="020B0403030502040203" pitchFamily="34" charset="0"/>
              </a:rPr>
              <a:t>AI-driven forecasting can turn financial hedging into a competitive advantage.</a:t>
            </a:r>
          </a:p>
          <a:p>
            <a:pPr marL="285750" indent="-285750">
              <a:buFont typeface="Arial" panose="020B0604020202020204" pitchFamily="34" charset="0"/>
              <a:buChar char="•"/>
            </a:pPr>
            <a:r>
              <a:rPr lang="en-US" b="1">
                <a:solidFill>
                  <a:schemeClr val="bg1"/>
                </a:solidFill>
                <a:latin typeface="Product Sans" panose="020B0403030502040203" pitchFamily="34" charset="0"/>
              </a:rPr>
              <a:t>Combining financial instruments with advanced AI models creates a resilient, cost-efficient aluminum procurement system, giving AB InBev a competitive edge in both financial performance and supply security.</a:t>
            </a:r>
            <a:endParaRPr lang="en-IN" b="1">
              <a:solidFill>
                <a:schemeClr val="bg1"/>
              </a:solidFill>
              <a:latin typeface="Product Sans" panose="020B0403030502040203" pitchFamily="34" charset="0"/>
            </a:endParaRPr>
          </a:p>
        </p:txBody>
      </p:sp>
    </p:spTree>
    <p:extLst>
      <p:ext uri="{BB962C8B-B14F-4D97-AF65-F5344CB8AC3E}">
        <p14:creationId xmlns:p14="http://schemas.microsoft.com/office/powerpoint/2010/main" val="1837650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1B715"/>
            </a:gs>
            <a:gs pos="80000">
              <a:srgbClr val="F7DD00"/>
            </a:gs>
            <a:gs pos="97000">
              <a:srgbClr val="F8DF00">
                <a:alpha val="77000"/>
              </a:srgbClr>
            </a:gs>
            <a:gs pos="100000">
              <a:srgbClr val="F9E000">
                <a:alpha val="6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64C405CD-BCA3-A739-816A-B80E1DF8B8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D6A9A2-B3B5-1B6E-E407-B36BD1D77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76" y="489188"/>
            <a:ext cx="5897737" cy="1951593"/>
          </a:xfrm>
          <a:prstGeom prst="roundRect">
            <a:avLst>
              <a:gd name="adj" fmla="val 8594"/>
            </a:avLst>
          </a:prstGeom>
          <a:solidFill>
            <a:srgbClr val="FFFFFF">
              <a:shade val="85000"/>
            </a:srgbClr>
          </a:solidFill>
          <a:ln>
            <a:noFill/>
          </a:ln>
          <a:effectLst>
            <a:reflection blurRad="12700" stA="7000" endPos="28000" dist="5000" dir="5400000" sy="-100000" algn="bl" rotWithShape="0"/>
          </a:effectLst>
        </p:spPr>
      </p:pic>
      <p:pic>
        <p:nvPicPr>
          <p:cNvPr id="11" name="Picture 10">
            <a:extLst>
              <a:ext uri="{FF2B5EF4-FFF2-40B4-BE49-F238E27FC236}">
                <a16:creationId xmlns:a16="http://schemas.microsoft.com/office/drawing/2014/main" id="{462E4D40-0F5A-CCD1-E228-F49D66E38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9763" y="2365005"/>
            <a:ext cx="5897737" cy="2124062"/>
          </a:xfrm>
          <a:prstGeom prst="roundRect">
            <a:avLst>
              <a:gd name="adj" fmla="val 8594"/>
            </a:avLst>
          </a:prstGeom>
          <a:solidFill>
            <a:srgbClr val="FFFFFF">
              <a:shade val="85000"/>
            </a:srgbClr>
          </a:solidFill>
          <a:ln>
            <a:noFill/>
          </a:ln>
          <a:effectLst>
            <a:reflection blurRad="12700" stA="7000" endPos="28000" dist="5000" dir="5400000" sy="-100000" algn="bl" rotWithShape="0"/>
          </a:effectLst>
        </p:spPr>
      </p:pic>
      <p:pic>
        <p:nvPicPr>
          <p:cNvPr id="13" name="Picture 12">
            <a:extLst>
              <a:ext uri="{FF2B5EF4-FFF2-40B4-BE49-F238E27FC236}">
                <a16:creationId xmlns:a16="http://schemas.microsoft.com/office/drawing/2014/main" id="{84CB0881-FC6B-50B9-7311-D12C509857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176" y="4298608"/>
            <a:ext cx="5897737" cy="2124062"/>
          </a:xfrm>
          <a:prstGeom prst="roundRect">
            <a:avLst>
              <a:gd name="adj" fmla="val 8594"/>
            </a:avLst>
          </a:prstGeom>
          <a:solidFill>
            <a:srgbClr val="FFFFFF">
              <a:shade val="85000"/>
            </a:srgbClr>
          </a:solidFill>
          <a:ln>
            <a:noFill/>
          </a:ln>
          <a:effectLst>
            <a:reflection blurRad="12700" stA="7000" endPos="28000" dist="5000" dir="5400000" sy="-100000" algn="bl" rotWithShape="0"/>
          </a:effectLst>
        </p:spPr>
      </p:pic>
      <p:sp>
        <p:nvSpPr>
          <p:cNvPr id="3" name="TextBox 2">
            <a:extLst>
              <a:ext uri="{FF2B5EF4-FFF2-40B4-BE49-F238E27FC236}">
                <a16:creationId xmlns:a16="http://schemas.microsoft.com/office/drawing/2014/main" id="{829A9158-C912-9507-A014-CA81AD256221}"/>
              </a:ext>
            </a:extLst>
          </p:cNvPr>
          <p:cNvSpPr txBox="1"/>
          <p:nvPr/>
        </p:nvSpPr>
        <p:spPr>
          <a:xfrm>
            <a:off x="6210928" y="614442"/>
            <a:ext cx="5428342" cy="523220"/>
          </a:xfrm>
          <a:prstGeom prst="rect">
            <a:avLst/>
          </a:prstGeom>
          <a:noFill/>
        </p:spPr>
        <p:txBody>
          <a:bodyPr wrap="square">
            <a:spAutoFit/>
          </a:bodyPr>
          <a:lstStyle/>
          <a:p>
            <a:r>
              <a:rPr lang="en-US" sz="1400" b="1">
                <a:latin typeface="Product Sans" panose="020B0403030502040203" pitchFamily="34" charset="0"/>
              </a:rPr>
              <a:t>Aluminum prices have shown </a:t>
            </a:r>
            <a:r>
              <a:rPr lang="en-US" sz="1400" b="1">
                <a:solidFill>
                  <a:schemeClr val="bg1"/>
                </a:solidFill>
                <a:latin typeface="Product Sans" panose="020B0403030502040203" pitchFamily="34" charset="0"/>
              </a:rPr>
              <a:t>sharp swings </a:t>
            </a:r>
            <a:r>
              <a:rPr lang="en-US" sz="1400" b="1">
                <a:latin typeface="Product Sans" panose="020B0403030502040203" pitchFamily="34" charset="0"/>
              </a:rPr>
              <a:t>in recent years (COVID, energy shocks, supply chain disruptions).</a:t>
            </a:r>
            <a:endParaRPr lang="en-IN" sz="1400" b="1">
              <a:latin typeface="Product Sans" panose="020B0403030502040203" pitchFamily="34" charset="0"/>
            </a:endParaRPr>
          </a:p>
        </p:txBody>
      </p:sp>
      <p:sp>
        <p:nvSpPr>
          <p:cNvPr id="6" name="TextBox 5">
            <a:extLst>
              <a:ext uri="{FF2B5EF4-FFF2-40B4-BE49-F238E27FC236}">
                <a16:creationId xmlns:a16="http://schemas.microsoft.com/office/drawing/2014/main" id="{69823DF8-5856-5512-5188-A42FC0BD36F2}"/>
              </a:ext>
            </a:extLst>
          </p:cNvPr>
          <p:cNvSpPr txBox="1"/>
          <p:nvPr/>
        </p:nvSpPr>
        <p:spPr>
          <a:xfrm>
            <a:off x="6210928" y="1165171"/>
            <a:ext cx="5036457" cy="523220"/>
          </a:xfrm>
          <a:prstGeom prst="rect">
            <a:avLst/>
          </a:prstGeom>
          <a:noFill/>
        </p:spPr>
        <p:txBody>
          <a:bodyPr wrap="square">
            <a:spAutoFit/>
          </a:bodyPr>
          <a:lstStyle/>
          <a:p>
            <a:r>
              <a:rPr lang="en-US" sz="1400" b="1">
                <a:latin typeface="Product Sans" panose="020B0403030502040203" pitchFamily="34" charset="0"/>
              </a:rPr>
              <a:t>For breweries, this creates </a:t>
            </a:r>
            <a:r>
              <a:rPr lang="en-US" sz="1400" b="1">
                <a:solidFill>
                  <a:schemeClr val="bg1"/>
                </a:solidFill>
                <a:latin typeface="Product Sans" panose="020B0403030502040203" pitchFamily="34" charset="0"/>
              </a:rPr>
              <a:t>packaging cost uncertainty </a:t>
            </a:r>
            <a:r>
              <a:rPr lang="en-US" sz="1400" b="1">
                <a:latin typeface="Product Sans" panose="020B0403030502040203" pitchFamily="34" charset="0"/>
              </a:rPr>
              <a:t>since cans are aluminum-intensive.</a:t>
            </a:r>
            <a:endParaRPr lang="en-IN" sz="1400" b="1">
              <a:latin typeface="Product Sans" panose="020B0403030502040203" pitchFamily="34" charset="0"/>
            </a:endParaRPr>
          </a:p>
        </p:txBody>
      </p:sp>
      <p:sp>
        <p:nvSpPr>
          <p:cNvPr id="8" name="TextBox 7">
            <a:extLst>
              <a:ext uri="{FF2B5EF4-FFF2-40B4-BE49-F238E27FC236}">
                <a16:creationId xmlns:a16="http://schemas.microsoft.com/office/drawing/2014/main" id="{54918A4C-E8AC-D00B-AA33-80608E118082}"/>
              </a:ext>
            </a:extLst>
          </p:cNvPr>
          <p:cNvSpPr txBox="1"/>
          <p:nvPr/>
        </p:nvSpPr>
        <p:spPr>
          <a:xfrm>
            <a:off x="6172645" y="1661278"/>
            <a:ext cx="6103256" cy="523220"/>
          </a:xfrm>
          <a:prstGeom prst="rect">
            <a:avLst/>
          </a:prstGeom>
          <a:noFill/>
        </p:spPr>
        <p:txBody>
          <a:bodyPr wrap="square">
            <a:spAutoFit/>
          </a:bodyPr>
          <a:lstStyle/>
          <a:p>
            <a:r>
              <a:rPr lang="en-US" sz="1400" b="1">
                <a:latin typeface="Product Sans" panose="020B0403030502040203" pitchFamily="34" charset="0"/>
              </a:rPr>
              <a:t>Traditional procurement strategy is  reactive due to  cost spikes, unpredictable cash flows.</a:t>
            </a:r>
          </a:p>
        </p:txBody>
      </p:sp>
      <p:sp>
        <p:nvSpPr>
          <p:cNvPr id="12" name="TextBox 11">
            <a:extLst>
              <a:ext uri="{FF2B5EF4-FFF2-40B4-BE49-F238E27FC236}">
                <a16:creationId xmlns:a16="http://schemas.microsoft.com/office/drawing/2014/main" id="{5C31253E-4458-14D9-2E50-EE9D4A78344A}"/>
              </a:ext>
            </a:extLst>
          </p:cNvPr>
          <p:cNvSpPr txBox="1"/>
          <p:nvPr/>
        </p:nvSpPr>
        <p:spPr>
          <a:xfrm>
            <a:off x="111176" y="2575128"/>
            <a:ext cx="6154056" cy="523220"/>
          </a:xfrm>
          <a:prstGeom prst="rect">
            <a:avLst/>
          </a:prstGeom>
          <a:noFill/>
        </p:spPr>
        <p:txBody>
          <a:bodyPr wrap="square">
            <a:spAutoFit/>
          </a:bodyPr>
          <a:lstStyle/>
          <a:p>
            <a:r>
              <a:rPr lang="en-US" sz="1400" b="1">
                <a:latin typeface="Product Sans" panose="020B0403030502040203" pitchFamily="34" charset="0"/>
              </a:rPr>
              <a:t>GARCH model → reacts strongly to spikes, sometimes overshoots → conservative, higher hedging costs.</a:t>
            </a:r>
            <a:endParaRPr lang="en-IN" sz="1400" b="1">
              <a:latin typeface="Product Sans" panose="020B0403030502040203" pitchFamily="34" charset="0"/>
            </a:endParaRPr>
          </a:p>
        </p:txBody>
      </p:sp>
      <p:sp>
        <p:nvSpPr>
          <p:cNvPr id="15" name="TextBox 14">
            <a:extLst>
              <a:ext uri="{FF2B5EF4-FFF2-40B4-BE49-F238E27FC236}">
                <a16:creationId xmlns:a16="http://schemas.microsoft.com/office/drawing/2014/main" id="{56634A80-5472-1105-7E2E-EB6F8C4914A1}"/>
              </a:ext>
            </a:extLst>
          </p:cNvPr>
          <p:cNvSpPr txBox="1"/>
          <p:nvPr/>
        </p:nvSpPr>
        <p:spPr>
          <a:xfrm>
            <a:off x="111176" y="3193172"/>
            <a:ext cx="6154056" cy="523220"/>
          </a:xfrm>
          <a:prstGeom prst="rect">
            <a:avLst/>
          </a:prstGeom>
          <a:noFill/>
        </p:spPr>
        <p:txBody>
          <a:bodyPr wrap="square">
            <a:spAutoFit/>
          </a:bodyPr>
          <a:lstStyle/>
          <a:p>
            <a:r>
              <a:rPr lang="en-US" sz="1400" b="1">
                <a:latin typeface="Product Sans" panose="020B0403030502040203" pitchFamily="34" charset="0"/>
              </a:rPr>
              <a:t>LSTM model → smoother forecasts, avoids overreaction → cost-efficient but may under-protect in sudden jumps</a:t>
            </a:r>
            <a:endParaRPr lang="en-IN" sz="1400" b="1">
              <a:latin typeface="Product Sans" panose="020B0403030502040203" pitchFamily="34" charset="0"/>
            </a:endParaRPr>
          </a:p>
        </p:txBody>
      </p:sp>
      <p:sp>
        <p:nvSpPr>
          <p:cNvPr id="17" name="TextBox 16">
            <a:extLst>
              <a:ext uri="{FF2B5EF4-FFF2-40B4-BE49-F238E27FC236}">
                <a16:creationId xmlns:a16="http://schemas.microsoft.com/office/drawing/2014/main" id="{2BC1FACA-B153-DDAD-81D4-0FD66297D2BE}"/>
              </a:ext>
            </a:extLst>
          </p:cNvPr>
          <p:cNvSpPr txBox="1"/>
          <p:nvPr/>
        </p:nvSpPr>
        <p:spPr>
          <a:xfrm>
            <a:off x="111176" y="3771410"/>
            <a:ext cx="6154056" cy="307777"/>
          </a:xfrm>
          <a:prstGeom prst="rect">
            <a:avLst/>
          </a:prstGeom>
          <a:noFill/>
        </p:spPr>
        <p:txBody>
          <a:bodyPr wrap="square">
            <a:spAutoFit/>
          </a:bodyPr>
          <a:lstStyle/>
          <a:p>
            <a:r>
              <a:rPr lang="en-US" sz="1400" b="1">
                <a:latin typeface="Product Sans" panose="020B0403030502040203" pitchFamily="34" charset="0"/>
              </a:rPr>
              <a:t>Together, they give a balanced view of </a:t>
            </a:r>
            <a:r>
              <a:rPr lang="en-US" sz="1400" b="1">
                <a:solidFill>
                  <a:schemeClr val="bg1"/>
                </a:solidFill>
                <a:latin typeface="Product Sans" panose="020B0403030502040203" pitchFamily="34" charset="0"/>
              </a:rPr>
              <a:t>short-term risk vs stability</a:t>
            </a:r>
            <a:endParaRPr lang="en-IN" sz="1400" b="1">
              <a:solidFill>
                <a:schemeClr val="bg1"/>
              </a:solidFill>
              <a:latin typeface="Product Sans" panose="020B0403030502040203" pitchFamily="34" charset="0"/>
            </a:endParaRPr>
          </a:p>
        </p:txBody>
      </p:sp>
      <p:sp>
        <p:nvSpPr>
          <p:cNvPr id="21" name="TextBox 20">
            <a:extLst>
              <a:ext uri="{FF2B5EF4-FFF2-40B4-BE49-F238E27FC236}">
                <a16:creationId xmlns:a16="http://schemas.microsoft.com/office/drawing/2014/main" id="{C2A7D394-9606-13FE-3F67-8A13615A01D1}"/>
              </a:ext>
            </a:extLst>
          </p:cNvPr>
          <p:cNvSpPr txBox="1"/>
          <p:nvPr/>
        </p:nvSpPr>
        <p:spPr>
          <a:xfrm>
            <a:off x="6096000" y="4665130"/>
            <a:ext cx="6154056" cy="307777"/>
          </a:xfrm>
          <a:prstGeom prst="rect">
            <a:avLst/>
          </a:prstGeom>
          <a:noFill/>
        </p:spPr>
        <p:txBody>
          <a:bodyPr wrap="square">
            <a:spAutoFit/>
          </a:bodyPr>
          <a:lstStyle/>
          <a:p>
            <a:r>
              <a:rPr lang="en-US" sz="1400" b="1">
                <a:latin typeface="Product Sans" panose="020B0403030502040203" pitchFamily="34" charset="0"/>
              </a:rPr>
              <a:t>Both models suggest hedging ~34–40 lots (~850–1000 tons).</a:t>
            </a:r>
            <a:endParaRPr lang="en-IN" sz="1400" b="1">
              <a:latin typeface="Product Sans" panose="020B0403030502040203" pitchFamily="34" charset="0"/>
            </a:endParaRPr>
          </a:p>
        </p:txBody>
      </p:sp>
      <p:sp>
        <p:nvSpPr>
          <p:cNvPr id="22" name="Rectangle 1">
            <a:extLst>
              <a:ext uri="{FF2B5EF4-FFF2-40B4-BE49-F238E27FC236}">
                <a16:creationId xmlns:a16="http://schemas.microsoft.com/office/drawing/2014/main" id="{E42E6B84-4ECF-3096-8D74-01E5DE1CA1C6}"/>
              </a:ext>
            </a:extLst>
          </p:cNvPr>
          <p:cNvSpPr>
            <a:spLocks noChangeArrowheads="1"/>
          </p:cNvSpPr>
          <p:nvPr/>
        </p:nvSpPr>
        <p:spPr bwMode="auto">
          <a:xfrm>
            <a:off x="6069763" y="5094486"/>
            <a:ext cx="584659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a:ln>
                  <a:noFill/>
                </a:ln>
                <a:solidFill>
                  <a:schemeClr val="bg1"/>
                </a:solidFill>
                <a:effectLst/>
                <a:latin typeface="Product Sans" panose="020B0403030502040203" pitchFamily="34" charset="0"/>
              </a:rPr>
              <a:t>GARCH hedging </a:t>
            </a:r>
            <a:r>
              <a:rPr kumimoji="0" lang="en-US" altLang="en-US" sz="1400" b="1" i="0" u="none" strike="noStrike" cap="none" normalizeH="0" baseline="0">
                <a:ln>
                  <a:noFill/>
                </a:ln>
                <a:solidFill>
                  <a:schemeClr val="tx1"/>
                </a:solidFill>
                <a:effectLst/>
                <a:latin typeface="Product Sans" panose="020B0403030502040203" pitchFamily="34" charset="0"/>
              </a:rPr>
              <a:t>= frequent adjustments → tighter protection, higher transaction costs.</a:t>
            </a:r>
          </a:p>
          <a:p>
            <a:pPr marL="0" marR="0" lvl="0" indent="0" algn="ctr"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a:ln>
                  <a:noFill/>
                </a:ln>
                <a:solidFill>
                  <a:schemeClr val="bg1"/>
                </a:solidFill>
                <a:effectLst/>
                <a:latin typeface="Product Sans" panose="020B0403030502040203" pitchFamily="34" charset="0"/>
              </a:rPr>
              <a:t>LSTM hedging </a:t>
            </a:r>
            <a:r>
              <a:rPr kumimoji="0" lang="en-US" altLang="en-US" sz="1400" b="1" i="0" u="none" strike="noStrike" cap="none" normalizeH="0" baseline="0">
                <a:ln>
                  <a:noFill/>
                </a:ln>
                <a:solidFill>
                  <a:schemeClr val="tx1"/>
                </a:solidFill>
                <a:effectLst/>
                <a:latin typeface="Product Sans" panose="020B0403030502040203" pitchFamily="34" charset="0"/>
              </a:rPr>
              <a:t>= steadier → lower costs, but slightly higher exposure risk.</a:t>
            </a:r>
          </a:p>
          <a:p>
            <a:pPr lvl="0" eaLnBrk="0" fontAlgn="base" hangingPunct="0">
              <a:spcBef>
                <a:spcPct val="0"/>
              </a:spcBef>
              <a:spcAft>
                <a:spcPct val="0"/>
              </a:spcAft>
            </a:pPr>
            <a:r>
              <a:rPr lang="en-US" sz="1400" b="1">
                <a:latin typeface="Product Sans" panose="020B0403030502040203" pitchFamily="34" charset="0"/>
              </a:rPr>
              <a:t>A</a:t>
            </a:r>
            <a:r>
              <a:rPr lang="en-US" sz="1400">
                <a:latin typeface="Product Sans" panose="020B0403030502040203" pitchFamily="34" charset="0"/>
              </a:rPr>
              <a:t> </a:t>
            </a:r>
            <a:r>
              <a:rPr lang="en-US" sz="1400" b="1">
                <a:solidFill>
                  <a:schemeClr val="bg1"/>
                </a:solidFill>
                <a:latin typeface="Product Sans" panose="020B0403030502040203" pitchFamily="34" charset="0"/>
              </a:rPr>
              <a:t>hybrid strategy</a:t>
            </a:r>
            <a:r>
              <a:rPr lang="en-US" sz="1400">
                <a:solidFill>
                  <a:schemeClr val="bg1"/>
                </a:solidFill>
                <a:latin typeface="Product Sans" panose="020B0403030502040203" pitchFamily="34" charset="0"/>
              </a:rPr>
              <a:t> </a:t>
            </a:r>
            <a:r>
              <a:rPr lang="en-US" sz="1400" b="1">
                <a:latin typeface="Product Sans" panose="020B0403030502040203" pitchFamily="34" charset="0"/>
              </a:rPr>
              <a:t>balances cost-efficiency and risk resilience.</a:t>
            </a:r>
            <a:endParaRPr kumimoji="0" lang="en-US" altLang="en-US" sz="1400" b="1" i="0" u="none" strike="noStrike" cap="none" normalizeH="0" baseline="0">
              <a:ln>
                <a:noFill/>
              </a:ln>
              <a:solidFill>
                <a:schemeClr val="tx1"/>
              </a:solidFill>
              <a:effectLst/>
              <a:latin typeface="Product Sans" panose="020B0403030502040203" pitchFamily="34" charset="0"/>
            </a:endParaRPr>
          </a:p>
        </p:txBody>
      </p:sp>
      <p:sp>
        <p:nvSpPr>
          <p:cNvPr id="24" name="TextBox 23">
            <a:extLst>
              <a:ext uri="{FF2B5EF4-FFF2-40B4-BE49-F238E27FC236}">
                <a16:creationId xmlns:a16="http://schemas.microsoft.com/office/drawing/2014/main" id="{F59FA9FF-91DD-2ECC-20BE-0DBC5B259943}"/>
              </a:ext>
            </a:extLst>
          </p:cNvPr>
          <p:cNvSpPr txBox="1"/>
          <p:nvPr/>
        </p:nvSpPr>
        <p:spPr>
          <a:xfrm>
            <a:off x="-18422" y="6477688"/>
            <a:ext cx="12210422" cy="338554"/>
          </a:xfrm>
          <a:prstGeom prst="rect">
            <a:avLst/>
          </a:prstGeom>
          <a:noFill/>
        </p:spPr>
        <p:txBody>
          <a:bodyPr wrap="square">
            <a:spAutoFit/>
          </a:bodyPr>
          <a:lstStyle/>
          <a:p>
            <a:pPr algn="ctr"/>
            <a:r>
              <a:rPr lang="en-US" sz="1600" b="1">
                <a:latin typeface="Product Sans" panose="020B0403030502040203" pitchFamily="34" charset="0"/>
              </a:rPr>
              <a:t>This approach transforms procurement of aluminum from reactive buying to a predictive, data-driven risk management strategy</a:t>
            </a:r>
            <a:endParaRPr lang="en-IN" sz="1600" b="1">
              <a:latin typeface="Product Sans" panose="020B0403030502040203" pitchFamily="34" charset="0"/>
            </a:endParaRPr>
          </a:p>
        </p:txBody>
      </p:sp>
      <p:pic>
        <p:nvPicPr>
          <p:cNvPr id="2" name="Picture 1">
            <a:extLst>
              <a:ext uri="{FF2B5EF4-FFF2-40B4-BE49-F238E27FC236}">
                <a16:creationId xmlns:a16="http://schemas.microsoft.com/office/drawing/2014/main" id="{C3085CCE-6E36-C92F-58F3-F3145FDFBD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3140" y="41758"/>
            <a:ext cx="647684" cy="647684"/>
          </a:xfrm>
          <a:prstGeom prst="rect">
            <a:avLst/>
          </a:prstGeom>
        </p:spPr>
      </p:pic>
      <p:sp>
        <p:nvSpPr>
          <p:cNvPr id="4" name="TextBox 3">
            <a:extLst>
              <a:ext uri="{FF2B5EF4-FFF2-40B4-BE49-F238E27FC236}">
                <a16:creationId xmlns:a16="http://schemas.microsoft.com/office/drawing/2014/main" id="{E75A8213-43CB-21E6-E019-9BC654F5F2ED}"/>
              </a:ext>
            </a:extLst>
          </p:cNvPr>
          <p:cNvSpPr txBox="1"/>
          <p:nvPr/>
        </p:nvSpPr>
        <p:spPr>
          <a:xfrm>
            <a:off x="7810862" y="150031"/>
            <a:ext cx="3436523" cy="369332"/>
          </a:xfrm>
          <a:prstGeom prst="rect">
            <a:avLst/>
          </a:prstGeom>
          <a:noFill/>
        </p:spPr>
        <p:txBody>
          <a:bodyPr wrap="square">
            <a:spAutoFit/>
          </a:bodyPr>
          <a:lstStyle/>
          <a:p>
            <a:r>
              <a:rPr lang="en-US" b="1">
                <a:latin typeface="Product Sans" panose="020B0403030502040203" pitchFamily="34" charset="0"/>
              </a:rPr>
              <a:t>Scan to view interactive model</a:t>
            </a:r>
            <a:endParaRPr lang="en-IN" b="1">
              <a:latin typeface="Product Sans" panose="020B0403030502040203" pitchFamily="34" charset="0"/>
            </a:endParaRPr>
          </a:p>
        </p:txBody>
      </p:sp>
    </p:spTree>
    <p:extLst>
      <p:ext uri="{BB962C8B-B14F-4D97-AF65-F5344CB8AC3E}">
        <p14:creationId xmlns:p14="http://schemas.microsoft.com/office/powerpoint/2010/main" val="4221668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95612-65C0-1FB6-A1A9-45E33593032C}"/>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A634EA48-EAD8-8B5E-CDFE-BD9A041A3565}"/>
              </a:ext>
            </a:extLst>
          </p:cNvPr>
          <p:cNvSpPr/>
          <p:nvPr/>
        </p:nvSpPr>
        <p:spPr>
          <a:xfrm>
            <a:off x="347247" y="5808463"/>
            <a:ext cx="10918611" cy="622818"/>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sp>
        <p:nvSpPr>
          <p:cNvPr id="8" name="TextBox 7">
            <a:extLst>
              <a:ext uri="{FF2B5EF4-FFF2-40B4-BE49-F238E27FC236}">
                <a16:creationId xmlns:a16="http://schemas.microsoft.com/office/drawing/2014/main" id="{0EA813FC-7B19-CB1D-6765-10929CDBF5E2}"/>
              </a:ext>
            </a:extLst>
          </p:cNvPr>
          <p:cNvSpPr txBox="1"/>
          <p:nvPr/>
        </p:nvSpPr>
        <p:spPr>
          <a:xfrm>
            <a:off x="0" y="265601"/>
            <a:ext cx="9157341" cy="523220"/>
          </a:xfrm>
          <a:prstGeom prst="rect">
            <a:avLst/>
          </a:prstGeom>
          <a:noFill/>
        </p:spPr>
        <p:txBody>
          <a:bodyPr wrap="square" rtlCol="0">
            <a:spAutoFit/>
          </a:bodyPr>
          <a:lstStyle/>
          <a:p>
            <a:r>
              <a:rPr lang="en-US" sz="2800" b="1">
                <a:solidFill>
                  <a:srgbClr val="FFFF00"/>
                </a:solidFill>
                <a:highlight>
                  <a:srgbClr val="000000"/>
                </a:highlight>
                <a:latin typeface="Product Sans" panose="020B0403030502040203" pitchFamily="34" charset="0"/>
              </a:rPr>
              <a:t>Why Glass Bottle??  </a:t>
            </a:r>
          </a:p>
        </p:txBody>
      </p:sp>
      <p:sp>
        <p:nvSpPr>
          <p:cNvPr id="15" name="TextBox 14">
            <a:extLst>
              <a:ext uri="{FF2B5EF4-FFF2-40B4-BE49-F238E27FC236}">
                <a16:creationId xmlns:a16="http://schemas.microsoft.com/office/drawing/2014/main" id="{52C81564-7D18-4B5C-9676-61AD722A7DE7}"/>
              </a:ext>
            </a:extLst>
          </p:cNvPr>
          <p:cNvSpPr txBox="1"/>
          <p:nvPr/>
        </p:nvSpPr>
        <p:spPr>
          <a:xfrm>
            <a:off x="0" y="834347"/>
            <a:ext cx="9901084" cy="584775"/>
          </a:xfrm>
          <a:prstGeom prst="rect">
            <a:avLst/>
          </a:prstGeom>
          <a:noFill/>
        </p:spPr>
        <p:txBody>
          <a:bodyPr wrap="square" rtlCol="0">
            <a:spAutoFit/>
          </a:bodyPr>
          <a:lstStyle/>
          <a:p>
            <a:r>
              <a:rPr lang="en-US" sz="1600">
                <a:latin typeface="Product Sans" panose="020B0403030502040203" pitchFamily="34" charset="0"/>
              </a:rPr>
              <a:t>Globally, glass bottles account for approximately </a:t>
            </a:r>
            <a:r>
              <a:rPr lang="en-US" sz="1600" b="1">
                <a:latin typeface="Product Sans" panose="020B0403030502040203" pitchFamily="34" charset="0"/>
              </a:rPr>
              <a:t>31% to 51% of total beer packaging</a:t>
            </a:r>
            <a:r>
              <a:rPr lang="en-US" sz="1600">
                <a:latin typeface="Product Sans" panose="020B0403030502040203" pitchFamily="34" charset="0"/>
              </a:rPr>
              <a:t>, reflecting their continued dominance despite the rising popularity of cans.</a:t>
            </a:r>
            <a:r>
              <a:rPr lang="en-US" sz="1600" b="1">
                <a:latin typeface="Product Sans" panose="020B0403030502040203" pitchFamily="34" charset="0"/>
              </a:rPr>
              <a:t> </a:t>
            </a:r>
          </a:p>
        </p:txBody>
      </p:sp>
      <p:sp>
        <p:nvSpPr>
          <p:cNvPr id="18" name="TextBox 17">
            <a:extLst>
              <a:ext uri="{FF2B5EF4-FFF2-40B4-BE49-F238E27FC236}">
                <a16:creationId xmlns:a16="http://schemas.microsoft.com/office/drawing/2014/main" id="{BF5EBFD8-F8CF-9DAD-833C-9090045EBCE0}"/>
              </a:ext>
            </a:extLst>
          </p:cNvPr>
          <p:cNvSpPr txBox="1"/>
          <p:nvPr/>
        </p:nvSpPr>
        <p:spPr>
          <a:xfrm>
            <a:off x="0" y="1464648"/>
            <a:ext cx="11464413" cy="584775"/>
          </a:xfrm>
          <a:prstGeom prst="rect">
            <a:avLst/>
          </a:prstGeom>
          <a:noFill/>
        </p:spPr>
        <p:txBody>
          <a:bodyPr wrap="square">
            <a:spAutoFit/>
          </a:bodyPr>
          <a:lstStyle/>
          <a:p>
            <a:r>
              <a:rPr lang="en-US" sz="1600">
                <a:latin typeface="Product Sans" panose="020B0403030502040203" pitchFamily="34" charset="0"/>
              </a:rPr>
              <a:t>Glass bottles remain vital to the beer industry due to their </a:t>
            </a:r>
            <a:r>
              <a:rPr lang="en-US" sz="1600" b="1">
                <a:latin typeface="Product Sans" panose="020B0403030502040203" pitchFamily="34" charset="0"/>
              </a:rPr>
              <a:t>flavor stability, reusability, sustainability advantages, and premium consumer perception</a:t>
            </a:r>
            <a:r>
              <a:rPr lang="en-US" sz="1600">
                <a:latin typeface="Product Sans" panose="020B0403030502040203" pitchFamily="34" charset="0"/>
              </a:rPr>
              <a:t>, making them the preferred choice for many brewers and drinkers worldwide</a:t>
            </a:r>
          </a:p>
        </p:txBody>
      </p:sp>
      <p:sp>
        <p:nvSpPr>
          <p:cNvPr id="19" name="TextBox 18">
            <a:extLst>
              <a:ext uri="{FF2B5EF4-FFF2-40B4-BE49-F238E27FC236}">
                <a16:creationId xmlns:a16="http://schemas.microsoft.com/office/drawing/2014/main" id="{D431C6CD-99FD-541E-1D80-7D1153CB0D4D}"/>
              </a:ext>
            </a:extLst>
          </p:cNvPr>
          <p:cNvSpPr txBox="1"/>
          <p:nvPr/>
        </p:nvSpPr>
        <p:spPr>
          <a:xfrm>
            <a:off x="304486" y="2975598"/>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Business Impact </a:t>
            </a:r>
          </a:p>
        </p:txBody>
      </p:sp>
      <p:sp>
        <p:nvSpPr>
          <p:cNvPr id="20" name="TextBox 19">
            <a:extLst>
              <a:ext uri="{FF2B5EF4-FFF2-40B4-BE49-F238E27FC236}">
                <a16:creationId xmlns:a16="http://schemas.microsoft.com/office/drawing/2014/main" id="{7DBBF8FA-C56B-13CA-678C-7E1E99524D97}"/>
              </a:ext>
            </a:extLst>
          </p:cNvPr>
          <p:cNvSpPr txBox="1"/>
          <p:nvPr/>
        </p:nvSpPr>
        <p:spPr>
          <a:xfrm>
            <a:off x="114294" y="3823674"/>
            <a:ext cx="3451122" cy="338554"/>
          </a:xfrm>
          <a:prstGeom prst="rect">
            <a:avLst/>
          </a:prstGeom>
          <a:noFill/>
        </p:spPr>
        <p:txBody>
          <a:bodyPr wrap="square" rtlCol="0">
            <a:spAutoFit/>
          </a:bodyPr>
          <a:lstStyle/>
          <a:p>
            <a:r>
              <a:rPr lang="en-US" sz="1600">
                <a:latin typeface="Product Sans" panose="020B0403030502040203" pitchFamily="34" charset="0"/>
              </a:rPr>
              <a:t>India’s beer consumption</a:t>
            </a:r>
          </a:p>
        </p:txBody>
      </p:sp>
      <p:sp>
        <p:nvSpPr>
          <p:cNvPr id="23" name="TextBox 22">
            <a:extLst>
              <a:ext uri="{FF2B5EF4-FFF2-40B4-BE49-F238E27FC236}">
                <a16:creationId xmlns:a16="http://schemas.microsoft.com/office/drawing/2014/main" id="{AFF30339-328E-1C95-A986-1C7CB657C9E7}"/>
              </a:ext>
            </a:extLst>
          </p:cNvPr>
          <p:cNvSpPr txBox="1"/>
          <p:nvPr/>
        </p:nvSpPr>
        <p:spPr>
          <a:xfrm>
            <a:off x="778989" y="3430887"/>
            <a:ext cx="1781298" cy="430887"/>
          </a:xfrm>
          <a:prstGeom prst="rect">
            <a:avLst/>
          </a:prstGeom>
          <a:noFill/>
        </p:spPr>
        <p:txBody>
          <a:bodyPr wrap="square" rtlCol="0">
            <a:spAutoFit/>
          </a:bodyPr>
          <a:lstStyle/>
          <a:p>
            <a:r>
              <a:rPr lang="en-US" sz="2200" b="1">
                <a:latin typeface="Product Sans Black" panose="020B0A03030502040203" pitchFamily="34" charset="0"/>
              </a:rPr>
              <a:t>3</a:t>
            </a:r>
            <a:r>
              <a:rPr lang="en-US" sz="2000" b="1">
                <a:latin typeface="Product Sans Black" panose="020B0A03030502040203" pitchFamily="34" charset="0"/>
              </a:rPr>
              <a:t>B+ L</a:t>
            </a:r>
            <a:endParaRPr lang="en-US" sz="2400" b="1">
              <a:latin typeface="Product Sans Black" panose="020B0A03030502040203" pitchFamily="34" charset="0"/>
            </a:endParaRPr>
          </a:p>
        </p:txBody>
      </p:sp>
      <p:sp>
        <p:nvSpPr>
          <p:cNvPr id="24" name="TextBox 23">
            <a:extLst>
              <a:ext uri="{FF2B5EF4-FFF2-40B4-BE49-F238E27FC236}">
                <a16:creationId xmlns:a16="http://schemas.microsoft.com/office/drawing/2014/main" id="{9EE6EC1D-04D3-7694-B828-7E89038E25FE}"/>
              </a:ext>
            </a:extLst>
          </p:cNvPr>
          <p:cNvSpPr txBox="1"/>
          <p:nvPr/>
        </p:nvSpPr>
        <p:spPr>
          <a:xfrm>
            <a:off x="3565416" y="3495432"/>
            <a:ext cx="1781298" cy="400110"/>
          </a:xfrm>
          <a:prstGeom prst="rect">
            <a:avLst/>
          </a:prstGeom>
          <a:noFill/>
        </p:spPr>
        <p:txBody>
          <a:bodyPr wrap="square" rtlCol="0">
            <a:spAutoFit/>
          </a:bodyPr>
          <a:lstStyle/>
          <a:p>
            <a:r>
              <a:rPr lang="en-US" sz="2000" b="1">
                <a:latin typeface="Product Sans Black" panose="020B0A03030502040203" pitchFamily="34" charset="0"/>
              </a:rPr>
              <a:t>750M+ L</a:t>
            </a:r>
            <a:endParaRPr lang="en-US" sz="2400" b="1">
              <a:latin typeface="Product Sans Black" panose="020B0A03030502040203" pitchFamily="34" charset="0"/>
            </a:endParaRPr>
          </a:p>
        </p:txBody>
      </p:sp>
      <p:sp>
        <p:nvSpPr>
          <p:cNvPr id="25" name="TextBox 24">
            <a:extLst>
              <a:ext uri="{FF2B5EF4-FFF2-40B4-BE49-F238E27FC236}">
                <a16:creationId xmlns:a16="http://schemas.microsoft.com/office/drawing/2014/main" id="{5DBD0509-9C10-5ED1-D16C-E8E997042B8C}"/>
              </a:ext>
            </a:extLst>
          </p:cNvPr>
          <p:cNvSpPr txBox="1"/>
          <p:nvPr/>
        </p:nvSpPr>
        <p:spPr>
          <a:xfrm>
            <a:off x="3139481" y="3866871"/>
            <a:ext cx="3451122" cy="338554"/>
          </a:xfrm>
          <a:prstGeom prst="rect">
            <a:avLst/>
          </a:prstGeom>
          <a:noFill/>
        </p:spPr>
        <p:txBody>
          <a:bodyPr wrap="square" rtlCol="0">
            <a:spAutoFit/>
          </a:bodyPr>
          <a:lstStyle/>
          <a:p>
            <a:r>
              <a:rPr lang="en-US" sz="1600" dirty="0">
                <a:latin typeface="Product Sans" panose="020B0403030502040203" pitchFamily="34" charset="0"/>
              </a:rPr>
              <a:t>Fulfilled by ABInbev</a:t>
            </a:r>
          </a:p>
        </p:txBody>
      </p:sp>
      <p:pic>
        <p:nvPicPr>
          <p:cNvPr id="29" name="Picture 28">
            <a:extLst>
              <a:ext uri="{FF2B5EF4-FFF2-40B4-BE49-F238E27FC236}">
                <a16:creationId xmlns:a16="http://schemas.microsoft.com/office/drawing/2014/main" id="{0A2A4BFF-CB36-D163-F279-989F4B82B1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0742" y="3387543"/>
            <a:ext cx="492759" cy="492759"/>
          </a:xfrm>
          <a:prstGeom prst="rect">
            <a:avLst/>
          </a:prstGeom>
        </p:spPr>
      </p:pic>
      <p:sp>
        <p:nvSpPr>
          <p:cNvPr id="31" name="TextBox 30">
            <a:extLst>
              <a:ext uri="{FF2B5EF4-FFF2-40B4-BE49-F238E27FC236}">
                <a16:creationId xmlns:a16="http://schemas.microsoft.com/office/drawing/2014/main" id="{BDEF198C-2D5B-CC7E-F5D7-2F267AC10BEF}"/>
              </a:ext>
            </a:extLst>
          </p:cNvPr>
          <p:cNvSpPr txBox="1"/>
          <p:nvPr/>
        </p:nvSpPr>
        <p:spPr>
          <a:xfrm>
            <a:off x="6159443" y="2838874"/>
            <a:ext cx="2625213" cy="338554"/>
          </a:xfrm>
          <a:prstGeom prst="rect">
            <a:avLst/>
          </a:prstGeom>
          <a:noFill/>
        </p:spPr>
        <p:txBody>
          <a:bodyPr wrap="square" rtlCol="0">
            <a:spAutoFit/>
          </a:bodyPr>
          <a:lstStyle/>
          <a:p>
            <a:r>
              <a:rPr lang="en-US" sz="1600" b="1">
                <a:solidFill>
                  <a:srgbClr val="FF9900"/>
                </a:solidFill>
                <a:latin typeface="Product Sans" panose="020B0403030502040203" pitchFamily="34" charset="0"/>
              </a:rPr>
              <a:t>Bottle Packaging Types</a:t>
            </a:r>
          </a:p>
        </p:txBody>
      </p:sp>
      <p:pic>
        <p:nvPicPr>
          <p:cNvPr id="35" name="Picture 34">
            <a:extLst>
              <a:ext uri="{FF2B5EF4-FFF2-40B4-BE49-F238E27FC236}">
                <a16:creationId xmlns:a16="http://schemas.microsoft.com/office/drawing/2014/main" id="{42370078-1470-632B-D041-B0C2B58C11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9187" y="3322660"/>
            <a:ext cx="596950" cy="596950"/>
          </a:xfrm>
          <a:prstGeom prst="rect">
            <a:avLst/>
          </a:prstGeom>
        </p:spPr>
      </p:pic>
      <p:pic>
        <p:nvPicPr>
          <p:cNvPr id="37" name="Picture 36">
            <a:extLst>
              <a:ext uri="{FF2B5EF4-FFF2-40B4-BE49-F238E27FC236}">
                <a16:creationId xmlns:a16="http://schemas.microsoft.com/office/drawing/2014/main" id="{4CB6AD84-A9EB-A17E-91C3-E302BE7A4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3324" y="3243865"/>
            <a:ext cx="708893" cy="708893"/>
          </a:xfrm>
          <a:prstGeom prst="rect">
            <a:avLst/>
          </a:prstGeom>
        </p:spPr>
      </p:pic>
      <p:sp>
        <p:nvSpPr>
          <p:cNvPr id="41" name="TextBox 40">
            <a:extLst>
              <a:ext uri="{FF2B5EF4-FFF2-40B4-BE49-F238E27FC236}">
                <a16:creationId xmlns:a16="http://schemas.microsoft.com/office/drawing/2014/main" id="{F8F93053-A216-4352-9DB1-787D5229EE72}"/>
              </a:ext>
            </a:extLst>
          </p:cNvPr>
          <p:cNvSpPr txBox="1"/>
          <p:nvPr/>
        </p:nvSpPr>
        <p:spPr>
          <a:xfrm>
            <a:off x="6012536" y="3935007"/>
            <a:ext cx="2625213" cy="292388"/>
          </a:xfrm>
          <a:prstGeom prst="rect">
            <a:avLst/>
          </a:prstGeom>
          <a:noFill/>
        </p:spPr>
        <p:txBody>
          <a:bodyPr wrap="square" rtlCol="0">
            <a:spAutoFit/>
          </a:bodyPr>
          <a:lstStyle/>
          <a:p>
            <a:r>
              <a:rPr lang="en-US" sz="1300" b="1">
                <a:solidFill>
                  <a:srgbClr val="FF9900"/>
                </a:solidFill>
                <a:latin typeface="Product Sans" panose="020B0403030502040203" pitchFamily="34" charset="0"/>
              </a:rPr>
              <a:t>330ml</a:t>
            </a:r>
          </a:p>
        </p:txBody>
      </p:sp>
      <p:sp>
        <p:nvSpPr>
          <p:cNvPr id="43" name="TextBox 42">
            <a:extLst>
              <a:ext uri="{FF2B5EF4-FFF2-40B4-BE49-F238E27FC236}">
                <a16:creationId xmlns:a16="http://schemas.microsoft.com/office/drawing/2014/main" id="{8623FF4F-1931-A47B-6FD7-95ADEF28353E}"/>
              </a:ext>
            </a:extLst>
          </p:cNvPr>
          <p:cNvSpPr txBox="1"/>
          <p:nvPr/>
        </p:nvSpPr>
        <p:spPr>
          <a:xfrm>
            <a:off x="6838445" y="3954706"/>
            <a:ext cx="2625213" cy="292388"/>
          </a:xfrm>
          <a:prstGeom prst="rect">
            <a:avLst/>
          </a:prstGeom>
          <a:noFill/>
        </p:spPr>
        <p:txBody>
          <a:bodyPr wrap="square" rtlCol="0">
            <a:spAutoFit/>
          </a:bodyPr>
          <a:lstStyle/>
          <a:p>
            <a:r>
              <a:rPr lang="en-US" sz="1300" b="1">
                <a:solidFill>
                  <a:srgbClr val="FF9900"/>
                </a:solidFill>
                <a:latin typeface="Product Sans" panose="020B0403030502040203" pitchFamily="34" charset="0"/>
              </a:rPr>
              <a:t>500ml</a:t>
            </a:r>
          </a:p>
        </p:txBody>
      </p:sp>
      <p:sp>
        <p:nvSpPr>
          <p:cNvPr id="45" name="TextBox 44">
            <a:extLst>
              <a:ext uri="{FF2B5EF4-FFF2-40B4-BE49-F238E27FC236}">
                <a16:creationId xmlns:a16="http://schemas.microsoft.com/office/drawing/2014/main" id="{75DC3A48-BB75-21FA-6CB8-CFA3C0E82F54}"/>
              </a:ext>
            </a:extLst>
          </p:cNvPr>
          <p:cNvSpPr txBox="1"/>
          <p:nvPr/>
        </p:nvSpPr>
        <p:spPr>
          <a:xfrm>
            <a:off x="7624106" y="3953732"/>
            <a:ext cx="2625213" cy="292388"/>
          </a:xfrm>
          <a:prstGeom prst="rect">
            <a:avLst/>
          </a:prstGeom>
          <a:noFill/>
        </p:spPr>
        <p:txBody>
          <a:bodyPr wrap="square" rtlCol="0">
            <a:spAutoFit/>
          </a:bodyPr>
          <a:lstStyle/>
          <a:p>
            <a:r>
              <a:rPr lang="en-US" sz="1300" b="1">
                <a:solidFill>
                  <a:srgbClr val="FF9900"/>
                </a:solidFill>
                <a:latin typeface="Product Sans" panose="020B0403030502040203" pitchFamily="34" charset="0"/>
              </a:rPr>
              <a:t>650ml</a:t>
            </a:r>
          </a:p>
        </p:txBody>
      </p:sp>
      <p:graphicFrame>
        <p:nvGraphicFramePr>
          <p:cNvPr id="48" name="Chart 47">
            <a:extLst>
              <a:ext uri="{FF2B5EF4-FFF2-40B4-BE49-F238E27FC236}">
                <a16:creationId xmlns:a16="http://schemas.microsoft.com/office/drawing/2014/main" id="{D5D1268A-CEF3-9B86-5BDC-3A84801A2842}"/>
              </a:ext>
            </a:extLst>
          </p:cNvPr>
          <p:cNvGraphicFramePr/>
          <p:nvPr>
            <p:extLst>
              <p:ext uri="{D42A27DB-BD31-4B8C-83A1-F6EECF244321}">
                <p14:modId xmlns:p14="http://schemas.microsoft.com/office/powerpoint/2010/main" val="2369567015"/>
              </p:ext>
            </p:extLst>
          </p:nvPr>
        </p:nvGraphicFramePr>
        <p:xfrm>
          <a:off x="8440748" y="2543064"/>
          <a:ext cx="3607461" cy="1966061"/>
        </p:xfrm>
        <a:graphic>
          <a:graphicData uri="http://schemas.openxmlformats.org/drawingml/2006/chart">
            <c:chart xmlns:c="http://schemas.openxmlformats.org/drawingml/2006/chart" xmlns:r="http://schemas.openxmlformats.org/officeDocument/2006/relationships" r:id="rId4"/>
          </a:graphicData>
        </a:graphic>
      </p:graphicFrame>
      <p:sp>
        <p:nvSpPr>
          <p:cNvPr id="3" name="Rectangle 3">
            <a:extLst>
              <a:ext uri="{FF2B5EF4-FFF2-40B4-BE49-F238E27FC236}">
                <a16:creationId xmlns:a16="http://schemas.microsoft.com/office/drawing/2014/main" id="{FF657709-31AF-DAAF-0C5C-54161E9590FE}"/>
              </a:ext>
            </a:extLst>
          </p:cNvPr>
          <p:cNvSpPr>
            <a:spLocks noChangeArrowheads="1"/>
          </p:cNvSpPr>
          <p:nvPr/>
        </p:nvSpPr>
        <p:spPr bwMode="auto">
          <a:xfrm>
            <a:off x="114294" y="2159630"/>
            <a:ext cx="109905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1B1C1D"/>
                </a:solidFill>
                <a:effectLst/>
                <a:latin typeface="Product Sans" panose="020B0403030502040203" pitchFamily="34" charset="0"/>
              </a:rPr>
              <a:t>In India, glass bottles are the dominant packaging format for beer, accounting for an estimated </a:t>
            </a:r>
            <a:r>
              <a:rPr kumimoji="0" lang="en-US" altLang="en-US" sz="1600" b="1" i="0" u="none" strike="noStrike" cap="none" normalizeH="0" baseline="0">
                <a:ln>
                  <a:noFill/>
                </a:ln>
                <a:solidFill>
                  <a:srgbClr val="1B1C1D"/>
                </a:solidFill>
                <a:effectLst/>
                <a:latin typeface="Product Sans" panose="020B0403030502040203" pitchFamily="34" charset="0"/>
              </a:rPr>
              <a:t>65%</a:t>
            </a:r>
            <a:r>
              <a:rPr kumimoji="0" lang="en-US" altLang="en-US" sz="1600" b="0" i="0" u="none" strike="noStrike" cap="none" normalizeH="0" baseline="0">
                <a:ln>
                  <a:noFill/>
                </a:ln>
                <a:solidFill>
                  <a:srgbClr val="1B1C1D"/>
                </a:solidFill>
                <a:effectLst/>
                <a:latin typeface="Product Sans" panose="020B0403030502040203" pitchFamily="34" charset="0"/>
              </a:rPr>
              <a:t> of the total volume sold due to consumer perceptions of quality and tradition.</a:t>
            </a:r>
            <a:endParaRPr kumimoji="0" lang="en-US" altLang="en-US" sz="1600" b="0" i="0" u="none" strike="noStrike" cap="none" normalizeH="0" baseline="0">
              <a:ln>
                <a:noFill/>
              </a:ln>
              <a:solidFill>
                <a:schemeClr val="tx1"/>
              </a:solidFill>
              <a:effectLst/>
              <a:latin typeface="Product Sans" panose="020B0403030502040203" pitchFamily="34" charset="0"/>
            </a:endParaRPr>
          </a:p>
        </p:txBody>
      </p:sp>
      <p:sp>
        <p:nvSpPr>
          <p:cNvPr id="4" name="TextBox 3">
            <a:extLst>
              <a:ext uri="{FF2B5EF4-FFF2-40B4-BE49-F238E27FC236}">
                <a16:creationId xmlns:a16="http://schemas.microsoft.com/office/drawing/2014/main" id="{7CCDB9CB-193B-3F55-34D2-190705761D05}"/>
              </a:ext>
            </a:extLst>
          </p:cNvPr>
          <p:cNvSpPr txBox="1"/>
          <p:nvPr/>
        </p:nvSpPr>
        <p:spPr>
          <a:xfrm>
            <a:off x="114294" y="4669688"/>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Liters made in 650ml bottle: </a:t>
            </a:r>
          </a:p>
        </p:txBody>
      </p:sp>
      <p:sp>
        <p:nvSpPr>
          <p:cNvPr id="6" name="TextBox 5">
            <a:extLst>
              <a:ext uri="{FF2B5EF4-FFF2-40B4-BE49-F238E27FC236}">
                <a16:creationId xmlns:a16="http://schemas.microsoft.com/office/drawing/2014/main" id="{423026BB-DF3B-9E99-92D6-58656E44F77A}"/>
              </a:ext>
            </a:extLst>
          </p:cNvPr>
          <p:cNvSpPr txBox="1"/>
          <p:nvPr/>
        </p:nvSpPr>
        <p:spPr>
          <a:xfrm>
            <a:off x="114294" y="5227204"/>
            <a:ext cx="9157341" cy="369332"/>
          </a:xfrm>
          <a:prstGeom prst="rect">
            <a:avLst/>
          </a:prstGeom>
          <a:noFill/>
        </p:spPr>
        <p:txBody>
          <a:bodyPr wrap="square" rtlCol="0">
            <a:spAutoFit/>
          </a:bodyPr>
          <a:lstStyle/>
          <a:p>
            <a:r>
              <a:rPr lang="en-US" b="1">
                <a:solidFill>
                  <a:srgbClr val="FFFF00"/>
                </a:solidFill>
                <a:highlight>
                  <a:srgbClr val="000000"/>
                </a:highlight>
                <a:latin typeface="Product Sans" panose="020B0403030502040203" pitchFamily="34" charset="0"/>
              </a:rPr>
              <a:t>Liters made in 330ml bottle:</a:t>
            </a:r>
          </a:p>
        </p:txBody>
      </p:sp>
      <p:sp>
        <p:nvSpPr>
          <p:cNvPr id="7" name="TextBox 6">
            <a:extLst>
              <a:ext uri="{FF2B5EF4-FFF2-40B4-BE49-F238E27FC236}">
                <a16:creationId xmlns:a16="http://schemas.microsoft.com/office/drawing/2014/main" id="{39A8A9E7-88FB-ECFC-5D10-D940DCC1C9EA}"/>
              </a:ext>
            </a:extLst>
          </p:cNvPr>
          <p:cNvSpPr txBox="1"/>
          <p:nvPr/>
        </p:nvSpPr>
        <p:spPr>
          <a:xfrm>
            <a:off x="3276837" y="4679266"/>
            <a:ext cx="3312085" cy="400110"/>
          </a:xfrm>
          <a:prstGeom prst="rect">
            <a:avLst/>
          </a:prstGeom>
          <a:noFill/>
        </p:spPr>
        <p:txBody>
          <a:bodyPr wrap="square" rtlCol="0">
            <a:spAutoFit/>
          </a:bodyPr>
          <a:lstStyle/>
          <a:p>
            <a:r>
              <a:rPr lang="en-US" sz="2000" b="1">
                <a:latin typeface="Product Sans Black" panose="020B0A03030502040203" pitchFamily="34" charset="0"/>
              </a:rPr>
              <a:t>750M * 0.65*0.8 = 390M </a:t>
            </a:r>
            <a:endParaRPr lang="en-US" sz="2400" b="1">
              <a:latin typeface="Product Sans Black" panose="020B0A03030502040203" pitchFamily="34" charset="0"/>
            </a:endParaRPr>
          </a:p>
        </p:txBody>
      </p:sp>
      <p:sp>
        <p:nvSpPr>
          <p:cNvPr id="9" name="TextBox 8">
            <a:extLst>
              <a:ext uri="{FF2B5EF4-FFF2-40B4-BE49-F238E27FC236}">
                <a16:creationId xmlns:a16="http://schemas.microsoft.com/office/drawing/2014/main" id="{0196D08D-D23E-B95B-EAEB-7E0D74AA6203}"/>
              </a:ext>
            </a:extLst>
          </p:cNvPr>
          <p:cNvSpPr txBox="1"/>
          <p:nvPr/>
        </p:nvSpPr>
        <p:spPr>
          <a:xfrm>
            <a:off x="3288851" y="5220168"/>
            <a:ext cx="3312085" cy="400110"/>
          </a:xfrm>
          <a:prstGeom prst="rect">
            <a:avLst/>
          </a:prstGeom>
          <a:noFill/>
        </p:spPr>
        <p:txBody>
          <a:bodyPr wrap="square" rtlCol="0">
            <a:spAutoFit/>
          </a:bodyPr>
          <a:lstStyle/>
          <a:p>
            <a:r>
              <a:rPr lang="en-US" sz="2000" b="1">
                <a:latin typeface="Product Sans Black" panose="020B0A03030502040203" pitchFamily="34" charset="0"/>
              </a:rPr>
              <a:t>750M * 0.65*0.2 = 97.5M </a:t>
            </a:r>
            <a:endParaRPr lang="en-US" sz="2400" b="1">
              <a:latin typeface="Product Sans Black" panose="020B0A03030502040203" pitchFamily="34" charset="0"/>
            </a:endParaRPr>
          </a:p>
        </p:txBody>
      </p:sp>
      <p:sp>
        <p:nvSpPr>
          <p:cNvPr id="10" name="TextBox 9">
            <a:extLst>
              <a:ext uri="{FF2B5EF4-FFF2-40B4-BE49-F238E27FC236}">
                <a16:creationId xmlns:a16="http://schemas.microsoft.com/office/drawing/2014/main" id="{8F69022B-C7DB-78B9-A5CB-CCA0555CE33B}"/>
              </a:ext>
            </a:extLst>
          </p:cNvPr>
          <p:cNvSpPr txBox="1"/>
          <p:nvPr/>
        </p:nvSpPr>
        <p:spPr>
          <a:xfrm>
            <a:off x="6491300" y="4717543"/>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 650ml bottles : </a:t>
            </a:r>
          </a:p>
        </p:txBody>
      </p:sp>
      <p:sp>
        <p:nvSpPr>
          <p:cNvPr id="11" name="TextBox 10">
            <a:extLst>
              <a:ext uri="{FF2B5EF4-FFF2-40B4-BE49-F238E27FC236}">
                <a16:creationId xmlns:a16="http://schemas.microsoft.com/office/drawing/2014/main" id="{7C410E2F-3458-5468-AF39-BC7AC4EDC416}"/>
              </a:ext>
            </a:extLst>
          </p:cNvPr>
          <p:cNvSpPr txBox="1"/>
          <p:nvPr/>
        </p:nvSpPr>
        <p:spPr>
          <a:xfrm>
            <a:off x="8376023" y="4691623"/>
            <a:ext cx="3299835" cy="400110"/>
          </a:xfrm>
          <a:prstGeom prst="rect">
            <a:avLst/>
          </a:prstGeom>
          <a:noFill/>
        </p:spPr>
        <p:txBody>
          <a:bodyPr wrap="square" rtlCol="0">
            <a:spAutoFit/>
          </a:bodyPr>
          <a:lstStyle/>
          <a:p>
            <a:r>
              <a:rPr lang="en-US" sz="2000" b="1">
                <a:latin typeface="Product Sans Black" panose="020B0A03030502040203" pitchFamily="34" charset="0"/>
              </a:rPr>
              <a:t>390M/0.65 = 600M </a:t>
            </a:r>
            <a:endParaRPr lang="en-US" sz="2400" b="1">
              <a:latin typeface="Product Sans Black" panose="020B0A03030502040203" pitchFamily="34" charset="0"/>
            </a:endParaRPr>
          </a:p>
        </p:txBody>
      </p:sp>
      <p:sp>
        <p:nvSpPr>
          <p:cNvPr id="13" name="TextBox 12">
            <a:extLst>
              <a:ext uri="{FF2B5EF4-FFF2-40B4-BE49-F238E27FC236}">
                <a16:creationId xmlns:a16="http://schemas.microsoft.com/office/drawing/2014/main" id="{B202E1C1-786E-3704-964B-843C5F6F2213}"/>
              </a:ext>
            </a:extLst>
          </p:cNvPr>
          <p:cNvSpPr txBox="1"/>
          <p:nvPr/>
        </p:nvSpPr>
        <p:spPr>
          <a:xfrm>
            <a:off x="6556025" y="5249335"/>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 330ml bottles : </a:t>
            </a:r>
          </a:p>
        </p:txBody>
      </p:sp>
      <p:sp>
        <p:nvSpPr>
          <p:cNvPr id="14" name="TextBox 13">
            <a:extLst>
              <a:ext uri="{FF2B5EF4-FFF2-40B4-BE49-F238E27FC236}">
                <a16:creationId xmlns:a16="http://schemas.microsoft.com/office/drawing/2014/main" id="{8EE2E9A7-A30B-F0C8-5A98-C7B204DF04CE}"/>
              </a:ext>
            </a:extLst>
          </p:cNvPr>
          <p:cNvSpPr txBox="1"/>
          <p:nvPr/>
        </p:nvSpPr>
        <p:spPr>
          <a:xfrm>
            <a:off x="8440748" y="5220168"/>
            <a:ext cx="3299835" cy="400110"/>
          </a:xfrm>
          <a:prstGeom prst="rect">
            <a:avLst/>
          </a:prstGeom>
          <a:noFill/>
        </p:spPr>
        <p:txBody>
          <a:bodyPr wrap="square" rtlCol="0">
            <a:spAutoFit/>
          </a:bodyPr>
          <a:lstStyle/>
          <a:p>
            <a:r>
              <a:rPr lang="en-US" sz="2000" b="1">
                <a:latin typeface="Product Sans Black" panose="020B0A03030502040203" pitchFamily="34" charset="0"/>
              </a:rPr>
              <a:t>97.5M/0.33 = 295M</a:t>
            </a:r>
            <a:endParaRPr lang="en-US" sz="2400" b="1">
              <a:latin typeface="Product Sans Black" panose="020B0A03030502040203" pitchFamily="34" charset="0"/>
            </a:endParaRPr>
          </a:p>
        </p:txBody>
      </p:sp>
      <p:sp>
        <p:nvSpPr>
          <p:cNvPr id="16" name="TextBox 15">
            <a:extLst>
              <a:ext uri="{FF2B5EF4-FFF2-40B4-BE49-F238E27FC236}">
                <a16:creationId xmlns:a16="http://schemas.microsoft.com/office/drawing/2014/main" id="{EA30B34C-E622-022B-B1FD-57CFEDDADF56}"/>
              </a:ext>
            </a:extLst>
          </p:cNvPr>
          <p:cNvSpPr txBox="1"/>
          <p:nvPr/>
        </p:nvSpPr>
        <p:spPr>
          <a:xfrm>
            <a:off x="926142" y="5897562"/>
            <a:ext cx="6460179" cy="369332"/>
          </a:xfrm>
          <a:prstGeom prst="rect">
            <a:avLst/>
          </a:prstGeom>
          <a:noFill/>
        </p:spPr>
        <p:txBody>
          <a:bodyPr wrap="square" rtlCol="0">
            <a:spAutoFit/>
          </a:bodyPr>
          <a:lstStyle/>
          <a:p>
            <a:r>
              <a:rPr lang="en-US" b="1" dirty="0">
                <a:latin typeface="Product Sans" panose="020B0403030502040203" pitchFamily="34" charset="0"/>
              </a:rPr>
              <a:t>Estimated no. of bottles required by ABInbev annually </a:t>
            </a:r>
          </a:p>
        </p:txBody>
      </p:sp>
      <p:sp>
        <p:nvSpPr>
          <p:cNvPr id="17" name="TextBox 16">
            <a:extLst>
              <a:ext uri="{FF2B5EF4-FFF2-40B4-BE49-F238E27FC236}">
                <a16:creationId xmlns:a16="http://schemas.microsoft.com/office/drawing/2014/main" id="{1C33211E-DD02-3F16-14BA-50B6385A0812}"/>
              </a:ext>
            </a:extLst>
          </p:cNvPr>
          <p:cNvSpPr txBox="1"/>
          <p:nvPr/>
        </p:nvSpPr>
        <p:spPr>
          <a:xfrm>
            <a:off x="6820900" y="5897562"/>
            <a:ext cx="3312085" cy="400110"/>
          </a:xfrm>
          <a:prstGeom prst="rect">
            <a:avLst/>
          </a:prstGeom>
          <a:noFill/>
        </p:spPr>
        <p:txBody>
          <a:bodyPr wrap="square" rtlCol="0">
            <a:spAutoFit/>
          </a:bodyPr>
          <a:lstStyle/>
          <a:p>
            <a:r>
              <a:rPr lang="en-US" sz="2000" b="1">
                <a:latin typeface="Product Sans Black" panose="020B0A03030502040203" pitchFamily="34" charset="0"/>
              </a:rPr>
              <a:t>600M + 295M = 895M </a:t>
            </a:r>
            <a:endParaRPr lang="en-US" sz="2400" b="1">
              <a:latin typeface="Product Sans Black" panose="020B0A03030502040203" pitchFamily="34" charset="0"/>
            </a:endParaRPr>
          </a:p>
        </p:txBody>
      </p:sp>
      <p:sp>
        <p:nvSpPr>
          <p:cNvPr id="2" name="TextBox 1">
            <a:extLst>
              <a:ext uri="{FF2B5EF4-FFF2-40B4-BE49-F238E27FC236}">
                <a16:creationId xmlns:a16="http://schemas.microsoft.com/office/drawing/2014/main" id="{9933952C-19BB-4712-0219-B188A2A9E9AC}"/>
              </a:ext>
            </a:extLst>
          </p:cNvPr>
          <p:cNvSpPr txBox="1"/>
          <p:nvPr/>
        </p:nvSpPr>
        <p:spPr>
          <a:xfrm>
            <a:off x="9358670" y="3685777"/>
            <a:ext cx="1781298" cy="292388"/>
          </a:xfrm>
          <a:prstGeom prst="rect">
            <a:avLst/>
          </a:prstGeom>
          <a:noFill/>
        </p:spPr>
        <p:txBody>
          <a:bodyPr wrap="square" rtlCol="0">
            <a:spAutoFit/>
          </a:bodyPr>
          <a:lstStyle/>
          <a:p>
            <a:r>
              <a:rPr lang="en-US" sz="1300" b="1">
                <a:latin typeface="Product Sans Black" panose="020B0A03030502040203" pitchFamily="34" charset="0"/>
              </a:rPr>
              <a:t> 80%</a:t>
            </a:r>
          </a:p>
        </p:txBody>
      </p:sp>
      <p:sp>
        <p:nvSpPr>
          <p:cNvPr id="5" name="TextBox 4">
            <a:extLst>
              <a:ext uri="{FF2B5EF4-FFF2-40B4-BE49-F238E27FC236}">
                <a16:creationId xmlns:a16="http://schemas.microsoft.com/office/drawing/2014/main" id="{3FBFD74D-82C1-ABCE-73D4-BE768E74EA17}"/>
              </a:ext>
            </a:extLst>
          </p:cNvPr>
          <p:cNvSpPr txBox="1"/>
          <p:nvPr/>
        </p:nvSpPr>
        <p:spPr>
          <a:xfrm>
            <a:off x="9711255" y="3038725"/>
            <a:ext cx="1781298" cy="292388"/>
          </a:xfrm>
          <a:prstGeom prst="rect">
            <a:avLst/>
          </a:prstGeom>
          <a:noFill/>
        </p:spPr>
        <p:txBody>
          <a:bodyPr wrap="square" rtlCol="0">
            <a:spAutoFit/>
          </a:bodyPr>
          <a:lstStyle/>
          <a:p>
            <a:r>
              <a:rPr lang="en-US" sz="1300" b="1">
                <a:latin typeface="Product Sans Black" panose="020B0A03030502040203" pitchFamily="34" charset="0"/>
              </a:rPr>
              <a:t> 17%</a:t>
            </a:r>
          </a:p>
        </p:txBody>
      </p:sp>
      <p:sp>
        <p:nvSpPr>
          <p:cNvPr id="12" name="TextBox 11">
            <a:extLst>
              <a:ext uri="{FF2B5EF4-FFF2-40B4-BE49-F238E27FC236}">
                <a16:creationId xmlns:a16="http://schemas.microsoft.com/office/drawing/2014/main" id="{7F68CF4E-1576-B936-899C-4968AF3080F8}"/>
              </a:ext>
            </a:extLst>
          </p:cNvPr>
          <p:cNvSpPr txBox="1"/>
          <p:nvPr/>
        </p:nvSpPr>
        <p:spPr>
          <a:xfrm>
            <a:off x="10311559" y="3172223"/>
            <a:ext cx="1781298" cy="292388"/>
          </a:xfrm>
          <a:prstGeom prst="rect">
            <a:avLst/>
          </a:prstGeom>
          <a:noFill/>
        </p:spPr>
        <p:txBody>
          <a:bodyPr wrap="square" rtlCol="0">
            <a:spAutoFit/>
          </a:bodyPr>
          <a:lstStyle/>
          <a:p>
            <a:r>
              <a:rPr lang="en-US" sz="1300" b="1">
                <a:latin typeface="Product Sans Black" panose="020B0A03030502040203" pitchFamily="34" charset="0"/>
              </a:rPr>
              <a:t> 3%</a:t>
            </a:r>
          </a:p>
        </p:txBody>
      </p:sp>
      <p:sp>
        <p:nvSpPr>
          <p:cNvPr id="22" name="TextBox 21">
            <a:extLst>
              <a:ext uri="{FF2B5EF4-FFF2-40B4-BE49-F238E27FC236}">
                <a16:creationId xmlns:a16="http://schemas.microsoft.com/office/drawing/2014/main" id="{18011D25-20DF-1652-8323-ABCD638149F1}"/>
              </a:ext>
            </a:extLst>
          </p:cNvPr>
          <p:cNvSpPr txBox="1"/>
          <p:nvPr/>
        </p:nvSpPr>
        <p:spPr>
          <a:xfrm>
            <a:off x="9971426" y="2752202"/>
            <a:ext cx="6159908" cy="292388"/>
          </a:xfrm>
          <a:prstGeom prst="rect">
            <a:avLst/>
          </a:prstGeom>
          <a:noFill/>
        </p:spPr>
        <p:txBody>
          <a:bodyPr wrap="square">
            <a:spAutoFit/>
          </a:bodyPr>
          <a:lstStyle/>
          <a:p>
            <a:r>
              <a:rPr lang="en-US" sz="1300" b="1">
                <a:solidFill>
                  <a:srgbClr val="FFDDAD"/>
                </a:solidFill>
                <a:latin typeface="Product Sans" panose="020B0403030502040203" pitchFamily="34" charset="0"/>
              </a:rPr>
              <a:t>330ml</a:t>
            </a:r>
            <a:endParaRPr lang="en-US" sz="1300">
              <a:solidFill>
                <a:srgbClr val="FFDDAD"/>
              </a:solidFill>
            </a:endParaRPr>
          </a:p>
        </p:txBody>
      </p:sp>
      <p:sp>
        <p:nvSpPr>
          <p:cNvPr id="26" name="TextBox 25">
            <a:extLst>
              <a:ext uri="{FF2B5EF4-FFF2-40B4-BE49-F238E27FC236}">
                <a16:creationId xmlns:a16="http://schemas.microsoft.com/office/drawing/2014/main" id="{4E8BFD8A-5EFC-6D4D-5284-867053BF2F2A}"/>
              </a:ext>
            </a:extLst>
          </p:cNvPr>
          <p:cNvSpPr txBox="1"/>
          <p:nvPr/>
        </p:nvSpPr>
        <p:spPr>
          <a:xfrm>
            <a:off x="10601904" y="3085280"/>
            <a:ext cx="6159908" cy="292388"/>
          </a:xfrm>
          <a:prstGeom prst="rect">
            <a:avLst/>
          </a:prstGeom>
          <a:noFill/>
        </p:spPr>
        <p:txBody>
          <a:bodyPr wrap="square">
            <a:spAutoFit/>
          </a:bodyPr>
          <a:lstStyle/>
          <a:p>
            <a:r>
              <a:rPr lang="en-US" sz="1300" b="1">
                <a:solidFill>
                  <a:srgbClr val="FFCA69"/>
                </a:solidFill>
                <a:latin typeface="Product Sans" panose="020B0403030502040203" pitchFamily="34" charset="0"/>
              </a:rPr>
              <a:t>500ml</a:t>
            </a:r>
            <a:endParaRPr lang="en-US" sz="1300">
              <a:solidFill>
                <a:srgbClr val="FFCA69"/>
              </a:solidFill>
            </a:endParaRPr>
          </a:p>
        </p:txBody>
      </p:sp>
      <p:sp>
        <p:nvSpPr>
          <p:cNvPr id="27" name="TextBox 26">
            <a:extLst>
              <a:ext uri="{FF2B5EF4-FFF2-40B4-BE49-F238E27FC236}">
                <a16:creationId xmlns:a16="http://schemas.microsoft.com/office/drawing/2014/main" id="{B529289A-9AFD-B8D5-2767-FDC15A1A1C8F}"/>
              </a:ext>
            </a:extLst>
          </p:cNvPr>
          <p:cNvSpPr txBox="1"/>
          <p:nvPr/>
        </p:nvSpPr>
        <p:spPr>
          <a:xfrm>
            <a:off x="8476943" y="3609748"/>
            <a:ext cx="6159908" cy="292388"/>
          </a:xfrm>
          <a:prstGeom prst="rect">
            <a:avLst/>
          </a:prstGeom>
          <a:noFill/>
        </p:spPr>
        <p:txBody>
          <a:bodyPr wrap="square">
            <a:spAutoFit/>
          </a:bodyPr>
          <a:lstStyle/>
          <a:p>
            <a:r>
              <a:rPr lang="en-US" sz="1300" b="1">
                <a:solidFill>
                  <a:srgbClr val="EFB300"/>
                </a:solidFill>
                <a:latin typeface="Product Sans" panose="020B0403030502040203" pitchFamily="34" charset="0"/>
              </a:rPr>
              <a:t>650ml</a:t>
            </a:r>
            <a:endParaRPr lang="en-US" sz="1300">
              <a:solidFill>
                <a:srgbClr val="EFB300"/>
              </a:solidFill>
            </a:endParaRPr>
          </a:p>
        </p:txBody>
      </p:sp>
    </p:spTree>
    <p:extLst>
      <p:ext uri="{BB962C8B-B14F-4D97-AF65-F5344CB8AC3E}">
        <p14:creationId xmlns:p14="http://schemas.microsoft.com/office/powerpoint/2010/main" val="282225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D3E35D-495C-2843-6A66-985B9CF1F395}"/>
              </a:ext>
            </a:extLst>
          </p:cNvPr>
          <p:cNvSpPr txBox="1"/>
          <p:nvPr/>
        </p:nvSpPr>
        <p:spPr>
          <a:xfrm>
            <a:off x="132080" y="235121"/>
            <a:ext cx="9157341" cy="523220"/>
          </a:xfrm>
          <a:prstGeom prst="rect">
            <a:avLst/>
          </a:prstGeom>
          <a:noFill/>
        </p:spPr>
        <p:txBody>
          <a:bodyPr wrap="square" rtlCol="0">
            <a:spAutoFit/>
          </a:bodyPr>
          <a:lstStyle/>
          <a:p>
            <a:r>
              <a:rPr lang="en-US" sz="2800" b="1">
                <a:solidFill>
                  <a:srgbClr val="FFFF00"/>
                </a:solidFill>
                <a:highlight>
                  <a:srgbClr val="000000"/>
                </a:highlight>
                <a:latin typeface="Product Sans" panose="020B0403030502040203" pitchFamily="34" charset="0"/>
              </a:rPr>
              <a:t>Cost Dynamics  </a:t>
            </a:r>
          </a:p>
        </p:txBody>
      </p:sp>
      <p:pic>
        <p:nvPicPr>
          <p:cNvPr id="3" name="Picture 2">
            <a:extLst>
              <a:ext uri="{FF2B5EF4-FFF2-40B4-BE49-F238E27FC236}">
                <a16:creationId xmlns:a16="http://schemas.microsoft.com/office/drawing/2014/main" id="{5E24E4B5-B14A-6A4E-F144-E3DC08965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929" y="975260"/>
            <a:ext cx="979947" cy="1034566"/>
          </a:xfrm>
          <a:prstGeom prst="rect">
            <a:avLst/>
          </a:prstGeom>
        </p:spPr>
      </p:pic>
      <p:pic>
        <p:nvPicPr>
          <p:cNvPr id="8" name="Picture 7">
            <a:extLst>
              <a:ext uri="{FF2B5EF4-FFF2-40B4-BE49-F238E27FC236}">
                <a16:creationId xmlns:a16="http://schemas.microsoft.com/office/drawing/2014/main" id="{DD964A37-A31F-18BC-92C6-41C91023B0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flipV="1">
            <a:off x="1590275" y="967817"/>
            <a:ext cx="646331" cy="646331"/>
          </a:xfrm>
          <a:prstGeom prst="rect">
            <a:avLst/>
          </a:prstGeom>
        </p:spPr>
      </p:pic>
      <p:sp>
        <p:nvSpPr>
          <p:cNvPr id="10" name="TextBox 9">
            <a:extLst>
              <a:ext uri="{FF2B5EF4-FFF2-40B4-BE49-F238E27FC236}">
                <a16:creationId xmlns:a16="http://schemas.microsoft.com/office/drawing/2014/main" id="{7CF7BD49-E809-F06B-3C38-0B3926B3957D}"/>
              </a:ext>
            </a:extLst>
          </p:cNvPr>
          <p:cNvSpPr txBox="1"/>
          <p:nvPr/>
        </p:nvSpPr>
        <p:spPr>
          <a:xfrm>
            <a:off x="2390773" y="1125686"/>
            <a:ext cx="9208399" cy="523220"/>
          </a:xfrm>
          <a:prstGeom prst="rect">
            <a:avLst/>
          </a:prstGeom>
          <a:noFill/>
        </p:spPr>
        <p:txBody>
          <a:bodyPr wrap="square">
            <a:spAutoFit/>
          </a:bodyPr>
          <a:lstStyle/>
          <a:p>
            <a:r>
              <a:rPr lang="en-US" sz="2800" b="1">
                <a:solidFill>
                  <a:schemeClr val="accent4"/>
                </a:solidFill>
                <a:latin typeface="Product Sans" panose="020B0403030502040203" pitchFamily="34" charset="0"/>
              </a:rPr>
              <a:t>RGB</a:t>
            </a:r>
            <a:r>
              <a:rPr lang="en-US" sz="2800">
                <a:latin typeface="Product Sans" panose="020B0403030502040203" pitchFamily="34" charset="0"/>
              </a:rPr>
              <a:t> can be reused for around </a:t>
            </a:r>
            <a:r>
              <a:rPr lang="en-US" sz="2800" b="1">
                <a:solidFill>
                  <a:schemeClr val="accent4"/>
                </a:solidFill>
                <a:latin typeface="Product Sans" panose="020B0403030502040203" pitchFamily="34" charset="0"/>
              </a:rPr>
              <a:t>6 - 7 </a:t>
            </a:r>
            <a:r>
              <a:rPr lang="en-US" sz="2800">
                <a:latin typeface="Product Sans" panose="020B0403030502040203" pitchFamily="34" charset="0"/>
              </a:rPr>
              <a:t>times</a:t>
            </a:r>
            <a:endParaRPr lang="en-US" sz="2800"/>
          </a:p>
        </p:txBody>
      </p:sp>
      <p:sp>
        <p:nvSpPr>
          <p:cNvPr id="11" name="TextBox 10">
            <a:extLst>
              <a:ext uri="{FF2B5EF4-FFF2-40B4-BE49-F238E27FC236}">
                <a16:creationId xmlns:a16="http://schemas.microsoft.com/office/drawing/2014/main" id="{9D4666B6-5920-913E-0A04-9B63195CDEE1}"/>
              </a:ext>
            </a:extLst>
          </p:cNvPr>
          <p:cNvSpPr txBox="1"/>
          <p:nvPr/>
        </p:nvSpPr>
        <p:spPr>
          <a:xfrm>
            <a:off x="3080943" y="1532099"/>
            <a:ext cx="1505796" cy="646331"/>
          </a:xfrm>
          <a:prstGeom prst="rect">
            <a:avLst/>
          </a:prstGeom>
          <a:noFill/>
        </p:spPr>
        <p:txBody>
          <a:bodyPr wrap="square" rtlCol="0">
            <a:spAutoFit/>
          </a:bodyPr>
          <a:lstStyle/>
          <a:p>
            <a:r>
              <a:rPr lang="en-US" sz="3600" b="1">
                <a:solidFill>
                  <a:schemeClr val="accent4"/>
                </a:solidFill>
                <a:latin typeface="Product Sans Black" panose="020B0A03030502040203" pitchFamily="34" charset="0"/>
              </a:rPr>
              <a:t> 57 %</a:t>
            </a:r>
          </a:p>
        </p:txBody>
      </p:sp>
      <p:sp>
        <p:nvSpPr>
          <p:cNvPr id="13" name="TextBox 12">
            <a:extLst>
              <a:ext uri="{FF2B5EF4-FFF2-40B4-BE49-F238E27FC236}">
                <a16:creationId xmlns:a16="http://schemas.microsoft.com/office/drawing/2014/main" id="{86ABDEFD-3397-6B51-4C68-F006704CA2B5}"/>
              </a:ext>
            </a:extLst>
          </p:cNvPr>
          <p:cNvSpPr txBox="1"/>
          <p:nvPr/>
        </p:nvSpPr>
        <p:spPr>
          <a:xfrm>
            <a:off x="4330678" y="1569213"/>
            <a:ext cx="7573271" cy="523220"/>
          </a:xfrm>
          <a:prstGeom prst="rect">
            <a:avLst/>
          </a:prstGeom>
          <a:noFill/>
        </p:spPr>
        <p:txBody>
          <a:bodyPr wrap="square">
            <a:spAutoFit/>
          </a:bodyPr>
          <a:lstStyle/>
          <a:p>
            <a:r>
              <a:rPr lang="en-US" sz="2800" dirty="0">
                <a:latin typeface="Product Sans" panose="020B0403030502040203" pitchFamily="34" charset="0"/>
              </a:rPr>
              <a:t>of glass bottles come back to the </a:t>
            </a:r>
            <a:r>
              <a:rPr lang="en-US" sz="2800" b="1" dirty="0">
                <a:latin typeface="Product Sans" panose="020B0403030502040203" pitchFamily="34" charset="0"/>
              </a:rPr>
              <a:t>ABInbev</a:t>
            </a:r>
            <a:endParaRPr lang="en-US" sz="2800" b="1" dirty="0"/>
          </a:p>
        </p:txBody>
      </p:sp>
      <p:sp>
        <p:nvSpPr>
          <p:cNvPr id="6" name="TextBox 5">
            <a:extLst>
              <a:ext uri="{FF2B5EF4-FFF2-40B4-BE49-F238E27FC236}">
                <a16:creationId xmlns:a16="http://schemas.microsoft.com/office/drawing/2014/main" id="{51E4880E-5F70-46F3-8F44-F261D9FC0839}"/>
              </a:ext>
            </a:extLst>
          </p:cNvPr>
          <p:cNvSpPr txBox="1"/>
          <p:nvPr/>
        </p:nvSpPr>
        <p:spPr>
          <a:xfrm>
            <a:off x="0" y="6543599"/>
            <a:ext cx="3608889" cy="369332"/>
          </a:xfrm>
          <a:prstGeom prst="rect">
            <a:avLst/>
          </a:prstGeom>
          <a:noFill/>
        </p:spPr>
        <p:txBody>
          <a:bodyPr wrap="square">
            <a:spAutoFit/>
          </a:bodyPr>
          <a:lstStyle/>
          <a:p>
            <a:r>
              <a:rPr lang="en-US" b="1">
                <a:solidFill>
                  <a:schemeClr val="accent4"/>
                </a:solidFill>
                <a:latin typeface="Product Sans" panose="020B0403030502040203" pitchFamily="34" charset="0"/>
              </a:rPr>
              <a:t>RGB = Returnable Glass Bottle</a:t>
            </a:r>
            <a:endParaRPr lang="en-US"/>
          </a:p>
        </p:txBody>
      </p:sp>
      <p:sp>
        <p:nvSpPr>
          <p:cNvPr id="7" name="TextBox 6">
            <a:extLst>
              <a:ext uri="{FF2B5EF4-FFF2-40B4-BE49-F238E27FC236}">
                <a16:creationId xmlns:a16="http://schemas.microsoft.com/office/drawing/2014/main" id="{8F52B1F7-461D-1498-6803-C0F1D8E6471B}"/>
              </a:ext>
            </a:extLst>
          </p:cNvPr>
          <p:cNvSpPr txBox="1"/>
          <p:nvPr/>
        </p:nvSpPr>
        <p:spPr>
          <a:xfrm>
            <a:off x="1128615" y="2712577"/>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Cost of reused bottle(650ml) :  </a:t>
            </a:r>
          </a:p>
        </p:txBody>
      </p:sp>
      <p:sp>
        <p:nvSpPr>
          <p:cNvPr id="9" name="TextBox 8">
            <a:extLst>
              <a:ext uri="{FF2B5EF4-FFF2-40B4-BE49-F238E27FC236}">
                <a16:creationId xmlns:a16="http://schemas.microsoft.com/office/drawing/2014/main" id="{457EEB86-6465-E2B5-ED75-A3CDBB64C51B}"/>
              </a:ext>
            </a:extLst>
          </p:cNvPr>
          <p:cNvSpPr txBox="1"/>
          <p:nvPr/>
        </p:nvSpPr>
        <p:spPr>
          <a:xfrm>
            <a:off x="4375933" y="2695408"/>
            <a:ext cx="3312085" cy="400110"/>
          </a:xfrm>
          <a:prstGeom prst="rect">
            <a:avLst/>
          </a:prstGeom>
          <a:noFill/>
        </p:spPr>
        <p:txBody>
          <a:bodyPr wrap="square" rtlCol="0">
            <a:spAutoFit/>
          </a:bodyPr>
          <a:lstStyle/>
          <a:p>
            <a:r>
              <a:rPr lang="en-US" sz="2000" b="1">
                <a:latin typeface="Product Sans Black" panose="020B0A03030502040203" pitchFamily="34" charset="0"/>
              </a:rPr>
              <a:t> </a:t>
            </a:r>
            <a:r>
              <a:rPr lang="en-US" b="1">
                <a:latin typeface="Product Sans" panose="020B0403030502040203" pitchFamily="34" charset="0"/>
              </a:rPr>
              <a:t>₹ </a:t>
            </a:r>
            <a:r>
              <a:rPr lang="en-US" sz="2000" b="1">
                <a:latin typeface="Product Sans Black" panose="020B0A03030502040203" pitchFamily="34" charset="0"/>
              </a:rPr>
              <a:t> 6.46</a:t>
            </a:r>
            <a:endParaRPr lang="en-US" sz="2400" b="1">
              <a:latin typeface="Product Sans Black" panose="020B0A03030502040203" pitchFamily="34" charset="0"/>
            </a:endParaRPr>
          </a:p>
        </p:txBody>
      </p:sp>
      <p:sp>
        <p:nvSpPr>
          <p:cNvPr id="5" name="TextBox 4">
            <a:extLst>
              <a:ext uri="{FF2B5EF4-FFF2-40B4-BE49-F238E27FC236}">
                <a16:creationId xmlns:a16="http://schemas.microsoft.com/office/drawing/2014/main" id="{2F2A4996-F155-3746-5234-533DC990E81B}"/>
              </a:ext>
            </a:extLst>
          </p:cNvPr>
          <p:cNvSpPr txBox="1"/>
          <p:nvPr/>
        </p:nvSpPr>
        <p:spPr>
          <a:xfrm>
            <a:off x="1384874" y="2245541"/>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Cost of new bottle(650ml) :  </a:t>
            </a:r>
          </a:p>
        </p:txBody>
      </p:sp>
      <p:sp>
        <p:nvSpPr>
          <p:cNvPr id="12" name="TextBox 11">
            <a:extLst>
              <a:ext uri="{FF2B5EF4-FFF2-40B4-BE49-F238E27FC236}">
                <a16:creationId xmlns:a16="http://schemas.microsoft.com/office/drawing/2014/main" id="{28B72103-6659-FD52-8259-AF79FDCA5130}"/>
              </a:ext>
            </a:extLst>
          </p:cNvPr>
          <p:cNvSpPr txBox="1"/>
          <p:nvPr/>
        </p:nvSpPr>
        <p:spPr>
          <a:xfrm>
            <a:off x="4306190" y="2248931"/>
            <a:ext cx="1130058" cy="400110"/>
          </a:xfrm>
          <a:prstGeom prst="rect">
            <a:avLst/>
          </a:prstGeom>
          <a:noFill/>
        </p:spPr>
        <p:txBody>
          <a:bodyPr wrap="square" rtlCol="0">
            <a:spAutoFit/>
          </a:bodyPr>
          <a:lstStyle/>
          <a:p>
            <a:r>
              <a:rPr lang="en-US" sz="2000" b="1">
                <a:latin typeface="Product Sans Black" panose="020B0A03030502040203" pitchFamily="34" charset="0"/>
              </a:rPr>
              <a:t> </a:t>
            </a:r>
            <a:r>
              <a:rPr lang="en-US" b="1">
                <a:latin typeface="Product Sans" panose="020B0403030502040203" pitchFamily="34" charset="0"/>
              </a:rPr>
              <a:t>₹ </a:t>
            </a:r>
            <a:r>
              <a:rPr lang="en-US" sz="2000" b="1">
                <a:latin typeface="Product Sans Black" panose="020B0A03030502040203" pitchFamily="34" charset="0"/>
              </a:rPr>
              <a:t> 16.94</a:t>
            </a:r>
            <a:endParaRPr lang="en-US" sz="2400" b="1">
              <a:latin typeface="Product Sans Black" panose="020B0A03030502040203" pitchFamily="34" charset="0"/>
            </a:endParaRPr>
          </a:p>
        </p:txBody>
      </p:sp>
      <p:sp>
        <p:nvSpPr>
          <p:cNvPr id="14" name="TextBox 13">
            <a:extLst>
              <a:ext uri="{FF2B5EF4-FFF2-40B4-BE49-F238E27FC236}">
                <a16:creationId xmlns:a16="http://schemas.microsoft.com/office/drawing/2014/main" id="{F6EB9393-E339-CB48-51B9-619A4CE65695}"/>
              </a:ext>
            </a:extLst>
          </p:cNvPr>
          <p:cNvSpPr txBox="1"/>
          <p:nvPr/>
        </p:nvSpPr>
        <p:spPr>
          <a:xfrm>
            <a:off x="1441996" y="3201848"/>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Savings per bottle(650ml) :  </a:t>
            </a:r>
          </a:p>
        </p:txBody>
      </p:sp>
      <p:sp>
        <p:nvSpPr>
          <p:cNvPr id="15" name="TextBox 14">
            <a:extLst>
              <a:ext uri="{FF2B5EF4-FFF2-40B4-BE49-F238E27FC236}">
                <a16:creationId xmlns:a16="http://schemas.microsoft.com/office/drawing/2014/main" id="{DBC8CA48-6CCC-905C-E06E-11D21913741A}"/>
              </a:ext>
            </a:extLst>
          </p:cNvPr>
          <p:cNvSpPr txBox="1"/>
          <p:nvPr/>
        </p:nvSpPr>
        <p:spPr>
          <a:xfrm>
            <a:off x="4335542" y="3204311"/>
            <a:ext cx="3312085" cy="400110"/>
          </a:xfrm>
          <a:prstGeom prst="rect">
            <a:avLst/>
          </a:prstGeom>
          <a:noFill/>
        </p:spPr>
        <p:txBody>
          <a:bodyPr wrap="square" rtlCol="0">
            <a:spAutoFit/>
          </a:bodyPr>
          <a:lstStyle/>
          <a:p>
            <a:r>
              <a:rPr lang="en-US" sz="2000" b="1">
                <a:latin typeface="Product Sans Black" panose="020B0A03030502040203" pitchFamily="34" charset="0"/>
              </a:rPr>
              <a:t> </a:t>
            </a:r>
            <a:r>
              <a:rPr lang="en-US" b="1">
                <a:latin typeface="Product Sans" panose="020B0403030502040203" pitchFamily="34" charset="0"/>
              </a:rPr>
              <a:t>₹ </a:t>
            </a:r>
            <a:r>
              <a:rPr lang="en-US" sz="2000" b="1">
                <a:latin typeface="Product Sans Black" panose="020B0A03030502040203" pitchFamily="34" charset="0"/>
              </a:rPr>
              <a:t> 10.48</a:t>
            </a:r>
            <a:endParaRPr lang="en-US" sz="2400" b="1">
              <a:latin typeface="Product Sans Black" panose="020B0A03030502040203" pitchFamily="34" charset="0"/>
            </a:endParaRPr>
          </a:p>
        </p:txBody>
      </p:sp>
      <p:sp>
        <p:nvSpPr>
          <p:cNvPr id="16" name="TextBox 15">
            <a:extLst>
              <a:ext uri="{FF2B5EF4-FFF2-40B4-BE49-F238E27FC236}">
                <a16:creationId xmlns:a16="http://schemas.microsoft.com/office/drawing/2014/main" id="{0EC68B0E-19F3-ED8A-921D-269986273C05}"/>
              </a:ext>
            </a:extLst>
          </p:cNvPr>
          <p:cNvSpPr txBox="1"/>
          <p:nvPr/>
        </p:nvSpPr>
        <p:spPr>
          <a:xfrm>
            <a:off x="657929" y="3593597"/>
            <a:ext cx="4160848" cy="646331"/>
          </a:xfrm>
          <a:prstGeom prst="rect">
            <a:avLst/>
          </a:prstGeom>
          <a:noFill/>
        </p:spPr>
        <p:txBody>
          <a:bodyPr wrap="square" rtlCol="0">
            <a:spAutoFit/>
          </a:bodyPr>
          <a:lstStyle/>
          <a:p>
            <a:r>
              <a:rPr lang="en-US" sz="3600" b="1">
                <a:solidFill>
                  <a:schemeClr val="accent4"/>
                </a:solidFill>
                <a:latin typeface="Product Sans Black" panose="020B0A03030502040203" pitchFamily="34" charset="0"/>
              </a:rPr>
              <a:t> 61.9 %  &amp; 62.8 %</a:t>
            </a:r>
          </a:p>
        </p:txBody>
      </p:sp>
      <p:sp>
        <p:nvSpPr>
          <p:cNvPr id="17" name="TextBox 16">
            <a:extLst>
              <a:ext uri="{FF2B5EF4-FFF2-40B4-BE49-F238E27FC236}">
                <a16:creationId xmlns:a16="http://schemas.microsoft.com/office/drawing/2014/main" id="{A731A4E2-55D8-7572-C109-F44776F85577}"/>
              </a:ext>
            </a:extLst>
          </p:cNvPr>
          <p:cNvSpPr txBox="1"/>
          <p:nvPr/>
        </p:nvSpPr>
        <p:spPr>
          <a:xfrm>
            <a:off x="4387467" y="3610764"/>
            <a:ext cx="7211706" cy="646331"/>
          </a:xfrm>
          <a:prstGeom prst="rect">
            <a:avLst/>
          </a:prstGeom>
          <a:noFill/>
        </p:spPr>
        <p:txBody>
          <a:bodyPr wrap="square">
            <a:spAutoFit/>
          </a:bodyPr>
          <a:lstStyle/>
          <a:p>
            <a:r>
              <a:rPr lang="en-US">
                <a:latin typeface="Product Sans" panose="020B0403030502040203" pitchFamily="34" charset="0"/>
              </a:rPr>
              <a:t>of direct savings on procurement of packaging material i.e. </a:t>
            </a:r>
            <a:r>
              <a:rPr lang="en-US" b="1">
                <a:latin typeface="Product Sans" panose="020B0403030502040203" pitchFamily="34" charset="0"/>
              </a:rPr>
              <a:t>Glass Bottles </a:t>
            </a:r>
            <a:r>
              <a:rPr lang="en-US">
                <a:latin typeface="Product Sans" panose="020B0403030502040203" pitchFamily="34" charset="0"/>
              </a:rPr>
              <a:t>of </a:t>
            </a:r>
            <a:r>
              <a:rPr lang="en-US" b="1">
                <a:latin typeface="Product Sans" panose="020B0403030502040203" pitchFamily="34" charset="0"/>
              </a:rPr>
              <a:t>650ml</a:t>
            </a:r>
            <a:r>
              <a:rPr lang="en-US">
                <a:latin typeface="Product Sans" panose="020B0403030502040203" pitchFamily="34" charset="0"/>
              </a:rPr>
              <a:t> and </a:t>
            </a:r>
            <a:r>
              <a:rPr lang="en-US" b="1">
                <a:latin typeface="Product Sans" panose="020B0403030502040203" pitchFamily="34" charset="0"/>
              </a:rPr>
              <a:t>330 ml</a:t>
            </a:r>
            <a:r>
              <a:rPr lang="en-US">
                <a:latin typeface="Product Sans" panose="020B0403030502040203" pitchFamily="34" charset="0"/>
              </a:rPr>
              <a:t> each</a:t>
            </a:r>
            <a:endParaRPr lang="en-US"/>
          </a:p>
        </p:txBody>
      </p:sp>
      <p:sp>
        <p:nvSpPr>
          <p:cNvPr id="18" name="TextBox 17">
            <a:extLst>
              <a:ext uri="{FF2B5EF4-FFF2-40B4-BE49-F238E27FC236}">
                <a16:creationId xmlns:a16="http://schemas.microsoft.com/office/drawing/2014/main" id="{4FF977A6-2133-AD2B-1B28-642AF1BFF8B8}"/>
              </a:ext>
            </a:extLst>
          </p:cNvPr>
          <p:cNvSpPr txBox="1"/>
          <p:nvPr/>
        </p:nvSpPr>
        <p:spPr>
          <a:xfrm>
            <a:off x="132080" y="4382986"/>
            <a:ext cx="9157341" cy="523220"/>
          </a:xfrm>
          <a:prstGeom prst="rect">
            <a:avLst/>
          </a:prstGeom>
          <a:noFill/>
        </p:spPr>
        <p:txBody>
          <a:bodyPr wrap="square" rtlCol="0">
            <a:spAutoFit/>
          </a:bodyPr>
          <a:lstStyle/>
          <a:p>
            <a:r>
              <a:rPr lang="en-US" sz="2800" b="1">
                <a:solidFill>
                  <a:srgbClr val="FFFF00"/>
                </a:solidFill>
                <a:highlight>
                  <a:srgbClr val="000000"/>
                </a:highlight>
                <a:latin typeface="Product Sans" panose="020B0403030502040203" pitchFamily="34" charset="0"/>
              </a:rPr>
              <a:t>Target :  </a:t>
            </a:r>
          </a:p>
        </p:txBody>
      </p:sp>
      <p:sp>
        <p:nvSpPr>
          <p:cNvPr id="19" name="TextBox 18">
            <a:extLst>
              <a:ext uri="{FF2B5EF4-FFF2-40B4-BE49-F238E27FC236}">
                <a16:creationId xmlns:a16="http://schemas.microsoft.com/office/drawing/2014/main" id="{39723DAB-D052-D7F0-31CC-EFAA62D616D9}"/>
              </a:ext>
            </a:extLst>
          </p:cNvPr>
          <p:cNvSpPr txBox="1"/>
          <p:nvPr/>
        </p:nvSpPr>
        <p:spPr>
          <a:xfrm>
            <a:off x="1464042" y="4313406"/>
            <a:ext cx="1505796" cy="646331"/>
          </a:xfrm>
          <a:prstGeom prst="rect">
            <a:avLst/>
          </a:prstGeom>
          <a:noFill/>
        </p:spPr>
        <p:txBody>
          <a:bodyPr wrap="square" rtlCol="0">
            <a:spAutoFit/>
          </a:bodyPr>
          <a:lstStyle/>
          <a:p>
            <a:r>
              <a:rPr lang="en-US" sz="3600" b="1">
                <a:solidFill>
                  <a:schemeClr val="accent4"/>
                </a:solidFill>
                <a:latin typeface="Product Sans Black" panose="020B0A03030502040203" pitchFamily="34" charset="0"/>
              </a:rPr>
              <a:t> 70 %</a:t>
            </a:r>
          </a:p>
        </p:txBody>
      </p:sp>
      <p:sp>
        <p:nvSpPr>
          <p:cNvPr id="20" name="Rectangle 19">
            <a:extLst>
              <a:ext uri="{FF2B5EF4-FFF2-40B4-BE49-F238E27FC236}">
                <a16:creationId xmlns:a16="http://schemas.microsoft.com/office/drawing/2014/main" id="{BD1E2738-E4C2-C9F8-37D5-A211D2D764B4}"/>
              </a:ext>
            </a:extLst>
          </p:cNvPr>
          <p:cNvSpPr/>
          <p:nvPr/>
        </p:nvSpPr>
        <p:spPr>
          <a:xfrm>
            <a:off x="3276316" y="4358837"/>
            <a:ext cx="8324822" cy="1231468"/>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sp>
        <p:nvSpPr>
          <p:cNvPr id="21" name="TextBox 20">
            <a:extLst>
              <a:ext uri="{FF2B5EF4-FFF2-40B4-BE49-F238E27FC236}">
                <a16:creationId xmlns:a16="http://schemas.microsoft.com/office/drawing/2014/main" id="{71C12CBD-0F35-6030-F502-1501800F3D26}"/>
              </a:ext>
            </a:extLst>
          </p:cNvPr>
          <p:cNvSpPr txBox="1"/>
          <p:nvPr/>
        </p:nvSpPr>
        <p:spPr>
          <a:xfrm>
            <a:off x="1232557" y="4983886"/>
            <a:ext cx="1505796" cy="646331"/>
          </a:xfrm>
          <a:prstGeom prst="rect">
            <a:avLst/>
          </a:prstGeom>
          <a:noFill/>
        </p:spPr>
        <p:txBody>
          <a:bodyPr wrap="square" rtlCol="0">
            <a:spAutoFit/>
          </a:bodyPr>
          <a:lstStyle/>
          <a:p>
            <a:r>
              <a:rPr lang="en-US" sz="3600" b="1">
                <a:solidFill>
                  <a:schemeClr val="accent4"/>
                </a:solidFill>
                <a:latin typeface="Product Sans Black" panose="020B0A03030502040203" pitchFamily="34" charset="0"/>
              </a:rPr>
              <a:t> 13 %</a:t>
            </a:r>
          </a:p>
        </p:txBody>
      </p:sp>
      <p:sp>
        <p:nvSpPr>
          <p:cNvPr id="22" name="TextBox 21">
            <a:extLst>
              <a:ext uri="{FF2B5EF4-FFF2-40B4-BE49-F238E27FC236}">
                <a16:creationId xmlns:a16="http://schemas.microsoft.com/office/drawing/2014/main" id="{FEFE0D1E-348E-E5A7-2175-3079C74534E8}"/>
              </a:ext>
            </a:extLst>
          </p:cNvPr>
          <p:cNvSpPr txBox="1"/>
          <p:nvPr/>
        </p:nvSpPr>
        <p:spPr>
          <a:xfrm>
            <a:off x="162073" y="5823699"/>
            <a:ext cx="3312085" cy="400110"/>
          </a:xfrm>
          <a:prstGeom prst="rect">
            <a:avLst/>
          </a:prstGeom>
          <a:noFill/>
        </p:spPr>
        <p:txBody>
          <a:bodyPr wrap="square" rtlCol="0">
            <a:spAutoFit/>
          </a:bodyPr>
          <a:lstStyle/>
          <a:p>
            <a:r>
              <a:rPr lang="en-US" sz="2000" b="1">
                <a:latin typeface="Product Sans Black" panose="020B0A03030502040203" pitchFamily="34" charset="0"/>
              </a:rPr>
              <a:t> </a:t>
            </a:r>
            <a:r>
              <a:rPr lang="en-US" sz="2000" b="1">
                <a:latin typeface="Product Sans" panose="020B0403030502040203" pitchFamily="34" charset="0"/>
              </a:rPr>
              <a:t>0.13*700M = 91M</a:t>
            </a:r>
            <a:endParaRPr lang="en-US" sz="2400" b="1">
              <a:latin typeface="Product Sans Black" panose="020B0A03030502040203" pitchFamily="34" charset="0"/>
            </a:endParaRPr>
          </a:p>
        </p:txBody>
      </p:sp>
      <p:sp>
        <p:nvSpPr>
          <p:cNvPr id="23" name="TextBox 22">
            <a:extLst>
              <a:ext uri="{FF2B5EF4-FFF2-40B4-BE49-F238E27FC236}">
                <a16:creationId xmlns:a16="http://schemas.microsoft.com/office/drawing/2014/main" id="{C8B53B25-7D84-43E2-9E35-0BE71C514B90}"/>
              </a:ext>
            </a:extLst>
          </p:cNvPr>
          <p:cNvSpPr txBox="1"/>
          <p:nvPr/>
        </p:nvSpPr>
        <p:spPr>
          <a:xfrm>
            <a:off x="3649088" y="5812997"/>
            <a:ext cx="3901196" cy="400110"/>
          </a:xfrm>
          <a:prstGeom prst="rect">
            <a:avLst/>
          </a:prstGeom>
          <a:noFill/>
        </p:spPr>
        <p:txBody>
          <a:bodyPr wrap="square" rtlCol="0">
            <a:spAutoFit/>
          </a:bodyPr>
          <a:lstStyle/>
          <a:p>
            <a:r>
              <a:rPr lang="en-US" sz="2000" b="1">
                <a:latin typeface="Product Sans" panose="020B0403030502040203" pitchFamily="34" charset="0"/>
              </a:rPr>
              <a:t>91M * ₹ </a:t>
            </a:r>
            <a:r>
              <a:rPr lang="en-US" sz="2000" b="1">
                <a:latin typeface="Product Sans Black" panose="020B0A03030502040203" pitchFamily="34" charset="0"/>
              </a:rPr>
              <a:t> 10.48 = </a:t>
            </a:r>
            <a:r>
              <a:rPr lang="en-US" sz="2000" b="1">
                <a:latin typeface="Product Sans" panose="020B0403030502040203" pitchFamily="34" charset="0"/>
              </a:rPr>
              <a:t>₹  953.68M</a:t>
            </a:r>
            <a:endParaRPr lang="en-US" sz="2400" b="1">
              <a:latin typeface="Product Sans Black" panose="020B0A03030502040203" pitchFamily="34" charset="0"/>
            </a:endParaRPr>
          </a:p>
        </p:txBody>
      </p:sp>
      <p:sp>
        <p:nvSpPr>
          <p:cNvPr id="24" name="TextBox 23">
            <a:extLst>
              <a:ext uri="{FF2B5EF4-FFF2-40B4-BE49-F238E27FC236}">
                <a16:creationId xmlns:a16="http://schemas.microsoft.com/office/drawing/2014/main" id="{C78FD986-1EFB-1294-ED9E-FB1D44FBF9E8}"/>
              </a:ext>
            </a:extLst>
          </p:cNvPr>
          <p:cNvSpPr txBox="1"/>
          <p:nvPr/>
        </p:nvSpPr>
        <p:spPr>
          <a:xfrm>
            <a:off x="5694077" y="2719161"/>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Cost of reused bottle(330ml) :  </a:t>
            </a:r>
          </a:p>
        </p:txBody>
      </p:sp>
      <p:sp>
        <p:nvSpPr>
          <p:cNvPr id="25" name="TextBox 24">
            <a:extLst>
              <a:ext uri="{FF2B5EF4-FFF2-40B4-BE49-F238E27FC236}">
                <a16:creationId xmlns:a16="http://schemas.microsoft.com/office/drawing/2014/main" id="{44FE43F2-0DAB-793A-CE30-36F5E8E90A60}"/>
              </a:ext>
            </a:extLst>
          </p:cNvPr>
          <p:cNvSpPr txBox="1"/>
          <p:nvPr/>
        </p:nvSpPr>
        <p:spPr>
          <a:xfrm>
            <a:off x="5991584" y="2252047"/>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Cost of new bottle(330ml) :  </a:t>
            </a:r>
          </a:p>
        </p:txBody>
      </p:sp>
      <p:sp>
        <p:nvSpPr>
          <p:cNvPr id="26" name="TextBox 25">
            <a:extLst>
              <a:ext uri="{FF2B5EF4-FFF2-40B4-BE49-F238E27FC236}">
                <a16:creationId xmlns:a16="http://schemas.microsoft.com/office/drawing/2014/main" id="{90F413E3-30B0-AE09-A279-CA4D91A11755}"/>
              </a:ext>
            </a:extLst>
          </p:cNvPr>
          <p:cNvSpPr txBox="1"/>
          <p:nvPr/>
        </p:nvSpPr>
        <p:spPr>
          <a:xfrm>
            <a:off x="9002092" y="2230902"/>
            <a:ext cx="3312085" cy="400110"/>
          </a:xfrm>
          <a:prstGeom prst="rect">
            <a:avLst/>
          </a:prstGeom>
          <a:noFill/>
        </p:spPr>
        <p:txBody>
          <a:bodyPr wrap="square" rtlCol="0">
            <a:spAutoFit/>
          </a:bodyPr>
          <a:lstStyle/>
          <a:p>
            <a:r>
              <a:rPr lang="en-US" sz="2000" b="1">
                <a:latin typeface="Product Sans Black" panose="020B0A03030502040203" pitchFamily="34" charset="0"/>
              </a:rPr>
              <a:t> </a:t>
            </a:r>
            <a:r>
              <a:rPr lang="en-US" b="1">
                <a:latin typeface="Product Sans" panose="020B0403030502040203" pitchFamily="34" charset="0"/>
              </a:rPr>
              <a:t>₹ </a:t>
            </a:r>
            <a:r>
              <a:rPr lang="en-US" sz="2000" b="1">
                <a:latin typeface="Product Sans Black" panose="020B0A03030502040203" pitchFamily="34" charset="0"/>
              </a:rPr>
              <a:t> 12.94</a:t>
            </a:r>
            <a:endParaRPr lang="en-US" sz="2400" b="1">
              <a:latin typeface="Product Sans Black" panose="020B0A03030502040203" pitchFamily="34" charset="0"/>
            </a:endParaRPr>
          </a:p>
        </p:txBody>
      </p:sp>
      <p:sp>
        <p:nvSpPr>
          <p:cNvPr id="27" name="TextBox 26">
            <a:extLst>
              <a:ext uri="{FF2B5EF4-FFF2-40B4-BE49-F238E27FC236}">
                <a16:creationId xmlns:a16="http://schemas.microsoft.com/office/drawing/2014/main" id="{1B334D97-3B01-2115-BF2F-AFD3C9F053BF}"/>
              </a:ext>
            </a:extLst>
          </p:cNvPr>
          <p:cNvSpPr txBox="1"/>
          <p:nvPr/>
        </p:nvSpPr>
        <p:spPr>
          <a:xfrm>
            <a:off x="9002093" y="2655120"/>
            <a:ext cx="3312085" cy="400110"/>
          </a:xfrm>
          <a:prstGeom prst="rect">
            <a:avLst/>
          </a:prstGeom>
          <a:noFill/>
        </p:spPr>
        <p:txBody>
          <a:bodyPr wrap="square" rtlCol="0">
            <a:spAutoFit/>
          </a:bodyPr>
          <a:lstStyle/>
          <a:p>
            <a:r>
              <a:rPr lang="en-US" sz="2000" b="1">
                <a:latin typeface="Product Sans Black" panose="020B0A03030502040203" pitchFamily="34" charset="0"/>
              </a:rPr>
              <a:t> </a:t>
            </a:r>
            <a:r>
              <a:rPr lang="en-US" b="1">
                <a:latin typeface="Product Sans" panose="020B0403030502040203" pitchFamily="34" charset="0"/>
              </a:rPr>
              <a:t>₹ </a:t>
            </a:r>
            <a:r>
              <a:rPr lang="en-US" sz="2000" b="1">
                <a:latin typeface="Product Sans Black" panose="020B0A03030502040203" pitchFamily="34" charset="0"/>
              </a:rPr>
              <a:t> 4.82</a:t>
            </a:r>
            <a:endParaRPr lang="en-US" sz="2400" b="1">
              <a:latin typeface="Product Sans Black" panose="020B0A03030502040203" pitchFamily="34" charset="0"/>
            </a:endParaRPr>
          </a:p>
        </p:txBody>
      </p:sp>
      <p:sp>
        <p:nvSpPr>
          <p:cNvPr id="28" name="TextBox 27">
            <a:extLst>
              <a:ext uri="{FF2B5EF4-FFF2-40B4-BE49-F238E27FC236}">
                <a16:creationId xmlns:a16="http://schemas.microsoft.com/office/drawing/2014/main" id="{D8E56275-7EC1-3B5F-3F5A-313C45CA1678}"/>
              </a:ext>
            </a:extLst>
          </p:cNvPr>
          <p:cNvSpPr txBox="1"/>
          <p:nvPr/>
        </p:nvSpPr>
        <p:spPr>
          <a:xfrm>
            <a:off x="6056622" y="3163334"/>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Savings per bottle(330ml) :  </a:t>
            </a:r>
          </a:p>
        </p:txBody>
      </p:sp>
      <p:sp>
        <p:nvSpPr>
          <p:cNvPr id="29" name="TextBox 28">
            <a:extLst>
              <a:ext uri="{FF2B5EF4-FFF2-40B4-BE49-F238E27FC236}">
                <a16:creationId xmlns:a16="http://schemas.microsoft.com/office/drawing/2014/main" id="{BF6B6204-0655-570C-8662-A4B23BAD81FE}"/>
              </a:ext>
            </a:extLst>
          </p:cNvPr>
          <p:cNvSpPr txBox="1"/>
          <p:nvPr/>
        </p:nvSpPr>
        <p:spPr>
          <a:xfrm>
            <a:off x="3269597" y="4347286"/>
            <a:ext cx="3608889" cy="400110"/>
          </a:xfrm>
          <a:prstGeom prst="rect">
            <a:avLst/>
          </a:prstGeom>
          <a:noFill/>
        </p:spPr>
        <p:txBody>
          <a:bodyPr wrap="square">
            <a:spAutoFit/>
          </a:bodyPr>
          <a:lstStyle/>
          <a:p>
            <a:r>
              <a:rPr lang="en-US" sz="2000" b="1">
                <a:solidFill>
                  <a:srgbClr val="010101"/>
                </a:solidFill>
                <a:latin typeface="Product Sans" panose="020B0403030502040203" pitchFamily="34" charset="0"/>
              </a:rPr>
              <a:t>Why 70% target??</a:t>
            </a:r>
            <a:endParaRPr lang="en-US" sz="2000">
              <a:solidFill>
                <a:srgbClr val="010101"/>
              </a:solidFill>
            </a:endParaRPr>
          </a:p>
        </p:txBody>
      </p:sp>
      <p:sp>
        <p:nvSpPr>
          <p:cNvPr id="30" name="TextBox 29">
            <a:extLst>
              <a:ext uri="{FF2B5EF4-FFF2-40B4-BE49-F238E27FC236}">
                <a16:creationId xmlns:a16="http://schemas.microsoft.com/office/drawing/2014/main" id="{CD1130D9-D6D5-C8D3-9C0C-219F377DF7FB}"/>
              </a:ext>
            </a:extLst>
          </p:cNvPr>
          <p:cNvSpPr txBox="1"/>
          <p:nvPr/>
        </p:nvSpPr>
        <p:spPr>
          <a:xfrm>
            <a:off x="9015205" y="3139712"/>
            <a:ext cx="3312085" cy="400110"/>
          </a:xfrm>
          <a:prstGeom prst="rect">
            <a:avLst/>
          </a:prstGeom>
          <a:noFill/>
        </p:spPr>
        <p:txBody>
          <a:bodyPr wrap="square" rtlCol="0">
            <a:spAutoFit/>
          </a:bodyPr>
          <a:lstStyle/>
          <a:p>
            <a:r>
              <a:rPr lang="en-US" sz="2000" b="1">
                <a:latin typeface="Product Sans Black" panose="020B0A03030502040203" pitchFamily="34" charset="0"/>
              </a:rPr>
              <a:t> </a:t>
            </a:r>
            <a:r>
              <a:rPr lang="en-US" b="1">
                <a:latin typeface="Product Sans" panose="020B0403030502040203" pitchFamily="34" charset="0"/>
              </a:rPr>
              <a:t>₹ </a:t>
            </a:r>
            <a:r>
              <a:rPr lang="en-US" sz="2000" b="1">
                <a:latin typeface="Product Sans Black" panose="020B0A03030502040203" pitchFamily="34" charset="0"/>
              </a:rPr>
              <a:t> 8.12</a:t>
            </a:r>
            <a:endParaRPr lang="en-US" sz="2400" b="1">
              <a:latin typeface="Product Sans Black" panose="020B0A03030502040203" pitchFamily="34" charset="0"/>
            </a:endParaRPr>
          </a:p>
        </p:txBody>
      </p:sp>
      <p:sp>
        <p:nvSpPr>
          <p:cNvPr id="31" name="TextBox 30">
            <a:extLst>
              <a:ext uri="{FF2B5EF4-FFF2-40B4-BE49-F238E27FC236}">
                <a16:creationId xmlns:a16="http://schemas.microsoft.com/office/drawing/2014/main" id="{EFB13107-9C7F-05F0-9368-E32D73A39F02}"/>
              </a:ext>
            </a:extLst>
          </p:cNvPr>
          <p:cNvSpPr txBox="1"/>
          <p:nvPr/>
        </p:nvSpPr>
        <p:spPr>
          <a:xfrm>
            <a:off x="3325311" y="3546154"/>
            <a:ext cx="2400879" cy="646331"/>
          </a:xfrm>
          <a:prstGeom prst="rect">
            <a:avLst/>
          </a:prstGeom>
          <a:noFill/>
        </p:spPr>
        <p:txBody>
          <a:bodyPr wrap="square" rtlCol="0">
            <a:spAutoFit/>
          </a:bodyPr>
          <a:lstStyle/>
          <a:p>
            <a:r>
              <a:rPr lang="en-US" sz="3600" b="1">
                <a:solidFill>
                  <a:schemeClr val="accent4"/>
                </a:solidFill>
                <a:latin typeface="Product Sans Black" panose="020B0A03030502040203" pitchFamily="34" charset="0"/>
              </a:rPr>
              <a:t> </a:t>
            </a:r>
          </a:p>
        </p:txBody>
      </p:sp>
      <p:sp>
        <p:nvSpPr>
          <p:cNvPr id="38" name="TextBox 37">
            <a:extLst>
              <a:ext uri="{FF2B5EF4-FFF2-40B4-BE49-F238E27FC236}">
                <a16:creationId xmlns:a16="http://schemas.microsoft.com/office/drawing/2014/main" id="{84257AC1-9413-352B-6DE4-3602CFB9AB23}"/>
              </a:ext>
            </a:extLst>
          </p:cNvPr>
          <p:cNvSpPr txBox="1"/>
          <p:nvPr/>
        </p:nvSpPr>
        <p:spPr>
          <a:xfrm>
            <a:off x="3269597" y="4673232"/>
            <a:ext cx="8213827" cy="923330"/>
          </a:xfrm>
          <a:prstGeom prst="rect">
            <a:avLst/>
          </a:prstGeom>
          <a:noFill/>
        </p:spPr>
        <p:txBody>
          <a:bodyPr wrap="square">
            <a:spAutoFit/>
          </a:bodyPr>
          <a:lstStyle/>
          <a:p>
            <a:r>
              <a:rPr lang="en-US" b="0" i="0">
                <a:effectLst/>
                <a:latin typeface="Product Sans" panose="020B0403030502040203" pitchFamily="34" charset="0"/>
              </a:rPr>
              <a:t>Target 70% returns to beat the 57% status quo, cut cost and CO₂ with 6–7 reuse cycles, and neutralize losses from breakage and leakage through smarter incentives and logistics.</a:t>
            </a:r>
            <a:endParaRPr lang="en-US">
              <a:latin typeface="Product Sans" panose="020B0403030502040203" pitchFamily="34" charset="0"/>
            </a:endParaRPr>
          </a:p>
        </p:txBody>
      </p:sp>
      <p:sp>
        <p:nvSpPr>
          <p:cNvPr id="39" name="TextBox 38">
            <a:extLst>
              <a:ext uri="{FF2B5EF4-FFF2-40B4-BE49-F238E27FC236}">
                <a16:creationId xmlns:a16="http://schemas.microsoft.com/office/drawing/2014/main" id="{397C8E0F-D429-D1FB-4825-2E801D4E0310}"/>
              </a:ext>
            </a:extLst>
          </p:cNvPr>
          <p:cNvSpPr txBox="1"/>
          <p:nvPr/>
        </p:nvSpPr>
        <p:spPr>
          <a:xfrm>
            <a:off x="214502" y="5142302"/>
            <a:ext cx="3769447" cy="369332"/>
          </a:xfrm>
          <a:prstGeom prst="rect">
            <a:avLst/>
          </a:prstGeom>
          <a:noFill/>
        </p:spPr>
        <p:txBody>
          <a:bodyPr wrap="square" rtlCol="0">
            <a:spAutoFit/>
          </a:bodyPr>
          <a:lstStyle/>
          <a:p>
            <a:r>
              <a:rPr lang="en-US" b="1">
                <a:solidFill>
                  <a:srgbClr val="FFCC00"/>
                </a:solidFill>
                <a:highlight>
                  <a:srgbClr val="000000"/>
                </a:highlight>
                <a:latin typeface="Product Sans" panose="020B0403030502040203" pitchFamily="34" charset="0"/>
              </a:rPr>
              <a:t>Increase :  </a:t>
            </a:r>
          </a:p>
        </p:txBody>
      </p:sp>
      <p:sp>
        <p:nvSpPr>
          <p:cNvPr id="32" name="TextBox 31">
            <a:extLst>
              <a:ext uri="{FF2B5EF4-FFF2-40B4-BE49-F238E27FC236}">
                <a16:creationId xmlns:a16="http://schemas.microsoft.com/office/drawing/2014/main" id="{8E56789B-4197-7780-9CFC-49D6A4F8989B}"/>
              </a:ext>
            </a:extLst>
          </p:cNvPr>
          <p:cNvSpPr txBox="1"/>
          <p:nvPr/>
        </p:nvSpPr>
        <p:spPr>
          <a:xfrm>
            <a:off x="7285552" y="5689886"/>
            <a:ext cx="4670474" cy="1200329"/>
          </a:xfrm>
          <a:prstGeom prst="rect">
            <a:avLst/>
          </a:prstGeom>
          <a:noFill/>
        </p:spPr>
        <p:txBody>
          <a:bodyPr wrap="square" rtlCol="0">
            <a:spAutoFit/>
          </a:bodyPr>
          <a:lstStyle/>
          <a:p>
            <a:r>
              <a:rPr lang="en-US" sz="3600" b="1">
                <a:solidFill>
                  <a:srgbClr val="FFC000"/>
                </a:solidFill>
                <a:latin typeface="Product Sans" panose="020B0403030502040203" pitchFamily="34" charset="0"/>
              </a:rPr>
              <a:t>₹  953.68M </a:t>
            </a:r>
            <a:r>
              <a:rPr lang="en-US" sz="3600" b="1">
                <a:latin typeface="Product Sans" panose="020B0403030502040203" pitchFamily="34" charset="0"/>
              </a:rPr>
              <a:t>is the potential savings</a:t>
            </a:r>
            <a:endParaRPr lang="en-US" sz="3600" b="1">
              <a:solidFill>
                <a:schemeClr val="accent4"/>
              </a:solidFill>
              <a:latin typeface="Product Sans Black" panose="020B0A03030502040203" pitchFamily="34" charset="0"/>
            </a:endParaRPr>
          </a:p>
        </p:txBody>
      </p:sp>
    </p:spTree>
    <p:extLst>
      <p:ext uri="{BB962C8B-B14F-4D97-AF65-F5344CB8AC3E}">
        <p14:creationId xmlns:p14="http://schemas.microsoft.com/office/powerpoint/2010/main" val="3704950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1072-4844-BCDF-CABD-4315AB45BC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B7CB5B7-977F-CD80-0409-E76A3F070C90}"/>
              </a:ext>
            </a:extLst>
          </p:cNvPr>
          <p:cNvSpPr/>
          <p:nvPr/>
        </p:nvSpPr>
        <p:spPr>
          <a:xfrm>
            <a:off x="470644" y="4650683"/>
            <a:ext cx="3203250" cy="1351727"/>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sp>
        <p:nvSpPr>
          <p:cNvPr id="2" name="Rectangle 1">
            <a:extLst>
              <a:ext uri="{FF2B5EF4-FFF2-40B4-BE49-F238E27FC236}">
                <a16:creationId xmlns:a16="http://schemas.microsoft.com/office/drawing/2014/main" id="{C3291C07-1A4B-3385-91CC-9C3453609C3C}"/>
              </a:ext>
            </a:extLst>
          </p:cNvPr>
          <p:cNvSpPr/>
          <p:nvPr/>
        </p:nvSpPr>
        <p:spPr>
          <a:xfrm>
            <a:off x="8178017" y="5357996"/>
            <a:ext cx="2302638" cy="1170710"/>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pic>
        <p:nvPicPr>
          <p:cNvPr id="5" name="Picture 4">
            <a:extLst>
              <a:ext uri="{FF2B5EF4-FFF2-40B4-BE49-F238E27FC236}">
                <a16:creationId xmlns:a16="http://schemas.microsoft.com/office/drawing/2014/main" id="{7BC7898A-7163-903F-23E3-79B464BB8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3861" y="5535898"/>
            <a:ext cx="515822" cy="515822"/>
          </a:xfrm>
          <a:prstGeom prst="rect">
            <a:avLst/>
          </a:prstGeom>
        </p:spPr>
      </p:pic>
      <p:sp>
        <p:nvSpPr>
          <p:cNvPr id="6" name="TextBox 5">
            <a:extLst>
              <a:ext uri="{FF2B5EF4-FFF2-40B4-BE49-F238E27FC236}">
                <a16:creationId xmlns:a16="http://schemas.microsoft.com/office/drawing/2014/main" id="{546C138C-1232-787F-437B-82CFE4C99607}"/>
              </a:ext>
            </a:extLst>
          </p:cNvPr>
          <p:cNvSpPr txBox="1"/>
          <p:nvPr/>
        </p:nvSpPr>
        <p:spPr>
          <a:xfrm>
            <a:off x="176620" y="145254"/>
            <a:ext cx="6666632" cy="584775"/>
          </a:xfrm>
          <a:prstGeom prst="rect">
            <a:avLst/>
          </a:prstGeom>
          <a:noFill/>
        </p:spPr>
        <p:txBody>
          <a:bodyPr wrap="square" rtlCol="0">
            <a:spAutoFit/>
          </a:bodyPr>
          <a:lstStyle/>
          <a:p>
            <a:r>
              <a:rPr lang="en-US" sz="3200" b="1">
                <a:solidFill>
                  <a:srgbClr val="FFCC00"/>
                </a:solidFill>
                <a:highlight>
                  <a:srgbClr val="000000"/>
                </a:highlight>
                <a:latin typeface="Product Sans" panose="020B0403030502040203" pitchFamily="34" charset="0"/>
              </a:rPr>
              <a:t>Journey of used glass bottle</a:t>
            </a:r>
          </a:p>
        </p:txBody>
      </p:sp>
      <p:pic>
        <p:nvPicPr>
          <p:cNvPr id="9" name="Picture 8">
            <a:extLst>
              <a:ext uri="{FF2B5EF4-FFF2-40B4-BE49-F238E27FC236}">
                <a16:creationId xmlns:a16="http://schemas.microsoft.com/office/drawing/2014/main" id="{D31BAA0E-988A-9971-8F4A-19565920E2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4814" y="5331085"/>
            <a:ext cx="892064" cy="892064"/>
          </a:xfrm>
          <a:prstGeom prst="rect">
            <a:avLst/>
          </a:prstGeom>
        </p:spPr>
      </p:pic>
      <p:pic>
        <p:nvPicPr>
          <p:cNvPr id="11" name="Picture 10">
            <a:extLst>
              <a:ext uri="{FF2B5EF4-FFF2-40B4-BE49-F238E27FC236}">
                <a16:creationId xmlns:a16="http://schemas.microsoft.com/office/drawing/2014/main" id="{5F63BED5-45D6-1FA5-B112-44676B9816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16210" y="738812"/>
            <a:ext cx="980951" cy="853446"/>
          </a:xfrm>
          <a:prstGeom prst="rect">
            <a:avLst/>
          </a:prstGeom>
        </p:spPr>
      </p:pic>
      <p:sp>
        <p:nvSpPr>
          <p:cNvPr id="13" name="TextBox 12">
            <a:extLst>
              <a:ext uri="{FF2B5EF4-FFF2-40B4-BE49-F238E27FC236}">
                <a16:creationId xmlns:a16="http://schemas.microsoft.com/office/drawing/2014/main" id="{9DE8A1B2-54AB-B89A-3FCA-A2BF528C19F2}"/>
              </a:ext>
            </a:extLst>
          </p:cNvPr>
          <p:cNvSpPr txBox="1"/>
          <p:nvPr/>
        </p:nvSpPr>
        <p:spPr>
          <a:xfrm>
            <a:off x="6978629" y="6190150"/>
            <a:ext cx="1483000" cy="338554"/>
          </a:xfrm>
          <a:prstGeom prst="rect">
            <a:avLst/>
          </a:prstGeom>
          <a:noFill/>
        </p:spPr>
        <p:txBody>
          <a:bodyPr wrap="square">
            <a:spAutoFit/>
          </a:bodyPr>
          <a:lstStyle/>
          <a:p>
            <a:r>
              <a:rPr lang="en-US" sz="1600" b="1">
                <a:solidFill>
                  <a:srgbClr val="FFC000"/>
                </a:solidFill>
                <a:latin typeface="Product Sans Black" panose="020B0A03030502040203" pitchFamily="34" charset="0"/>
              </a:rPr>
              <a:t>Consumer</a:t>
            </a:r>
            <a:r>
              <a:rPr lang="en-US" sz="1600">
                <a:solidFill>
                  <a:srgbClr val="FFC000"/>
                </a:solidFill>
                <a:latin typeface="Product Sans Black" panose="020B0A03030502040203" pitchFamily="34" charset="0"/>
              </a:rPr>
              <a:t> </a:t>
            </a:r>
          </a:p>
        </p:txBody>
      </p:sp>
      <p:cxnSp>
        <p:nvCxnSpPr>
          <p:cNvPr id="7" name="Connector: Curved 6">
            <a:extLst>
              <a:ext uri="{FF2B5EF4-FFF2-40B4-BE49-F238E27FC236}">
                <a16:creationId xmlns:a16="http://schemas.microsoft.com/office/drawing/2014/main" id="{32211365-8475-C61D-1B10-ED0B41DC0C2A}"/>
              </a:ext>
            </a:extLst>
          </p:cNvPr>
          <p:cNvCxnSpPr>
            <a:cxnSpLocks/>
          </p:cNvCxnSpPr>
          <p:nvPr/>
        </p:nvCxnSpPr>
        <p:spPr>
          <a:xfrm>
            <a:off x="2784522" y="1592258"/>
            <a:ext cx="3909622" cy="3904343"/>
          </a:xfrm>
          <a:prstGeom prst="curvedConnector3">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TextBox 31">
            <a:extLst>
              <a:ext uri="{FF2B5EF4-FFF2-40B4-BE49-F238E27FC236}">
                <a16:creationId xmlns:a16="http://schemas.microsoft.com/office/drawing/2014/main" id="{2DFAD777-B8BA-1AB5-4D65-D0E133D24240}"/>
              </a:ext>
            </a:extLst>
          </p:cNvPr>
          <p:cNvSpPr txBox="1"/>
          <p:nvPr/>
        </p:nvSpPr>
        <p:spPr>
          <a:xfrm>
            <a:off x="3647467" y="5158047"/>
            <a:ext cx="2297774" cy="338554"/>
          </a:xfrm>
          <a:prstGeom prst="rect">
            <a:avLst/>
          </a:prstGeom>
          <a:noFill/>
        </p:spPr>
        <p:txBody>
          <a:bodyPr wrap="square">
            <a:spAutoFit/>
          </a:bodyPr>
          <a:lstStyle/>
          <a:p>
            <a:r>
              <a:rPr lang="en-US" sz="1600" b="1">
                <a:solidFill>
                  <a:srgbClr val="FFC000"/>
                </a:solidFill>
                <a:latin typeface="Product Sans Black" panose="020B0A03030502040203" pitchFamily="34" charset="0"/>
              </a:rPr>
              <a:t>Kabadiwala</a:t>
            </a:r>
            <a:endParaRPr lang="en-US" sz="1600">
              <a:solidFill>
                <a:srgbClr val="FFC000"/>
              </a:solidFill>
              <a:latin typeface="Product Sans Black" panose="020B0A03030502040203" pitchFamily="34" charset="0"/>
            </a:endParaRPr>
          </a:p>
        </p:txBody>
      </p:sp>
      <p:sp>
        <p:nvSpPr>
          <p:cNvPr id="33" name="TextBox 32">
            <a:extLst>
              <a:ext uri="{FF2B5EF4-FFF2-40B4-BE49-F238E27FC236}">
                <a16:creationId xmlns:a16="http://schemas.microsoft.com/office/drawing/2014/main" id="{220A427E-5C81-4D97-BC91-F9B595EE5D8D}"/>
              </a:ext>
            </a:extLst>
          </p:cNvPr>
          <p:cNvSpPr txBox="1"/>
          <p:nvPr/>
        </p:nvSpPr>
        <p:spPr>
          <a:xfrm>
            <a:off x="4906297" y="3991702"/>
            <a:ext cx="1232059" cy="584775"/>
          </a:xfrm>
          <a:prstGeom prst="rect">
            <a:avLst/>
          </a:prstGeom>
          <a:noFill/>
        </p:spPr>
        <p:txBody>
          <a:bodyPr wrap="square">
            <a:spAutoFit/>
          </a:bodyPr>
          <a:lstStyle/>
          <a:p>
            <a:r>
              <a:rPr lang="en-US" sz="1600" b="1">
                <a:solidFill>
                  <a:srgbClr val="FFC000"/>
                </a:solidFill>
                <a:latin typeface="Product Sans Black" panose="020B0A03030502040203" pitchFamily="34" charset="0"/>
              </a:rPr>
              <a:t>Scrape Shop</a:t>
            </a:r>
            <a:endParaRPr lang="en-US" sz="1600">
              <a:solidFill>
                <a:srgbClr val="FFC000"/>
              </a:solidFill>
              <a:latin typeface="Product Sans Black" panose="020B0A03030502040203" pitchFamily="34" charset="0"/>
            </a:endParaRPr>
          </a:p>
        </p:txBody>
      </p:sp>
      <p:sp>
        <p:nvSpPr>
          <p:cNvPr id="36" name="TextBox 35">
            <a:extLst>
              <a:ext uri="{FF2B5EF4-FFF2-40B4-BE49-F238E27FC236}">
                <a16:creationId xmlns:a16="http://schemas.microsoft.com/office/drawing/2014/main" id="{293CABBE-C277-2218-A956-1C1A8350B620}"/>
              </a:ext>
            </a:extLst>
          </p:cNvPr>
          <p:cNvSpPr txBox="1"/>
          <p:nvPr/>
        </p:nvSpPr>
        <p:spPr>
          <a:xfrm>
            <a:off x="3533975" y="3235137"/>
            <a:ext cx="6110748" cy="584775"/>
          </a:xfrm>
          <a:prstGeom prst="rect">
            <a:avLst/>
          </a:prstGeom>
          <a:noFill/>
        </p:spPr>
        <p:txBody>
          <a:bodyPr wrap="square">
            <a:spAutoFit/>
          </a:bodyPr>
          <a:lstStyle/>
          <a:p>
            <a:r>
              <a:rPr lang="en-US" sz="1600" b="1">
                <a:solidFill>
                  <a:srgbClr val="FFC000"/>
                </a:solidFill>
                <a:latin typeface="Product Sans" panose="020B0403030502040203" pitchFamily="34" charset="0"/>
              </a:rPr>
              <a:t>Regional</a:t>
            </a:r>
          </a:p>
          <a:p>
            <a:r>
              <a:rPr lang="en-US" sz="1600" b="1">
                <a:solidFill>
                  <a:srgbClr val="FFC000"/>
                </a:solidFill>
                <a:latin typeface="Product Sans" panose="020B0403030502040203" pitchFamily="34" charset="0"/>
              </a:rPr>
              <a:t>dealer</a:t>
            </a:r>
            <a:endParaRPr lang="en-US" b="1">
              <a:solidFill>
                <a:srgbClr val="EFB300"/>
              </a:solidFill>
              <a:latin typeface="Product Sans" panose="020B0403030502040203" pitchFamily="34" charset="0"/>
            </a:endParaRPr>
          </a:p>
        </p:txBody>
      </p:sp>
      <p:sp>
        <p:nvSpPr>
          <p:cNvPr id="38" name="TextBox 37">
            <a:extLst>
              <a:ext uri="{FF2B5EF4-FFF2-40B4-BE49-F238E27FC236}">
                <a16:creationId xmlns:a16="http://schemas.microsoft.com/office/drawing/2014/main" id="{323FE701-3A5F-212C-7F06-B89B7DCE6334}"/>
              </a:ext>
            </a:extLst>
          </p:cNvPr>
          <p:cNvSpPr txBox="1"/>
          <p:nvPr/>
        </p:nvSpPr>
        <p:spPr>
          <a:xfrm>
            <a:off x="4075240" y="1947526"/>
            <a:ext cx="1373622" cy="338554"/>
          </a:xfrm>
          <a:prstGeom prst="rect">
            <a:avLst/>
          </a:prstGeom>
          <a:noFill/>
        </p:spPr>
        <p:txBody>
          <a:bodyPr wrap="square">
            <a:spAutoFit/>
          </a:bodyPr>
          <a:lstStyle/>
          <a:p>
            <a:r>
              <a:rPr lang="en-US" sz="1600" b="1">
                <a:solidFill>
                  <a:srgbClr val="FFC000"/>
                </a:solidFill>
                <a:latin typeface="Product Sans" panose="020B0403030502040203" pitchFamily="34" charset="0"/>
              </a:rPr>
              <a:t>Wholesaler</a:t>
            </a:r>
          </a:p>
        </p:txBody>
      </p:sp>
      <p:sp>
        <p:nvSpPr>
          <p:cNvPr id="40" name="TextBox 39">
            <a:extLst>
              <a:ext uri="{FF2B5EF4-FFF2-40B4-BE49-F238E27FC236}">
                <a16:creationId xmlns:a16="http://schemas.microsoft.com/office/drawing/2014/main" id="{27D9DE1D-ADE3-D4F0-E808-8F321C12148A}"/>
              </a:ext>
            </a:extLst>
          </p:cNvPr>
          <p:cNvSpPr txBox="1"/>
          <p:nvPr/>
        </p:nvSpPr>
        <p:spPr>
          <a:xfrm>
            <a:off x="8156549" y="5364084"/>
            <a:ext cx="2449982" cy="1092607"/>
          </a:xfrm>
          <a:prstGeom prst="rect">
            <a:avLst/>
          </a:prstGeom>
          <a:noFill/>
        </p:spPr>
        <p:txBody>
          <a:bodyPr wrap="square" rtlCol="0">
            <a:spAutoFit/>
          </a:bodyPr>
          <a:lstStyle/>
          <a:p>
            <a:r>
              <a:rPr lang="en-US" sz="1300">
                <a:latin typeface="Product Sans" panose="020B0403030502040203" pitchFamily="34" charset="0"/>
              </a:rPr>
              <a:t>The consumer throws bottle after consuming the beer this doesn’t include number of bottles that are thrown at Bars &amp; restaurants.</a:t>
            </a:r>
          </a:p>
        </p:txBody>
      </p:sp>
      <p:sp>
        <p:nvSpPr>
          <p:cNvPr id="42" name="TextBox 41">
            <a:extLst>
              <a:ext uri="{FF2B5EF4-FFF2-40B4-BE49-F238E27FC236}">
                <a16:creationId xmlns:a16="http://schemas.microsoft.com/office/drawing/2014/main" id="{71959F6D-C06E-CF26-E5A2-F9C3C01CAAED}"/>
              </a:ext>
            </a:extLst>
          </p:cNvPr>
          <p:cNvSpPr txBox="1"/>
          <p:nvPr/>
        </p:nvSpPr>
        <p:spPr>
          <a:xfrm>
            <a:off x="438611" y="4650683"/>
            <a:ext cx="3301932" cy="1292662"/>
          </a:xfrm>
          <a:prstGeom prst="rect">
            <a:avLst/>
          </a:prstGeom>
          <a:noFill/>
        </p:spPr>
        <p:txBody>
          <a:bodyPr wrap="square">
            <a:spAutoFit/>
          </a:bodyPr>
          <a:lstStyle/>
          <a:p>
            <a:r>
              <a:rPr lang="en-US" sz="1300">
                <a:latin typeface="Product Sans" panose="020B0403030502040203" pitchFamily="34" charset="0"/>
              </a:rPr>
              <a:t>Often acts as the initial ground force, collecting various types of waste, including glass bottles, directly from homes and small establishments. They play a vital role in areas where formal recycling infrastructure might be less developed.</a:t>
            </a:r>
          </a:p>
        </p:txBody>
      </p:sp>
      <p:pic>
        <p:nvPicPr>
          <p:cNvPr id="44" name="Picture 43">
            <a:extLst>
              <a:ext uri="{FF2B5EF4-FFF2-40B4-BE49-F238E27FC236}">
                <a16:creationId xmlns:a16="http://schemas.microsoft.com/office/drawing/2014/main" id="{C42749E3-57EA-568D-2808-B4B1FA6CAE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87553" y="4397475"/>
            <a:ext cx="833716" cy="833716"/>
          </a:xfrm>
          <a:prstGeom prst="rect">
            <a:avLst/>
          </a:prstGeom>
        </p:spPr>
      </p:pic>
      <p:sp>
        <p:nvSpPr>
          <p:cNvPr id="10" name="Rectangle 9">
            <a:extLst>
              <a:ext uri="{FF2B5EF4-FFF2-40B4-BE49-F238E27FC236}">
                <a16:creationId xmlns:a16="http://schemas.microsoft.com/office/drawing/2014/main" id="{842C1804-90B7-6E9C-D93E-48014E592301}"/>
              </a:ext>
            </a:extLst>
          </p:cNvPr>
          <p:cNvSpPr/>
          <p:nvPr/>
        </p:nvSpPr>
        <p:spPr>
          <a:xfrm>
            <a:off x="6184318" y="3944511"/>
            <a:ext cx="3249359" cy="1298514"/>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sp>
        <p:nvSpPr>
          <p:cNvPr id="12" name="Rectangle 11">
            <a:extLst>
              <a:ext uri="{FF2B5EF4-FFF2-40B4-BE49-F238E27FC236}">
                <a16:creationId xmlns:a16="http://schemas.microsoft.com/office/drawing/2014/main" id="{41B28951-126E-067D-AFAE-EAED76D5DC9C}"/>
              </a:ext>
            </a:extLst>
          </p:cNvPr>
          <p:cNvSpPr/>
          <p:nvPr/>
        </p:nvSpPr>
        <p:spPr>
          <a:xfrm>
            <a:off x="599378" y="2779472"/>
            <a:ext cx="2904523" cy="1292662"/>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sp>
        <p:nvSpPr>
          <p:cNvPr id="14" name="Rectangle 13">
            <a:extLst>
              <a:ext uri="{FF2B5EF4-FFF2-40B4-BE49-F238E27FC236}">
                <a16:creationId xmlns:a16="http://schemas.microsoft.com/office/drawing/2014/main" id="{0CBE52A9-97E7-7967-8112-00A0F957E534}"/>
              </a:ext>
            </a:extLst>
          </p:cNvPr>
          <p:cNvSpPr/>
          <p:nvPr/>
        </p:nvSpPr>
        <p:spPr>
          <a:xfrm>
            <a:off x="5199708" y="1277853"/>
            <a:ext cx="2956841" cy="2154990"/>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sp>
        <p:nvSpPr>
          <p:cNvPr id="16" name="TextBox 15">
            <a:extLst>
              <a:ext uri="{FF2B5EF4-FFF2-40B4-BE49-F238E27FC236}">
                <a16:creationId xmlns:a16="http://schemas.microsoft.com/office/drawing/2014/main" id="{02C3B5B9-C1F9-B7D5-0524-6D26AD885BAF}"/>
              </a:ext>
            </a:extLst>
          </p:cNvPr>
          <p:cNvSpPr txBox="1"/>
          <p:nvPr/>
        </p:nvSpPr>
        <p:spPr>
          <a:xfrm>
            <a:off x="6184318" y="3946879"/>
            <a:ext cx="3331898" cy="1292662"/>
          </a:xfrm>
          <a:prstGeom prst="rect">
            <a:avLst/>
          </a:prstGeom>
          <a:noFill/>
        </p:spPr>
        <p:txBody>
          <a:bodyPr wrap="square">
            <a:spAutoFit/>
          </a:bodyPr>
          <a:lstStyle/>
          <a:p>
            <a:r>
              <a:rPr lang="en-US" sz="1300">
                <a:latin typeface="Product Sans" panose="020B0403030502040203" pitchFamily="34" charset="0"/>
              </a:rPr>
              <a:t>Receives bottles from Kabadiwalas and smaller collection points. They perform a more robust initial sort, removing non-glass items and separating glass by color (clear, brown, green) if possible. They might also crush bottles into cullet for easier transport.</a:t>
            </a:r>
          </a:p>
        </p:txBody>
      </p:sp>
      <p:sp>
        <p:nvSpPr>
          <p:cNvPr id="25" name="TextBox 24">
            <a:extLst>
              <a:ext uri="{FF2B5EF4-FFF2-40B4-BE49-F238E27FC236}">
                <a16:creationId xmlns:a16="http://schemas.microsoft.com/office/drawing/2014/main" id="{87498156-1853-8E5A-822F-F7D6F75EE713}"/>
              </a:ext>
            </a:extLst>
          </p:cNvPr>
          <p:cNvSpPr txBox="1"/>
          <p:nvPr/>
        </p:nvSpPr>
        <p:spPr>
          <a:xfrm>
            <a:off x="577134" y="2749939"/>
            <a:ext cx="2956841" cy="1292662"/>
          </a:xfrm>
          <a:prstGeom prst="rect">
            <a:avLst/>
          </a:prstGeom>
          <a:noFill/>
        </p:spPr>
        <p:txBody>
          <a:bodyPr wrap="square">
            <a:spAutoFit/>
          </a:bodyPr>
          <a:lstStyle/>
          <a:p>
            <a:r>
              <a:rPr lang="en-US" sz="1300">
                <a:latin typeface="Product Sans" panose="020B0403030502040203" pitchFamily="34" charset="0"/>
              </a:rPr>
              <a:t>Bottles once sorted from scrape shop</a:t>
            </a:r>
          </a:p>
          <a:p>
            <a:r>
              <a:rPr lang="en-US" sz="1300">
                <a:latin typeface="Product Sans" panose="020B0403030502040203" pitchFamily="34" charset="0"/>
              </a:rPr>
              <a:t>Here bottles are of all types according to their usage such as cold drink bottles, shake bottles and alcobev bottles all these bottles are now separated accordingly .</a:t>
            </a:r>
          </a:p>
        </p:txBody>
      </p:sp>
      <p:cxnSp>
        <p:nvCxnSpPr>
          <p:cNvPr id="15" name="Straight Connector 14">
            <a:extLst>
              <a:ext uri="{FF2B5EF4-FFF2-40B4-BE49-F238E27FC236}">
                <a16:creationId xmlns:a16="http://schemas.microsoft.com/office/drawing/2014/main" id="{DEFBE586-3D65-101E-37B2-7A143F32322A}"/>
              </a:ext>
            </a:extLst>
          </p:cNvPr>
          <p:cNvCxnSpPr>
            <a:cxnSpLocks/>
          </p:cNvCxnSpPr>
          <p:nvPr/>
        </p:nvCxnSpPr>
        <p:spPr>
          <a:xfrm flipV="1">
            <a:off x="5644375" y="3743913"/>
            <a:ext cx="4836280" cy="2534"/>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E264E5C-C10C-3E9D-B812-C4980CEA3A58}"/>
              </a:ext>
            </a:extLst>
          </p:cNvPr>
          <p:cNvCxnSpPr>
            <a:cxnSpLocks/>
          </p:cNvCxnSpPr>
          <p:nvPr/>
        </p:nvCxnSpPr>
        <p:spPr>
          <a:xfrm flipH="1" flipV="1">
            <a:off x="10468101" y="3311090"/>
            <a:ext cx="12554" cy="435357"/>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6C45B1D-D6FE-D899-2809-7A06283FF49A}"/>
              </a:ext>
            </a:extLst>
          </p:cNvPr>
          <p:cNvCxnSpPr>
            <a:cxnSpLocks/>
          </p:cNvCxnSpPr>
          <p:nvPr/>
        </p:nvCxnSpPr>
        <p:spPr>
          <a:xfrm flipH="1">
            <a:off x="2935139" y="1073039"/>
            <a:ext cx="569758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EC86101-6760-3E54-AECB-4DDBF0E84A29}"/>
              </a:ext>
            </a:extLst>
          </p:cNvPr>
          <p:cNvSpPr txBox="1"/>
          <p:nvPr/>
        </p:nvSpPr>
        <p:spPr>
          <a:xfrm>
            <a:off x="5166134" y="1304432"/>
            <a:ext cx="3062506" cy="2154988"/>
          </a:xfrm>
          <a:prstGeom prst="rect">
            <a:avLst/>
          </a:prstGeom>
          <a:noFill/>
        </p:spPr>
        <p:txBody>
          <a:bodyPr wrap="square">
            <a:spAutoFit/>
          </a:bodyPr>
          <a:lstStyle/>
          <a:p>
            <a:r>
              <a:rPr lang="en-US" sz="1300">
                <a:latin typeface="Product Sans" panose="020B0403030502040203" pitchFamily="34" charset="0"/>
              </a:rPr>
              <a:t>Alcobev bottles are now sorted in 2 phases</a:t>
            </a:r>
          </a:p>
          <a:p>
            <a:r>
              <a:rPr lang="en-US" sz="1300">
                <a:latin typeface="Product Sans" panose="020B0403030502040203" pitchFamily="34" charset="0"/>
              </a:rPr>
              <a:t>Phase 1: In phase 1 alcobev bottles are sorted according to their types like rum, whisky, beer and etc.</a:t>
            </a:r>
          </a:p>
          <a:p>
            <a:r>
              <a:rPr lang="en-US" sz="1300">
                <a:latin typeface="Product Sans" panose="020B0403030502040203" pitchFamily="34" charset="0"/>
              </a:rPr>
              <a:t>Phase 2: In this phase </a:t>
            </a:r>
            <a:r>
              <a:rPr lang="en-US" sz="1300" b="1">
                <a:latin typeface="Product Sans" panose="020B0403030502040203" pitchFamily="34" charset="0"/>
              </a:rPr>
              <a:t>beer</a:t>
            </a:r>
            <a:r>
              <a:rPr lang="en-US" sz="1300">
                <a:latin typeface="Product Sans" panose="020B0403030502040203" pitchFamily="34" charset="0"/>
              </a:rPr>
              <a:t> bottles are sorted </a:t>
            </a:r>
            <a:r>
              <a:rPr lang="en-US" sz="1300" b="1">
                <a:latin typeface="Product Sans" panose="020B0403030502040203" pitchFamily="34" charset="0"/>
              </a:rPr>
              <a:t>according to their brands.</a:t>
            </a:r>
          </a:p>
          <a:p>
            <a:r>
              <a:rPr lang="en-US" sz="1300">
                <a:latin typeface="Product Sans" panose="020B0403030502040203" pitchFamily="34" charset="0"/>
              </a:rPr>
              <a:t>After both phases these bottles are go to breweries where they are </a:t>
            </a:r>
            <a:r>
              <a:rPr lang="en-US" sz="1300" b="1">
                <a:latin typeface="Product Sans" panose="020B0403030502040203" pitchFamily="34" charset="0"/>
              </a:rPr>
              <a:t>inspected and washed and then bottled</a:t>
            </a:r>
          </a:p>
        </p:txBody>
      </p:sp>
      <p:sp>
        <p:nvSpPr>
          <p:cNvPr id="58" name="TextBox 57">
            <a:extLst>
              <a:ext uri="{FF2B5EF4-FFF2-40B4-BE49-F238E27FC236}">
                <a16:creationId xmlns:a16="http://schemas.microsoft.com/office/drawing/2014/main" id="{B8F66553-F546-A997-777D-6A5196FEA0BD}"/>
              </a:ext>
            </a:extLst>
          </p:cNvPr>
          <p:cNvSpPr txBox="1"/>
          <p:nvPr/>
        </p:nvSpPr>
        <p:spPr>
          <a:xfrm>
            <a:off x="2040596" y="1578192"/>
            <a:ext cx="6110748" cy="369332"/>
          </a:xfrm>
          <a:prstGeom prst="rect">
            <a:avLst/>
          </a:prstGeom>
          <a:noFill/>
        </p:spPr>
        <p:txBody>
          <a:bodyPr wrap="square">
            <a:spAutoFit/>
          </a:bodyPr>
          <a:lstStyle/>
          <a:p>
            <a:r>
              <a:rPr lang="en-US" b="1">
                <a:solidFill>
                  <a:srgbClr val="EFB300"/>
                </a:solidFill>
                <a:latin typeface="Product Sans" panose="020B0403030502040203" pitchFamily="34" charset="0"/>
              </a:rPr>
              <a:t>Brewery</a:t>
            </a:r>
          </a:p>
        </p:txBody>
      </p:sp>
      <p:sp>
        <p:nvSpPr>
          <p:cNvPr id="59" name="TextBox 58">
            <a:extLst>
              <a:ext uri="{FF2B5EF4-FFF2-40B4-BE49-F238E27FC236}">
                <a16:creationId xmlns:a16="http://schemas.microsoft.com/office/drawing/2014/main" id="{0A6B95CF-8E8E-9431-BC2E-7CA7B6618F63}"/>
              </a:ext>
            </a:extLst>
          </p:cNvPr>
          <p:cNvSpPr txBox="1"/>
          <p:nvPr/>
        </p:nvSpPr>
        <p:spPr>
          <a:xfrm>
            <a:off x="9653982" y="3093836"/>
            <a:ext cx="1558869" cy="338554"/>
          </a:xfrm>
          <a:prstGeom prst="rect">
            <a:avLst/>
          </a:prstGeom>
          <a:noFill/>
        </p:spPr>
        <p:txBody>
          <a:bodyPr wrap="square">
            <a:spAutoFit/>
          </a:bodyPr>
          <a:lstStyle/>
          <a:p>
            <a:r>
              <a:rPr lang="en-US" sz="1600" b="1">
                <a:solidFill>
                  <a:srgbClr val="FFC000"/>
                </a:solidFill>
                <a:latin typeface="Product Sans" panose="020B0403030502040203" pitchFamily="34" charset="0"/>
              </a:rPr>
              <a:t>Recycling Unit</a:t>
            </a:r>
          </a:p>
        </p:txBody>
      </p:sp>
      <p:sp>
        <p:nvSpPr>
          <p:cNvPr id="60" name="Rectangle 59">
            <a:extLst>
              <a:ext uri="{FF2B5EF4-FFF2-40B4-BE49-F238E27FC236}">
                <a16:creationId xmlns:a16="http://schemas.microsoft.com/office/drawing/2014/main" id="{D60D6599-E9B2-7D45-1BF0-134067DB0A63}"/>
              </a:ext>
            </a:extLst>
          </p:cNvPr>
          <p:cNvSpPr/>
          <p:nvPr/>
        </p:nvSpPr>
        <p:spPr>
          <a:xfrm>
            <a:off x="8666297" y="589950"/>
            <a:ext cx="3270064" cy="2011735"/>
          </a:xfrm>
          <a:prstGeom prst="rect">
            <a:avLst/>
          </a:prstGeom>
          <a:solidFill>
            <a:srgbClr val="F7D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Product Sans Black" panose="020B0A03030502040203" pitchFamily="34" charset="0"/>
            </a:endParaRPr>
          </a:p>
        </p:txBody>
      </p:sp>
      <p:sp>
        <p:nvSpPr>
          <p:cNvPr id="69" name="TextBox 68">
            <a:extLst>
              <a:ext uri="{FF2B5EF4-FFF2-40B4-BE49-F238E27FC236}">
                <a16:creationId xmlns:a16="http://schemas.microsoft.com/office/drawing/2014/main" id="{8FB6803D-DBCB-DB05-E917-CB76E2A951E6}"/>
              </a:ext>
            </a:extLst>
          </p:cNvPr>
          <p:cNvSpPr txBox="1"/>
          <p:nvPr/>
        </p:nvSpPr>
        <p:spPr>
          <a:xfrm>
            <a:off x="8645190" y="577969"/>
            <a:ext cx="3370190" cy="2092881"/>
          </a:xfrm>
          <a:prstGeom prst="rect">
            <a:avLst/>
          </a:prstGeom>
          <a:noFill/>
        </p:spPr>
        <p:txBody>
          <a:bodyPr wrap="square">
            <a:spAutoFit/>
          </a:bodyPr>
          <a:lstStyle/>
          <a:p>
            <a:r>
              <a:rPr lang="en-US" sz="1300" b="0" i="0">
                <a:effectLst/>
                <a:latin typeface="Product Sans" panose="020B0403030502040203" pitchFamily="34" charset="0"/>
              </a:rPr>
              <a:t>Mixed, partly crushed bottles are sorted </a:t>
            </a:r>
            <a:r>
              <a:rPr lang="en-US" sz="1300">
                <a:latin typeface="Product Sans" panose="020B0403030502040203" pitchFamily="34" charset="0"/>
              </a:rPr>
              <a:t>again to push quality on the higher side</a:t>
            </a:r>
            <a:r>
              <a:rPr lang="en-US" sz="1300" b="0" i="0">
                <a:effectLst/>
                <a:latin typeface="Product Sans" panose="020B0403030502040203" pitchFamily="34" charset="0"/>
              </a:rPr>
              <a:t>. The clean glass is crushed into uniform cullet, blended with sand, soda ash, and limestone, melted in a furnace, and formed into new bottles that will  go back to beverage fillers this includes different beverages along with breweries</a:t>
            </a:r>
          </a:p>
          <a:p>
            <a:r>
              <a:rPr lang="en-US" sz="1300">
                <a:latin typeface="Product Sans" panose="020B0403030502040203" pitchFamily="34" charset="0"/>
              </a:rPr>
              <a:t>Breweries often partners with recycling units to save energy and Co2 emissions.</a:t>
            </a:r>
            <a:endParaRPr lang="en-US" sz="1300" b="0" i="0">
              <a:effectLst/>
              <a:latin typeface="Product Sans" panose="020B0403030502040203" pitchFamily="34" charset="0"/>
            </a:endParaRPr>
          </a:p>
        </p:txBody>
      </p:sp>
      <p:pic>
        <p:nvPicPr>
          <p:cNvPr id="71" name="Picture 70">
            <a:extLst>
              <a:ext uri="{FF2B5EF4-FFF2-40B4-BE49-F238E27FC236}">
                <a16:creationId xmlns:a16="http://schemas.microsoft.com/office/drawing/2014/main" id="{C31D9A74-7C45-98DD-E855-EC28418F5E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68637" y="2650277"/>
            <a:ext cx="504962" cy="504962"/>
          </a:xfrm>
          <a:prstGeom prst="rect">
            <a:avLst/>
          </a:prstGeom>
        </p:spPr>
      </p:pic>
      <p:pic>
        <p:nvPicPr>
          <p:cNvPr id="73" name="Picture 72">
            <a:extLst>
              <a:ext uri="{FF2B5EF4-FFF2-40B4-BE49-F238E27FC236}">
                <a16:creationId xmlns:a16="http://schemas.microsoft.com/office/drawing/2014/main" id="{B9D3EA49-0405-F637-0A92-B4DF0952A88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75373" y="1359882"/>
            <a:ext cx="630924" cy="630924"/>
          </a:xfrm>
          <a:prstGeom prst="rect">
            <a:avLst/>
          </a:prstGeom>
        </p:spPr>
      </p:pic>
      <p:pic>
        <p:nvPicPr>
          <p:cNvPr id="79" name="Picture 78">
            <a:extLst>
              <a:ext uri="{FF2B5EF4-FFF2-40B4-BE49-F238E27FC236}">
                <a16:creationId xmlns:a16="http://schemas.microsoft.com/office/drawing/2014/main" id="{3EA89BFD-20B7-BB0C-C1D0-6DEB3C1E8A3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37949" y="3494437"/>
            <a:ext cx="606426" cy="606426"/>
          </a:xfrm>
          <a:prstGeom prst="rect">
            <a:avLst/>
          </a:prstGeom>
        </p:spPr>
      </p:pic>
      <p:cxnSp>
        <p:nvCxnSpPr>
          <p:cNvPr id="87" name="Straight Connector 86">
            <a:extLst>
              <a:ext uri="{FF2B5EF4-FFF2-40B4-BE49-F238E27FC236}">
                <a16:creationId xmlns:a16="http://schemas.microsoft.com/office/drawing/2014/main" id="{A0D6FAF2-552B-2C6A-9FDB-5128269F160F}"/>
              </a:ext>
            </a:extLst>
          </p:cNvPr>
          <p:cNvCxnSpPr>
            <a:cxnSpLocks/>
          </p:cNvCxnSpPr>
          <p:nvPr/>
        </p:nvCxnSpPr>
        <p:spPr>
          <a:xfrm>
            <a:off x="4756418" y="3743913"/>
            <a:ext cx="299758"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pic>
        <p:nvPicPr>
          <p:cNvPr id="91" name="Picture 90">
            <a:extLst>
              <a:ext uri="{FF2B5EF4-FFF2-40B4-BE49-F238E27FC236}">
                <a16:creationId xmlns:a16="http://schemas.microsoft.com/office/drawing/2014/main" id="{67F54A3A-EDEA-91EB-5D33-3D314AA336A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40636" y="2707553"/>
            <a:ext cx="575558" cy="575558"/>
          </a:xfrm>
          <a:prstGeom prst="rect">
            <a:avLst/>
          </a:prstGeom>
        </p:spPr>
      </p:pic>
    </p:spTree>
    <p:extLst>
      <p:ext uri="{BB962C8B-B14F-4D97-AF65-F5344CB8AC3E}">
        <p14:creationId xmlns:p14="http://schemas.microsoft.com/office/powerpoint/2010/main" val="1294228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10101"/>
        </a:solidFill>
        <a:effectLst/>
      </p:bgPr>
    </p:bg>
    <p:spTree>
      <p:nvGrpSpPr>
        <p:cNvPr id="1" name="">
          <a:extLst>
            <a:ext uri="{FF2B5EF4-FFF2-40B4-BE49-F238E27FC236}">
              <a16:creationId xmlns:a16="http://schemas.microsoft.com/office/drawing/2014/main" id="{1078A4C4-03D3-71CE-4FB8-AE7644FB78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C6FE01-2660-2CA4-93F4-2D69784D177C}"/>
              </a:ext>
            </a:extLst>
          </p:cNvPr>
          <p:cNvSpPr txBox="1"/>
          <p:nvPr/>
        </p:nvSpPr>
        <p:spPr>
          <a:xfrm>
            <a:off x="3323985" y="86436"/>
            <a:ext cx="7700985" cy="523220"/>
          </a:xfrm>
          <a:prstGeom prst="rect">
            <a:avLst/>
          </a:prstGeom>
          <a:noFill/>
        </p:spPr>
        <p:txBody>
          <a:bodyPr wrap="square">
            <a:spAutoFit/>
          </a:bodyPr>
          <a:lstStyle/>
          <a:p>
            <a:r>
              <a:rPr lang="en-US" sz="2800">
                <a:solidFill>
                  <a:srgbClr val="FFFF00"/>
                </a:solidFill>
                <a:latin typeface="Product Sans" panose="020B0403030502040203" pitchFamily="34" charset="0"/>
              </a:rPr>
              <a:t>Gaps in Circular Glass Packaging </a:t>
            </a:r>
            <a:endParaRPr lang="en-US" sz="2800" b="1">
              <a:solidFill>
                <a:srgbClr val="FFFF00"/>
              </a:solidFill>
              <a:latin typeface="Product Sans" panose="020B0403030502040203" pitchFamily="34" charset="0"/>
            </a:endParaRPr>
          </a:p>
        </p:txBody>
      </p:sp>
      <p:sp>
        <p:nvSpPr>
          <p:cNvPr id="9" name="Rectangle 2">
            <a:extLst>
              <a:ext uri="{FF2B5EF4-FFF2-40B4-BE49-F238E27FC236}">
                <a16:creationId xmlns:a16="http://schemas.microsoft.com/office/drawing/2014/main" id="{24B2CE9C-3192-F5F9-BE41-7E20739D7CC1}"/>
              </a:ext>
            </a:extLst>
          </p:cNvPr>
          <p:cNvSpPr>
            <a:spLocks noChangeArrowheads="1"/>
          </p:cNvSpPr>
          <p:nvPr/>
        </p:nvSpPr>
        <p:spPr bwMode="auto">
          <a:xfrm>
            <a:off x="152400" y="-32266"/>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o reuse.</a:t>
            </a:r>
          </a:p>
        </p:txBody>
      </p:sp>
      <p:pic>
        <p:nvPicPr>
          <p:cNvPr id="18" name="Picture 17">
            <a:extLst>
              <a:ext uri="{FF2B5EF4-FFF2-40B4-BE49-F238E27FC236}">
                <a16:creationId xmlns:a16="http://schemas.microsoft.com/office/drawing/2014/main" id="{7510B10C-8BAF-CADD-F44D-AE8DB8BD5F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658" y="699265"/>
            <a:ext cx="2606578" cy="1110794"/>
          </a:xfrm>
          <a:prstGeom prst="rect">
            <a:avLst/>
          </a:prstGeom>
        </p:spPr>
      </p:pic>
      <p:sp>
        <p:nvSpPr>
          <p:cNvPr id="20" name="TextBox 19">
            <a:extLst>
              <a:ext uri="{FF2B5EF4-FFF2-40B4-BE49-F238E27FC236}">
                <a16:creationId xmlns:a16="http://schemas.microsoft.com/office/drawing/2014/main" id="{71DDE669-A29A-4439-6C20-52B03338AD28}"/>
              </a:ext>
            </a:extLst>
          </p:cNvPr>
          <p:cNvSpPr txBox="1"/>
          <p:nvPr/>
        </p:nvSpPr>
        <p:spPr>
          <a:xfrm>
            <a:off x="208842" y="1954800"/>
            <a:ext cx="3023641" cy="769441"/>
          </a:xfrm>
          <a:prstGeom prst="rect">
            <a:avLst/>
          </a:prstGeom>
          <a:noFill/>
        </p:spPr>
        <p:txBody>
          <a:bodyPr wrap="square">
            <a:spAutoFit/>
          </a:bodyPr>
          <a:lstStyle/>
          <a:p>
            <a:r>
              <a:rPr lang="en-US" sz="1100" b="1">
                <a:solidFill>
                  <a:schemeClr val="bg1"/>
                </a:solidFill>
                <a:latin typeface="Product Sans" panose="020B0403030502040203" pitchFamily="34" charset="0"/>
              </a:rPr>
              <a:t>Use of gunny bags for transportation is common, which causes significant bottle breakage</a:t>
            </a:r>
            <a:r>
              <a:rPr lang="en-US" sz="1100">
                <a:solidFill>
                  <a:schemeClr val="bg1"/>
                </a:solidFill>
                <a:latin typeface="Product Sans" panose="020B0403030502040203" pitchFamily="34" charset="0"/>
              </a:rPr>
              <a:t> due to lack of cushioning and stacking pressure.</a:t>
            </a:r>
            <a:endParaRPr lang="en-IN" sz="1100">
              <a:solidFill>
                <a:schemeClr val="bg1"/>
              </a:solidFill>
              <a:latin typeface="Product Sans" panose="020B0403030502040203" pitchFamily="34" charset="0"/>
            </a:endParaRPr>
          </a:p>
        </p:txBody>
      </p:sp>
      <p:pic>
        <p:nvPicPr>
          <p:cNvPr id="22" name="Picture 21">
            <a:extLst>
              <a:ext uri="{FF2B5EF4-FFF2-40B4-BE49-F238E27FC236}">
                <a16:creationId xmlns:a16="http://schemas.microsoft.com/office/drawing/2014/main" id="{3509175D-B323-CB85-09F6-24DE107F3D63}"/>
              </a:ext>
            </a:extLst>
          </p:cNvPr>
          <p:cNvPicPr>
            <a:picLocks noChangeAspect="1"/>
          </p:cNvPicPr>
          <p:nvPr/>
        </p:nvPicPr>
        <p:blipFill>
          <a:blip r:embed="rId3"/>
          <a:stretch>
            <a:fillRect/>
          </a:stretch>
        </p:blipFill>
        <p:spPr>
          <a:xfrm>
            <a:off x="5366798" y="1354195"/>
            <a:ext cx="846059" cy="846059"/>
          </a:xfrm>
          <a:prstGeom prst="rect">
            <a:avLst/>
          </a:prstGeom>
        </p:spPr>
      </p:pic>
      <p:sp>
        <p:nvSpPr>
          <p:cNvPr id="24" name="TextBox 23">
            <a:extLst>
              <a:ext uri="{FF2B5EF4-FFF2-40B4-BE49-F238E27FC236}">
                <a16:creationId xmlns:a16="http://schemas.microsoft.com/office/drawing/2014/main" id="{DF0E16A6-9D30-A1AF-A3EF-F970DC3FD4F4}"/>
              </a:ext>
            </a:extLst>
          </p:cNvPr>
          <p:cNvSpPr txBox="1"/>
          <p:nvPr/>
        </p:nvSpPr>
        <p:spPr>
          <a:xfrm>
            <a:off x="4483556" y="706472"/>
            <a:ext cx="3017745" cy="600164"/>
          </a:xfrm>
          <a:prstGeom prst="rect">
            <a:avLst/>
          </a:prstGeom>
          <a:noFill/>
        </p:spPr>
        <p:txBody>
          <a:bodyPr wrap="square">
            <a:spAutoFit/>
          </a:bodyPr>
          <a:lstStyle/>
          <a:p>
            <a:r>
              <a:rPr lang="en-US" sz="1100">
                <a:solidFill>
                  <a:schemeClr val="bg1"/>
                </a:solidFill>
                <a:latin typeface="Product Sans" panose="020B0403030502040203" pitchFamily="34" charset="0"/>
              </a:rPr>
              <a:t>High breakage also discourages informal collectors (</a:t>
            </a:r>
            <a:r>
              <a:rPr lang="en-US" sz="1100" err="1">
                <a:solidFill>
                  <a:schemeClr val="bg1"/>
                </a:solidFill>
                <a:latin typeface="Product Sans" panose="020B0403030502040203" pitchFamily="34" charset="0"/>
              </a:rPr>
              <a:t>kabadiwalas</a:t>
            </a:r>
            <a:r>
              <a:rPr lang="en-US" sz="1100">
                <a:solidFill>
                  <a:schemeClr val="bg1"/>
                </a:solidFill>
                <a:latin typeface="Product Sans" panose="020B0403030502040203" pitchFamily="34" charset="0"/>
              </a:rPr>
              <a:t>), as shattered glass is less profitable and harder to process</a:t>
            </a:r>
            <a:r>
              <a:rPr lang="en-US" sz="1100">
                <a:latin typeface="Product Sans" panose="020B0403030502040203" pitchFamily="34" charset="0"/>
              </a:rPr>
              <a:t>.</a:t>
            </a:r>
            <a:endParaRPr lang="en-IN" sz="1100">
              <a:latin typeface="Product Sans" panose="020B0403030502040203" pitchFamily="34" charset="0"/>
            </a:endParaRPr>
          </a:p>
        </p:txBody>
      </p:sp>
      <p:pic>
        <p:nvPicPr>
          <p:cNvPr id="26" name="Picture 25">
            <a:extLst>
              <a:ext uri="{FF2B5EF4-FFF2-40B4-BE49-F238E27FC236}">
                <a16:creationId xmlns:a16="http://schemas.microsoft.com/office/drawing/2014/main" id="{D9DBFEB4-B322-1B14-FDF0-4804667D8C9B}"/>
              </a:ext>
            </a:extLst>
          </p:cNvPr>
          <p:cNvPicPr>
            <a:picLocks noChangeAspect="1"/>
          </p:cNvPicPr>
          <p:nvPr/>
        </p:nvPicPr>
        <p:blipFill>
          <a:blip r:embed="rId4"/>
          <a:stretch>
            <a:fillRect/>
          </a:stretch>
        </p:blipFill>
        <p:spPr>
          <a:xfrm>
            <a:off x="9413823" y="698460"/>
            <a:ext cx="1143211" cy="840737"/>
          </a:xfrm>
          <a:prstGeom prst="rect">
            <a:avLst/>
          </a:prstGeom>
        </p:spPr>
      </p:pic>
      <p:sp>
        <p:nvSpPr>
          <p:cNvPr id="28" name="TextBox 27">
            <a:extLst>
              <a:ext uri="{FF2B5EF4-FFF2-40B4-BE49-F238E27FC236}">
                <a16:creationId xmlns:a16="http://schemas.microsoft.com/office/drawing/2014/main" id="{306DD2AA-ADAB-BEC6-E3E0-E5C3BC4B116C}"/>
              </a:ext>
            </a:extLst>
          </p:cNvPr>
          <p:cNvSpPr txBox="1"/>
          <p:nvPr/>
        </p:nvSpPr>
        <p:spPr>
          <a:xfrm>
            <a:off x="9012555" y="1710865"/>
            <a:ext cx="2847386" cy="600164"/>
          </a:xfrm>
          <a:prstGeom prst="rect">
            <a:avLst/>
          </a:prstGeom>
          <a:noFill/>
        </p:spPr>
        <p:txBody>
          <a:bodyPr wrap="square">
            <a:spAutoFit/>
          </a:bodyPr>
          <a:lstStyle/>
          <a:p>
            <a:r>
              <a:rPr lang="en-US" sz="1100">
                <a:solidFill>
                  <a:schemeClr val="bg1"/>
                </a:solidFill>
                <a:latin typeface="Product Sans" panose="020B0403030502040203" pitchFamily="34" charset="0"/>
              </a:rPr>
              <a:t>Inadequate degassing can lead to off-flavors, oxidation, and reduced product quality when bottles are reused.</a:t>
            </a:r>
            <a:endParaRPr lang="en-IN" sz="1100">
              <a:solidFill>
                <a:schemeClr val="bg1"/>
              </a:solidFill>
              <a:latin typeface="Product Sans" panose="020B0403030502040203" pitchFamily="34" charset="0"/>
            </a:endParaRPr>
          </a:p>
        </p:txBody>
      </p:sp>
      <p:pic>
        <p:nvPicPr>
          <p:cNvPr id="30" name="Picture 29">
            <a:extLst>
              <a:ext uri="{FF2B5EF4-FFF2-40B4-BE49-F238E27FC236}">
                <a16:creationId xmlns:a16="http://schemas.microsoft.com/office/drawing/2014/main" id="{2B85ECDB-2D9E-74E1-6AFA-B74F187687EA}"/>
              </a:ext>
            </a:extLst>
          </p:cNvPr>
          <p:cNvPicPr>
            <a:picLocks noChangeAspect="1"/>
          </p:cNvPicPr>
          <p:nvPr/>
        </p:nvPicPr>
        <p:blipFill>
          <a:blip r:embed="rId5"/>
          <a:stretch>
            <a:fillRect/>
          </a:stretch>
        </p:blipFill>
        <p:spPr>
          <a:xfrm>
            <a:off x="828019" y="3634898"/>
            <a:ext cx="892643" cy="892643"/>
          </a:xfrm>
          <a:prstGeom prst="rect">
            <a:avLst/>
          </a:prstGeom>
        </p:spPr>
      </p:pic>
      <p:sp>
        <p:nvSpPr>
          <p:cNvPr id="32" name="TextBox 31">
            <a:extLst>
              <a:ext uri="{FF2B5EF4-FFF2-40B4-BE49-F238E27FC236}">
                <a16:creationId xmlns:a16="http://schemas.microsoft.com/office/drawing/2014/main" id="{A90B53B0-C4DA-E607-9C67-9417E793198C}"/>
              </a:ext>
            </a:extLst>
          </p:cNvPr>
          <p:cNvSpPr txBox="1"/>
          <p:nvPr/>
        </p:nvSpPr>
        <p:spPr>
          <a:xfrm>
            <a:off x="117341" y="2917050"/>
            <a:ext cx="3206644" cy="600164"/>
          </a:xfrm>
          <a:prstGeom prst="rect">
            <a:avLst/>
          </a:prstGeom>
          <a:noFill/>
        </p:spPr>
        <p:txBody>
          <a:bodyPr wrap="square">
            <a:spAutoFit/>
          </a:bodyPr>
          <a:lstStyle/>
          <a:p>
            <a:r>
              <a:rPr lang="en-US" sz="1100">
                <a:solidFill>
                  <a:schemeClr val="bg1"/>
                </a:solidFill>
                <a:latin typeface="Product Sans" panose="020B0403030502040203" pitchFamily="34" charset="0"/>
              </a:rPr>
              <a:t>Low public awareness of glass recycling benefits and lack of incentives (e.g., deposit-return schemes) reduce bottle recovery rates.</a:t>
            </a:r>
            <a:endParaRPr lang="en-IN" sz="1100">
              <a:solidFill>
                <a:schemeClr val="bg1"/>
              </a:solidFill>
              <a:latin typeface="Product Sans" panose="020B0403030502040203" pitchFamily="34" charset="0"/>
            </a:endParaRPr>
          </a:p>
        </p:txBody>
      </p:sp>
      <p:pic>
        <p:nvPicPr>
          <p:cNvPr id="34" name="Picture 33">
            <a:extLst>
              <a:ext uri="{FF2B5EF4-FFF2-40B4-BE49-F238E27FC236}">
                <a16:creationId xmlns:a16="http://schemas.microsoft.com/office/drawing/2014/main" id="{B01BCE9F-5C89-7D23-419E-BE0E57732F8B}"/>
              </a:ext>
            </a:extLst>
          </p:cNvPr>
          <p:cNvPicPr>
            <a:picLocks noChangeAspect="1"/>
          </p:cNvPicPr>
          <p:nvPr/>
        </p:nvPicPr>
        <p:blipFill>
          <a:blip r:embed="rId6"/>
          <a:stretch>
            <a:fillRect/>
          </a:stretch>
        </p:blipFill>
        <p:spPr>
          <a:xfrm>
            <a:off x="5121434" y="2851875"/>
            <a:ext cx="1390002" cy="926668"/>
          </a:xfrm>
          <a:prstGeom prst="rect">
            <a:avLst/>
          </a:prstGeom>
        </p:spPr>
      </p:pic>
      <p:sp>
        <p:nvSpPr>
          <p:cNvPr id="36" name="TextBox 35">
            <a:extLst>
              <a:ext uri="{FF2B5EF4-FFF2-40B4-BE49-F238E27FC236}">
                <a16:creationId xmlns:a16="http://schemas.microsoft.com/office/drawing/2014/main" id="{AF14C63B-7802-9649-58BA-4C7E33C86BB7}"/>
              </a:ext>
            </a:extLst>
          </p:cNvPr>
          <p:cNvSpPr txBox="1"/>
          <p:nvPr/>
        </p:nvSpPr>
        <p:spPr>
          <a:xfrm>
            <a:off x="4109914" y="3845395"/>
            <a:ext cx="3765031" cy="938719"/>
          </a:xfrm>
          <a:prstGeom prst="rect">
            <a:avLst/>
          </a:prstGeom>
          <a:noFill/>
        </p:spPr>
        <p:txBody>
          <a:bodyPr wrap="square">
            <a:spAutoFit/>
          </a:bodyPr>
          <a:lstStyle/>
          <a:p>
            <a:r>
              <a:rPr lang="en-US" sz="1100">
                <a:solidFill>
                  <a:schemeClr val="bg1"/>
                </a:solidFill>
                <a:latin typeface="Product Sans" panose="020B0403030502040203" pitchFamily="34" charset="0"/>
              </a:rPr>
              <a:t>Scrapers often sell collected glass directly to smelters because it’s faster, easier, and offers immediate cash returns. Sorting, cleaning, and transporting bottles for reuse requires more labor and coordination, reducing their motivation to support circular packaging systems.</a:t>
            </a:r>
            <a:endParaRPr lang="en-IN" sz="1100">
              <a:solidFill>
                <a:schemeClr val="bg1"/>
              </a:solidFill>
              <a:latin typeface="Product Sans" panose="020B0403030502040203" pitchFamily="34" charset="0"/>
            </a:endParaRPr>
          </a:p>
        </p:txBody>
      </p:sp>
      <p:pic>
        <p:nvPicPr>
          <p:cNvPr id="38" name="Picture 37">
            <a:extLst>
              <a:ext uri="{FF2B5EF4-FFF2-40B4-BE49-F238E27FC236}">
                <a16:creationId xmlns:a16="http://schemas.microsoft.com/office/drawing/2014/main" id="{08966056-BBA5-5EE3-9E8D-FCC8717F575B}"/>
              </a:ext>
            </a:extLst>
          </p:cNvPr>
          <p:cNvPicPr>
            <a:picLocks noChangeAspect="1"/>
          </p:cNvPicPr>
          <p:nvPr/>
        </p:nvPicPr>
        <p:blipFill>
          <a:blip r:embed="rId7"/>
          <a:stretch>
            <a:fillRect/>
          </a:stretch>
        </p:blipFill>
        <p:spPr>
          <a:xfrm>
            <a:off x="9413823" y="3706340"/>
            <a:ext cx="1390002" cy="926668"/>
          </a:xfrm>
          <a:prstGeom prst="rect">
            <a:avLst/>
          </a:prstGeom>
        </p:spPr>
      </p:pic>
      <p:sp>
        <p:nvSpPr>
          <p:cNvPr id="40" name="TextBox 39">
            <a:extLst>
              <a:ext uri="{FF2B5EF4-FFF2-40B4-BE49-F238E27FC236}">
                <a16:creationId xmlns:a16="http://schemas.microsoft.com/office/drawing/2014/main" id="{BF331662-09C0-A40F-12C3-6194A15882C2}"/>
              </a:ext>
            </a:extLst>
          </p:cNvPr>
          <p:cNvSpPr txBox="1"/>
          <p:nvPr/>
        </p:nvSpPr>
        <p:spPr>
          <a:xfrm>
            <a:off x="8847092" y="2687665"/>
            <a:ext cx="3178311" cy="600164"/>
          </a:xfrm>
          <a:prstGeom prst="rect">
            <a:avLst/>
          </a:prstGeom>
          <a:noFill/>
        </p:spPr>
        <p:txBody>
          <a:bodyPr wrap="square">
            <a:spAutoFit/>
          </a:bodyPr>
          <a:lstStyle/>
          <a:p>
            <a:r>
              <a:rPr lang="en-US" sz="1100">
                <a:solidFill>
                  <a:schemeClr val="bg1"/>
                </a:solidFill>
                <a:latin typeface="Product Sans" panose="020B0403030502040203" pitchFamily="34" charset="0"/>
              </a:rPr>
              <a:t>Weak collaboration among manufacturers, distributors, and recyclers creates major inefficiencies in circular glass packaging.</a:t>
            </a:r>
            <a:endParaRPr lang="en-IN" sz="1100">
              <a:solidFill>
                <a:schemeClr val="bg1"/>
              </a:solidFill>
              <a:latin typeface="Product Sans" panose="020B0403030502040203" pitchFamily="34" charset="0"/>
            </a:endParaRPr>
          </a:p>
        </p:txBody>
      </p:sp>
      <p:sp>
        <p:nvSpPr>
          <p:cNvPr id="44" name="TextBox 43">
            <a:extLst>
              <a:ext uri="{FF2B5EF4-FFF2-40B4-BE49-F238E27FC236}">
                <a16:creationId xmlns:a16="http://schemas.microsoft.com/office/drawing/2014/main" id="{42504352-E3C4-5336-2F7A-213B62439692}"/>
              </a:ext>
            </a:extLst>
          </p:cNvPr>
          <p:cNvSpPr txBox="1"/>
          <p:nvPr/>
        </p:nvSpPr>
        <p:spPr>
          <a:xfrm>
            <a:off x="65478" y="5107812"/>
            <a:ext cx="12025402" cy="954107"/>
          </a:xfrm>
          <a:prstGeom prst="rect">
            <a:avLst/>
          </a:prstGeom>
          <a:noFill/>
        </p:spPr>
        <p:txBody>
          <a:bodyPr wrap="square">
            <a:spAutoFit/>
          </a:bodyPr>
          <a:lstStyle/>
          <a:p>
            <a:r>
              <a:rPr lang="en-US" sz="1400">
                <a:solidFill>
                  <a:schemeClr val="bg1"/>
                </a:solidFill>
                <a:latin typeface="Product Sans" panose="020B0403030502040203" pitchFamily="34" charset="0"/>
              </a:rPr>
              <a:t>Glass bottle recycling in the alcobev industry struggles with fragile reverse logistics, where the use of gunny bags, poor handling, and high breakage rates make collection unprofitable and discourage scrappers from supporting circular packaging. Operational inefficiencies like inadequate degassing, weak sorting infrastructure, and a preference for smelting over reuse worsen the challenge, while poor coordination between stakeholders and low consumer incentives create a fragmented ecosystem.</a:t>
            </a:r>
            <a:endParaRPr lang="en-IN" sz="1400">
              <a:solidFill>
                <a:schemeClr val="bg1"/>
              </a:solidFill>
              <a:latin typeface="Product Sans" panose="020B0403030502040203" pitchFamily="34" charset="0"/>
            </a:endParaRPr>
          </a:p>
        </p:txBody>
      </p:sp>
      <p:sp>
        <p:nvSpPr>
          <p:cNvPr id="46" name="TextBox 45">
            <a:extLst>
              <a:ext uri="{FF2B5EF4-FFF2-40B4-BE49-F238E27FC236}">
                <a16:creationId xmlns:a16="http://schemas.microsoft.com/office/drawing/2014/main" id="{F2BEC2D9-DB69-932F-5B65-094AF11C9D4A}"/>
              </a:ext>
            </a:extLst>
          </p:cNvPr>
          <p:cNvSpPr txBox="1"/>
          <p:nvPr/>
        </p:nvSpPr>
        <p:spPr>
          <a:xfrm>
            <a:off x="65478" y="6158735"/>
            <a:ext cx="12025402" cy="523220"/>
          </a:xfrm>
          <a:prstGeom prst="rect">
            <a:avLst/>
          </a:prstGeom>
          <a:noFill/>
        </p:spPr>
        <p:txBody>
          <a:bodyPr wrap="square">
            <a:spAutoFit/>
          </a:bodyPr>
          <a:lstStyle/>
          <a:p>
            <a:r>
              <a:rPr lang="en-US" sz="1400" b="1">
                <a:solidFill>
                  <a:srgbClr val="FFFF00"/>
                </a:solidFill>
                <a:latin typeface="Product Sans" panose="020B0403030502040203" pitchFamily="34" charset="0"/>
              </a:rPr>
              <a:t>Solving this demands deposit-return schemes, investment in safer collection systems, automated sorting and washing facilities, and stronger manufacturer–collector partnerships.</a:t>
            </a:r>
            <a:endParaRPr lang="en-IN" sz="1400" b="1">
              <a:solidFill>
                <a:srgbClr val="FFFF00"/>
              </a:solidFill>
              <a:latin typeface="Product Sans" panose="020B0403030502040203" pitchFamily="34" charset="0"/>
            </a:endParaRPr>
          </a:p>
        </p:txBody>
      </p:sp>
    </p:spTree>
    <p:extLst>
      <p:ext uri="{BB962C8B-B14F-4D97-AF65-F5344CB8AC3E}">
        <p14:creationId xmlns:p14="http://schemas.microsoft.com/office/powerpoint/2010/main" val="1512896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1B715"/>
            </a:gs>
            <a:gs pos="80000">
              <a:srgbClr val="F7DD00"/>
            </a:gs>
            <a:gs pos="97000">
              <a:srgbClr val="F8DF00">
                <a:alpha val="77000"/>
              </a:srgbClr>
            </a:gs>
            <a:gs pos="100000">
              <a:srgbClr val="F9E000">
                <a:alpha val="6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CBD910ED-0455-28F6-686B-A72163EA0DF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CF9C5F8-5008-8BE2-02BE-FE5B65AD0F9A}"/>
              </a:ext>
            </a:extLst>
          </p:cNvPr>
          <p:cNvSpPr txBox="1"/>
          <p:nvPr/>
        </p:nvSpPr>
        <p:spPr>
          <a:xfrm>
            <a:off x="2097992" y="-49861"/>
            <a:ext cx="7986010" cy="523220"/>
          </a:xfrm>
          <a:prstGeom prst="rect">
            <a:avLst/>
          </a:prstGeom>
          <a:noFill/>
        </p:spPr>
        <p:txBody>
          <a:bodyPr wrap="square">
            <a:spAutoFit/>
          </a:bodyPr>
          <a:lstStyle/>
          <a:p>
            <a:r>
              <a:rPr lang="en-US" sz="2800" b="1">
                <a:solidFill>
                  <a:srgbClr val="FFFF00"/>
                </a:solidFill>
                <a:highlight>
                  <a:srgbClr val="000000"/>
                </a:highlight>
                <a:latin typeface="Product Sans" panose="020B0403030502040203" pitchFamily="34" charset="0"/>
              </a:rPr>
              <a:t>Scalable Solutions for Circular Glass Packaging</a:t>
            </a:r>
            <a:endParaRPr lang="en-IN" sz="2800" b="1">
              <a:solidFill>
                <a:srgbClr val="FFFF00"/>
              </a:solidFill>
              <a:highlight>
                <a:srgbClr val="000000"/>
              </a:highlight>
              <a:latin typeface="Product Sans" panose="020B0403030502040203" pitchFamily="34" charset="0"/>
            </a:endParaRPr>
          </a:p>
        </p:txBody>
      </p:sp>
      <p:sp>
        <p:nvSpPr>
          <p:cNvPr id="22" name="TextBox 21">
            <a:extLst>
              <a:ext uri="{FF2B5EF4-FFF2-40B4-BE49-F238E27FC236}">
                <a16:creationId xmlns:a16="http://schemas.microsoft.com/office/drawing/2014/main" id="{F2725D38-F766-42F8-847E-607C94E9E756}"/>
              </a:ext>
            </a:extLst>
          </p:cNvPr>
          <p:cNvSpPr txBox="1"/>
          <p:nvPr/>
        </p:nvSpPr>
        <p:spPr>
          <a:xfrm>
            <a:off x="-22837" y="435746"/>
            <a:ext cx="1858780" cy="369332"/>
          </a:xfrm>
          <a:prstGeom prst="rect">
            <a:avLst/>
          </a:prstGeom>
          <a:noFill/>
        </p:spPr>
        <p:txBody>
          <a:bodyPr wrap="square" rtlCol="0">
            <a:spAutoFit/>
          </a:bodyPr>
          <a:lstStyle/>
          <a:p>
            <a:r>
              <a:rPr lang="en-IN" b="1">
                <a:latin typeface="Product Sans" panose="020B0403030502040203" pitchFamily="34" charset="0"/>
              </a:rPr>
              <a:t>Current State</a:t>
            </a:r>
          </a:p>
        </p:txBody>
      </p:sp>
      <p:sp>
        <p:nvSpPr>
          <p:cNvPr id="23" name="TextBox 22">
            <a:extLst>
              <a:ext uri="{FF2B5EF4-FFF2-40B4-BE49-F238E27FC236}">
                <a16:creationId xmlns:a16="http://schemas.microsoft.com/office/drawing/2014/main" id="{1E6A7F9F-BCF2-4F8A-73A3-9C63B1342698}"/>
              </a:ext>
            </a:extLst>
          </p:cNvPr>
          <p:cNvSpPr txBox="1"/>
          <p:nvPr/>
        </p:nvSpPr>
        <p:spPr>
          <a:xfrm>
            <a:off x="1682039" y="430837"/>
            <a:ext cx="2178570" cy="369332"/>
          </a:xfrm>
          <a:prstGeom prst="rect">
            <a:avLst/>
          </a:prstGeom>
          <a:noFill/>
        </p:spPr>
        <p:txBody>
          <a:bodyPr wrap="square" rtlCol="0">
            <a:spAutoFit/>
          </a:bodyPr>
          <a:lstStyle/>
          <a:p>
            <a:r>
              <a:rPr lang="en-IN" b="1">
                <a:latin typeface="Product Sans" panose="020B0403030502040203" pitchFamily="34" charset="0"/>
              </a:rPr>
              <a:t>Proposed Future</a:t>
            </a:r>
          </a:p>
        </p:txBody>
      </p:sp>
      <p:pic>
        <p:nvPicPr>
          <p:cNvPr id="35" name="Picture 34">
            <a:extLst>
              <a:ext uri="{FF2B5EF4-FFF2-40B4-BE49-F238E27FC236}">
                <a16:creationId xmlns:a16="http://schemas.microsoft.com/office/drawing/2014/main" id="{FAAE2A15-2D18-D040-EC93-212A45E7EA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5897" y="4419720"/>
            <a:ext cx="1347456" cy="898304"/>
          </a:xfrm>
          <a:prstGeom prst="rect">
            <a:avLst/>
          </a:prstGeom>
        </p:spPr>
      </p:pic>
      <p:sp>
        <p:nvSpPr>
          <p:cNvPr id="37" name="TextBox 36">
            <a:extLst>
              <a:ext uri="{FF2B5EF4-FFF2-40B4-BE49-F238E27FC236}">
                <a16:creationId xmlns:a16="http://schemas.microsoft.com/office/drawing/2014/main" id="{9B109962-3CAB-560F-85C9-FEB24A3D6F3C}"/>
              </a:ext>
            </a:extLst>
          </p:cNvPr>
          <p:cNvSpPr txBox="1"/>
          <p:nvPr/>
        </p:nvSpPr>
        <p:spPr>
          <a:xfrm>
            <a:off x="4412735" y="434065"/>
            <a:ext cx="2559570" cy="369332"/>
          </a:xfrm>
          <a:prstGeom prst="rect">
            <a:avLst/>
          </a:prstGeom>
          <a:noFill/>
        </p:spPr>
        <p:txBody>
          <a:bodyPr wrap="square">
            <a:spAutoFit/>
          </a:bodyPr>
          <a:lstStyle/>
          <a:p>
            <a:r>
              <a:rPr lang="en-IN" b="1" i="0">
                <a:effectLst/>
                <a:latin typeface="Product Sans" panose="020B0403030502040203" pitchFamily="34" charset="0"/>
              </a:rPr>
              <a:t>Advantages/Benefits</a:t>
            </a:r>
            <a:endParaRPr lang="en-IN" b="1">
              <a:latin typeface="Product Sans" panose="020B0403030502040203" pitchFamily="34" charset="0"/>
            </a:endParaRPr>
          </a:p>
        </p:txBody>
      </p:sp>
      <p:sp>
        <p:nvSpPr>
          <p:cNvPr id="39" name="TextBox 38">
            <a:extLst>
              <a:ext uri="{FF2B5EF4-FFF2-40B4-BE49-F238E27FC236}">
                <a16:creationId xmlns:a16="http://schemas.microsoft.com/office/drawing/2014/main" id="{AB32A024-9F33-99B0-FEEE-9D39EBA9C27E}"/>
              </a:ext>
            </a:extLst>
          </p:cNvPr>
          <p:cNvSpPr txBox="1"/>
          <p:nvPr/>
        </p:nvSpPr>
        <p:spPr>
          <a:xfrm>
            <a:off x="8621917" y="449238"/>
            <a:ext cx="6093500" cy="369332"/>
          </a:xfrm>
          <a:prstGeom prst="rect">
            <a:avLst/>
          </a:prstGeom>
          <a:noFill/>
        </p:spPr>
        <p:txBody>
          <a:bodyPr wrap="square">
            <a:spAutoFit/>
          </a:bodyPr>
          <a:lstStyle/>
          <a:p>
            <a:r>
              <a:rPr lang="en-IN" b="1" i="0">
                <a:effectLst/>
                <a:latin typeface="Product Sans" panose="020B0403030502040203" pitchFamily="34" charset="0"/>
              </a:rPr>
              <a:t>Risks/Challenges</a:t>
            </a:r>
            <a:endParaRPr lang="en-IN" b="1">
              <a:latin typeface="Product Sans" panose="020B0403030502040203" pitchFamily="34" charset="0"/>
            </a:endParaRPr>
          </a:p>
        </p:txBody>
      </p:sp>
      <p:pic>
        <p:nvPicPr>
          <p:cNvPr id="13" name="Picture 12">
            <a:extLst>
              <a:ext uri="{FF2B5EF4-FFF2-40B4-BE49-F238E27FC236}">
                <a16:creationId xmlns:a16="http://schemas.microsoft.com/office/drawing/2014/main" id="{6E128F8B-7AEB-BDF5-BBCB-639FD7E53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83823"/>
            <a:ext cx="1352550" cy="895350"/>
          </a:xfrm>
          <a:prstGeom prst="rect">
            <a:avLst/>
          </a:prstGeom>
        </p:spPr>
      </p:pic>
      <p:pic>
        <p:nvPicPr>
          <p:cNvPr id="26" name="Picture 25">
            <a:extLst>
              <a:ext uri="{FF2B5EF4-FFF2-40B4-BE49-F238E27FC236}">
                <a16:creationId xmlns:a16="http://schemas.microsoft.com/office/drawing/2014/main" id="{9D7E9DDC-1A41-DD04-85FA-9189081F09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5943" y="989279"/>
            <a:ext cx="1343025" cy="895350"/>
          </a:xfrm>
          <a:prstGeom prst="rect">
            <a:avLst/>
          </a:prstGeom>
        </p:spPr>
      </p:pic>
      <p:pic>
        <p:nvPicPr>
          <p:cNvPr id="30" name="Picture 29">
            <a:extLst>
              <a:ext uri="{FF2B5EF4-FFF2-40B4-BE49-F238E27FC236}">
                <a16:creationId xmlns:a16="http://schemas.microsoft.com/office/drawing/2014/main" id="{C1DA7A0F-4200-871A-04B8-A1A333836F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3" y="2533650"/>
            <a:ext cx="1352550" cy="895350"/>
          </a:xfrm>
          <a:prstGeom prst="rect">
            <a:avLst/>
          </a:prstGeom>
        </p:spPr>
      </p:pic>
      <p:pic>
        <p:nvPicPr>
          <p:cNvPr id="34" name="Picture 33">
            <a:extLst>
              <a:ext uri="{FF2B5EF4-FFF2-40B4-BE49-F238E27FC236}">
                <a16:creationId xmlns:a16="http://schemas.microsoft.com/office/drawing/2014/main" id="{BEAEF4F8-4E63-A2EE-67D2-C7D22EE172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354683"/>
            <a:ext cx="1352550" cy="904875"/>
          </a:xfrm>
          <a:prstGeom prst="rect">
            <a:avLst/>
          </a:prstGeom>
        </p:spPr>
      </p:pic>
      <p:pic>
        <p:nvPicPr>
          <p:cNvPr id="38" name="Picture 37">
            <a:extLst>
              <a:ext uri="{FF2B5EF4-FFF2-40B4-BE49-F238E27FC236}">
                <a16:creationId xmlns:a16="http://schemas.microsoft.com/office/drawing/2014/main" id="{5485142F-04CF-145C-8365-F87D0CF1EA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53983" y="2502669"/>
            <a:ext cx="1343025" cy="904875"/>
          </a:xfrm>
          <a:prstGeom prst="rect">
            <a:avLst/>
          </a:prstGeom>
        </p:spPr>
      </p:pic>
      <p:sp>
        <p:nvSpPr>
          <p:cNvPr id="51" name="TextBox 50">
            <a:extLst>
              <a:ext uri="{FF2B5EF4-FFF2-40B4-BE49-F238E27FC236}">
                <a16:creationId xmlns:a16="http://schemas.microsoft.com/office/drawing/2014/main" id="{2B7F124D-DC84-A21D-A7BD-84ABA03CF9A2}"/>
              </a:ext>
            </a:extLst>
          </p:cNvPr>
          <p:cNvSpPr txBox="1"/>
          <p:nvPr/>
        </p:nvSpPr>
        <p:spPr>
          <a:xfrm>
            <a:off x="8117551" y="1244430"/>
            <a:ext cx="3860607" cy="492443"/>
          </a:xfrm>
          <a:prstGeom prst="rect">
            <a:avLst/>
          </a:prstGeom>
          <a:noFill/>
        </p:spPr>
        <p:txBody>
          <a:bodyPr wrap="square">
            <a:spAutoFit/>
          </a:bodyPr>
          <a:lstStyle/>
          <a:p>
            <a:r>
              <a:rPr lang="en-US" sz="1300" b="1">
                <a:solidFill>
                  <a:srgbClr val="C00000"/>
                </a:solidFill>
                <a:highlight>
                  <a:srgbClr val="000000"/>
                </a:highlight>
                <a:latin typeface="Product Sans" panose="020B0403030502040203" pitchFamily="34" charset="0"/>
              </a:rPr>
              <a:t>They need regular cleaning and maintenance to stay hygienic and reusable</a:t>
            </a:r>
            <a:endParaRPr lang="en-IN" sz="1300" b="1">
              <a:solidFill>
                <a:srgbClr val="C00000"/>
              </a:solidFill>
              <a:highlight>
                <a:srgbClr val="000000"/>
              </a:highlight>
              <a:latin typeface="Product Sans" panose="020B0403030502040203" pitchFamily="34" charset="0"/>
            </a:endParaRPr>
          </a:p>
        </p:txBody>
      </p:sp>
      <p:sp>
        <p:nvSpPr>
          <p:cNvPr id="2" name="TextBox 1">
            <a:extLst>
              <a:ext uri="{FF2B5EF4-FFF2-40B4-BE49-F238E27FC236}">
                <a16:creationId xmlns:a16="http://schemas.microsoft.com/office/drawing/2014/main" id="{83F8CAF4-068A-EBB4-3751-4A95E3E8D621}"/>
              </a:ext>
            </a:extLst>
          </p:cNvPr>
          <p:cNvSpPr txBox="1"/>
          <p:nvPr/>
        </p:nvSpPr>
        <p:spPr>
          <a:xfrm>
            <a:off x="3826700" y="873165"/>
            <a:ext cx="4041776" cy="892552"/>
          </a:xfrm>
          <a:prstGeom prst="rect">
            <a:avLst/>
          </a:prstGeom>
          <a:noFill/>
        </p:spPr>
        <p:txBody>
          <a:bodyPr wrap="square" rtlCol="0">
            <a:spAutoFit/>
          </a:bodyPr>
          <a:lstStyle/>
          <a:p>
            <a:r>
              <a:rPr lang="en-US" sz="1300" b="1">
                <a:solidFill>
                  <a:srgbClr val="00B050"/>
                </a:solidFill>
                <a:highlight>
                  <a:srgbClr val="000000"/>
                </a:highlight>
                <a:latin typeface="Product Sans" panose="020B0403030502040203" pitchFamily="34" charset="0"/>
              </a:rPr>
              <a:t>More durable and rigid than gunny bags, so bottles break less during moves.</a:t>
            </a:r>
          </a:p>
          <a:p>
            <a:r>
              <a:rPr lang="en-US" sz="1300" b="1">
                <a:solidFill>
                  <a:srgbClr val="00B050"/>
                </a:solidFill>
                <a:highlight>
                  <a:srgbClr val="000000"/>
                </a:highlight>
                <a:latin typeface="Product Sans" panose="020B0403030502040203" pitchFamily="34" charset="0"/>
              </a:rPr>
              <a:t> </a:t>
            </a:r>
          </a:p>
          <a:p>
            <a:r>
              <a:rPr lang="en-US" sz="1300" b="1">
                <a:solidFill>
                  <a:srgbClr val="00B050"/>
                </a:solidFill>
                <a:highlight>
                  <a:srgbClr val="000000"/>
                </a:highlight>
                <a:latin typeface="Product Sans" panose="020B0403030502040203" pitchFamily="34" charset="0"/>
              </a:rPr>
              <a:t>  </a:t>
            </a:r>
          </a:p>
        </p:txBody>
      </p:sp>
      <p:sp>
        <p:nvSpPr>
          <p:cNvPr id="4" name="TextBox 3">
            <a:extLst>
              <a:ext uri="{FF2B5EF4-FFF2-40B4-BE49-F238E27FC236}">
                <a16:creationId xmlns:a16="http://schemas.microsoft.com/office/drawing/2014/main" id="{03E54931-899E-0A48-B42E-213CA141BC9D}"/>
              </a:ext>
            </a:extLst>
          </p:cNvPr>
          <p:cNvSpPr txBox="1"/>
          <p:nvPr/>
        </p:nvSpPr>
        <p:spPr>
          <a:xfrm>
            <a:off x="3826700" y="1343042"/>
            <a:ext cx="4041776" cy="492443"/>
          </a:xfrm>
          <a:prstGeom prst="rect">
            <a:avLst/>
          </a:prstGeom>
          <a:noFill/>
        </p:spPr>
        <p:txBody>
          <a:bodyPr wrap="square">
            <a:spAutoFit/>
          </a:bodyPr>
          <a:lstStyle/>
          <a:p>
            <a:r>
              <a:rPr lang="en-US" sz="1300" b="1" i="0">
                <a:solidFill>
                  <a:srgbClr val="009F48"/>
                </a:solidFill>
                <a:effectLst/>
                <a:highlight>
                  <a:srgbClr val="000000"/>
                </a:highlight>
                <a:latin typeface="Product Sans" panose="020B0403030502040203" pitchFamily="34" charset="0"/>
              </a:rPr>
              <a:t>Protects bottles in transport and handling, reducing losses</a:t>
            </a:r>
            <a:endParaRPr lang="en-US" sz="1300" b="1">
              <a:solidFill>
                <a:srgbClr val="009F48"/>
              </a:solidFill>
              <a:highlight>
                <a:srgbClr val="000000"/>
              </a:highlight>
              <a:latin typeface="Product Sans" panose="020B0403030502040203" pitchFamily="34" charset="0"/>
            </a:endParaRPr>
          </a:p>
        </p:txBody>
      </p:sp>
      <p:sp>
        <p:nvSpPr>
          <p:cNvPr id="9" name="TextBox 8">
            <a:extLst>
              <a:ext uri="{FF2B5EF4-FFF2-40B4-BE49-F238E27FC236}">
                <a16:creationId xmlns:a16="http://schemas.microsoft.com/office/drawing/2014/main" id="{047B8893-78B9-7935-1194-CFB93CAA7E99}"/>
              </a:ext>
            </a:extLst>
          </p:cNvPr>
          <p:cNvSpPr txBox="1"/>
          <p:nvPr/>
        </p:nvSpPr>
        <p:spPr>
          <a:xfrm>
            <a:off x="3826700" y="1807788"/>
            <a:ext cx="4218440" cy="492443"/>
          </a:xfrm>
          <a:prstGeom prst="rect">
            <a:avLst/>
          </a:prstGeom>
          <a:noFill/>
        </p:spPr>
        <p:txBody>
          <a:bodyPr wrap="square">
            <a:spAutoFit/>
          </a:bodyPr>
          <a:lstStyle/>
          <a:p>
            <a:pPr algn="l"/>
            <a:r>
              <a:rPr lang="en-US" sz="1300" b="1" i="0">
                <a:solidFill>
                  <a:srgbClr val="009F48"/>
                </a:solidFill>
                <a:effectLst/>
                <a:highlight>
                  <a:srgbClr val="000000"/>
                </a:highlight>
                <a:latin typeface="Product Sans" panose="020B0403030502040203" pitchFamily="34" charset="0"/>
              </a:rPr>
              <a:t>Easy, stable stacking for faster loading and unloading.</a:t>
            </a:r>
          </a:p>
        </p:txBody>
      </p:sp>
      <p:sp>
        <p:nvSpPr>
          <p:cNvPr id="11" name="TextBox 10">
            <a:extLst>
              <a:ext uri="{FF2B5EF4-FFF2-40B4-BE49-F238E27FC236}">
                <a16:creationId xmlns:a16="http://schemas.microsoft.com/office/drawing/2014/main" id="{C9EB9E35-EC15-AE55-049A-12EB5E1E138B}"/>
              </a:ext>
            </a:extLst>
          </p:cNvPr>
          <p:cNvSpPr txBox="1"/>
          <p:nvPr/>
        </p:nvSpPr>
        <p:spPr>
          <a:xfrm>
            <a:off x="3826700" y="2794523"/>
            <a:ext cx="4218440" cy="492443"/>
          </a:xfrm>
          <a:prstGeom prst="rect">
            <a:avLst/>
          </a:prstGeom>
          <a:noFill/>
        </p:spPr>
        <p:txBody>
          <a:bodyPr wrap="square">
            <a:spAutoFit/>
          </a:bodyPr>
          <a:lstStyle/>
          <a:p>
            <a:r>
              <a:rPr lang="en-US" sz="1300" b="1" i="0">
                <a:solidFill>
                  <a:srgbClr val="009F48"/>
                </a:solidFill>
                <a:effectLst/>
                <a:highlight>
                  <a:srgbClr val="000000"/>
                </a:highlight>
                <a:latin typeface="Product Sans" panose="020B0403030502040203" pitchFamily="34" charset="0"/>
              </a:rPr>
              <a:t>Deposit-return gives a small cash incentive, so people bring bottles back</a:t>
            </a:r>
            <a:endParaRPr lang="en-US" sz="1300" b="1">
              <a:solidFill>
                <a:srgbClr val="009F48"/>
              </a:solidFill>
              <a:highlight>
                <a:srgbClr val="000000"/>
              </a:highlight>
              <a:latin typeface="Product Sans" panose="020B0403030502040203" pitchFamily="34" charset="0"/>
            </a:endParaRPr>
          </a:p>
        </p:txBody>
      </p:sp>
      <p:sp>
        <p:nvSpPr>
          <p:cNvPr id="14" name="TextBox 13">
            <a:extLst>
              <a:ext uri="{FF2B5EF4-FFF2-40B4-BE49-F238E27FC236}">
                <a16:creationId xmlns:a16="http://schemas.microsoft.com/office/drawing/2014/main" id="{EB8AE318-C115-5DB6-C0A7-D2AC99BCAE5F}"/>
              </a:ext>
            </a:extLst>
          </p:cNvPr>
          <p:cNvSpPr txBox="1"/>
          <p:nvPr/>
        </p:nvSpPr>
        <p:spPr>
          <a:xfrm>
            <a:off x="3826700" y="3253247"/>
            <a:ext cx="4218440" cy="492443"/>
          </a:xfrm>
          <a:prstGeom prst="rect">
            <a:avLst/>
          </a:prstGeom>
          <a:noFill/>
        </p:spPr>
        <p:txBody>
          <a:bodyPr wrap="square">
            <a:spAutoFit/>
          </a:bodyPr>
          <a:lstStyle/>
          <a:p>
            <a:pPr algn="l"/>
            <a:r>
              <a:rPr lang="en-US" sz="1300" b="1" i="0">
                <a:solidFill>
                  <a:srgbClr val="009F48"/>
                </a:solidFill>
                <a:effectLst/>
                <a:highlight>
                  <a:srgbClr val="000000"/>
                </a:highlight>
                <a:latin typeface="Product Sans" panose="020B0403030502040203" pitchFamily="34" charset="0"/>
              </a:rPr>
              <a:t>Return rates can reach 90%+ in well-run systems (e.g., Germany about 98%; Norway above 90%).</a:t>
            </a:r>
          </a:p>
        </p:txBody>
      </p:sp>
      <p:sp>
        <p:nvSpPr>
          <p:cNvPr id="16" name="TextBox 15">
            <a:extLst>
              <a:ext uri="{FF2B5EF4-FFF2-40B4-BE49-F238E27FC236}">
                <a16:creationId xmlns:a16="http://schemas.microsoft.com/office/drawing/2014/main" id="{32929E2D-399D-5F6A-9F58-D53F88259F72}"/>
              </a:ext>
            </a:extLst>
          </p:cNvPr>
          <p:cNvSpPr txBox="1"/>
          <p:nvPr/>
        </p:nvSpPr>
        <p:spPr>
          <a:xfrm>
            <a:off x="3826700" y="2324239"/>
            <a:ext cx="4218440" cy="492443"/>
          </a:xfrm>
          <a:prstGeom prst="rect">
            <a:avLst/>
          </a:prstGeom>
          <a:noFill/>
        </p:spPr>
        <p:txBody>
          <a:bodyPr wrap="square">
            <a:spAutoFit/>
          </a:bodyPr>
          <a:lstStyle/>
          <a:p>
            <a:r>
              <a:rPr lang="en-US" sz="1300" b="1" i="0">
                <a:solidFill>
                  <a:srgbClr val="009F48"/>
                </a:solidFill>
                <a:effectLst/>
                <a:highlight>
                  <a:srgbClr val="000000"/>
                </a:highlight>
                <a:latin typeface="Product Sans" panose="020B0403030502040203" pitchFamily="34" charset="0"/>
              </a:rPr>
              <a:t>Returned bottles are cleaner and easier to recycle, lowering costs and improving quality</a:t>
            </a:r>
            <a:endParaRPr lang="en-US" sz="1300" b="1">
              <a:solidFill>
                <a:srgbClr val="009F48"/>
              </a:solidFill>
              <a:highlight>
                <a:srgbClr val="000000"/>
              </a:highlight>
              <a:latin typeface="Product Sans" panose="020B0403030502040203" pitchFamily="34" charset="0"/>
            </a:endParaRPr>
          </a:p>
        </p:txBody>
      </p:sp>
      <p:sp>
        <p:nvSpPr>
          <p:cNvPr id="18" name="TextBox 17">
            <a:extLst>
              <a:ext uri="{FF2B5EF4-FFF2-40B4-BE49-F238E27FC236}">
                <a16:creationId xmlns:a16="http://schemas.microsoft.com/office/drawing/2014/main" id="{C9114D9A-A6FA-681F-C6E7-59F835FFBD0F}"/>
              </a:ext>
            </a:extLst>
          </p:cNvPr>
          <p:cNvSpPr txBox="1"/>
          <p:nvPr/>
        </p:nvSpPr>
        <p:spPr>
          <a:xfrm>
            <a:off x="3826700" y="4108462"/>
            <a:ext cx="4052558" cy="492443"/>
          </a:xfrm>
          <a:prstGeom prst="rect">
            <a:avLst/>
          </a:prstGeom>
          <a:noFill/>
        </p:spPr>
        <p:txBody>
          <a:bodyPr wrap="square">
            <a:spAutoFit/>
          </a:bodyPr>
          <a:lstStyle/>
          <a:p>
            <a:r>
              <a:rPr lang="en-US" sz="1300" b="1">
                <a:solidFill>
                  <a:srgbClr val="009F48"/>
                </a:solidFill>
                <a:effectLst/>
                <a:highlight>
                  <a:srgbClr val="000000"/>
                </a:highlight>
                <a:latin typeface="Product Sans" panose="020B0403030502040203" pitchFamily="34" charset="0"/>
              </a:rPr>
              <a:t>Manufacturer–collector partnerships secure a steady, quality supply of recycled glass</a:t>
            </a:r>
            <a:endParaRPr lang="en-US" sz="1300" b="1">
              <a:solidFill>
                <a:srgbClr val="009F48"/>
              </a:solidFill>
              <a:highlight>
                <a:srgbClr val="000000"/>
              </a:highlight>
              <a:latin typeface="Product Sans" panose="020B0403030502040203" pitchFamily="34" charset="0"/>
            </a:endParaRPr>
          </a:p>
        </p:txBody>
      </p:sp>
      <p:sp>
        <p:nvSpPr>
          <p:cNvPr id="20" name="TextBox 19">
            <a:extLst>
              <a:ext uri="{FF2B5EF4-FFF2-40B4-BE49-F238E27FC236}">
                <a16:creationId xmlns:a16="http://schemas.microsoft.com/office/drawing/2014/main" id="{AACA4AC5-82C0-4EA2-92D7-7042660A71DF}"/>
              </a:ext>
            </a:extLst>
          </p:cNvPr>
          <p:cNvSpPr txBox="1"/>
          <p:nvPr/>
        </p:nvSpPr>
        <p:spPr>
          <a:xfrm>
            <a:off x="3826700" y="4622651"/>
            <a:ext cx="4307872" cy="492443"/>
          </a:xfrm>
          <a:prstGeom prst="rect">
            <a:avLst/>
          </a:prstGeom>
          <a:noFill/>
        </p:spPr>
        <p:txBody>
          <a:bodyPr wrap="square">
            <a:spAutoFit/>
          </a:bodyPr>
          <a:lstStyle/>
          <a:p>
            <a:r>
              <a:rPr lang="en-US" sz="1300" b="1">
                <a:solidFill>
                  <a:srgbClr val="009F48"/>
                </a:solidFill>
                <a:effectLst/>
                <a:highlight>
                  <a:srgbClr val="000000"/>
                </a:highlight>
                <a:latin typeface="Product Sans" panose="020B0403030502040203" pitchFamily="34" charset="0"/>
              </a:rPr>
              <a:t>They raise collectors’ incomes with fair pay, bonuses, and safety support</a:t>
            </a:r>
            <a:endParaRPr lang="en-US" sz="1300" b="1">
              <a:solidFill>
                <a:srgbClr val="009F48"/>
              </a:solidFill>
              <a:highlight>
                <a:srgbClr val="000000"/>
              </a:highlight>
              <a:latin typeface="Product Sans" panose="020B0403030502040203" pitchFamily="34" charset="0"/>
            </a:endParaRPr>
          </a:p>
        </p:txBody>
      </p:sp>
      <p:sp>
        <p:nvSpPr>
          <p:cNvPr id="24" name="TextBox 23">
            <a:extLst>
              <a:ext uri="{FF2B5EF4-FFF2-40B4-BE49-F238E27FC236}">
                <a16:creationId xmlns:a16="http://schemas.microsoft.com/office/drawing/2014/main" id="{BADB193B-8C5F-BC73-AF5B-62597516C4B5}"/>
              </a:ext>
            </a:extLst>
          </p:cNvPr>
          <p:cNvSpPr txBox="1"/>
          <p:nvPr/>
        </p:nvSpPr>
        <p:spPr>
          <a:xfrm>
            <a:off x="3826700" y="5099375"/>
            <a:ext cx="4334017" cy="492443"/>
          </a:xfrm>
          <a:prstGeom prst="rect">
            <a:avLst/>
          </a:prstGeom>
          <a:noFill/>
        </p:spPr>
        <p:txBody>
          <a:bodyPr wrap="square">
            <a:spAutoFit/>
          </a:bodyPr>
          <a:lstStyle/>
          <a:p>
            <a:r>
              <a:rPr lang="en-US" sz="1300" b="1">
                <a:solidFill>
                  <a:srgbClr val="009F48"/>
                </a:solidFill>
                <a:effectLst/>
                <a:highlight>
                  <a:srgbClr val="000000"/>
                </a:highlight>
                <a:latin typeface="Product Sans" panose="020B0403030502040203" pitchFamily="34" charset="0"/>
              </a:rPr>
              <a:t>These alliances strengthen brand sustainability and unlock eco‑market opportunities</a:t>
            </a:r>
            <a:endParaRPr lang="en-US" sz="1300" b="1">
              <a:solidFill>
                <a:srgbClr val="009F48"/>
              </a:solidFill>
              <a:highlight>
                <a:srgbClr val="000000"/>
              </a:highlight>
              <a:latin typeface="Product Sans" panose="020B0403030502040203" pitchFamily="34" charset="0"/>
            </a:endParaRPr>
          </a:p>
        </p:txBody>
      </p:sp>
      <p:sp>
        <p:nvSpPr>
          <p:cNvPr id="27" name="TextBox 26">
            <a:extLst>
              <a:ext uri="{FF2B5EF4-FFF2-40B4-BE49-F238E27FC236}">
                <a16:creationId xmlns:a16="http://schemas.microsoft.com/office/drawing/2014/main" id="{3CB77372-D3F5-1BEC-AAC7-54EA581CFF52}"/>
              </a:ext>
            </a:extLst>
          </p:cNvPr>
          <p:cNvSpPr txBox="1"/>
          <p:nvPr/>
        </p:nvSpPr>
        <p:spPr>
          <a:xfrm>
            <a:off x="8117551" y="885699"/>
            <a:ext cx="7546258" cy="292388"/>
          </a:xfrm>
          <a:prstGeom prst="rect">
            <a:avLst/>
          </a:prstGeom>
          <a:noFill/>
        </p:spPr>
        <p:txBody>
          <a:bodyPr wrap="square">
            <a:spAutoFit/>
          </a:bodyPr>
          <a:lstStyle/>
          <a:p>
            <a:pPr algn="l"/>
            <a:r>
              <a:rPr lang="en-US" sz="1300" b="1" i="0">
                <a:solidFill>
                  <a:srgbClr val="C00000"/>
                </a:solidFill>
                <a:effectLst/>
                <a:highlight>
                  <a:srgbClr val="000000"/>
                </a:highlight>
                <a:latin typeface="Product Sans" panose="020B0403030502040203" pitchFamily="34" charset="0"/>
              </a:rPr>
              <a:t>Higher upfront cost is a key drawback.</a:t>
            </a:r>
          </a:p>
        </p:txBody>
      </p:sp>
      <p:sp>
        <p:nvSpPr>
          <p:cNvPr id="29" name="TextBox 28">
            <a:extLst>
              <a:ext uri="{FF2B5EF4-FFF2-40B4-BE49-F238E27FC236}">
                <a16:creationId xmlns:a16="http://schemas.microsoft.com/office/drawing/2014/main" id="{C0E3077F-041F-3D35-AC33-B9C10D020118}"/>
              </a:ext>
            </a:extLst>
          </p:cNvPr>
          <p:cNvSpPr txBox="1"/>
          <p:nvPr/>
        </p:nvSpPr>
        <p:spPr>
          <a:xfrm>
            <a:off x="8117551" y="1702936"/>
            <a:ext cx="4226349" cy="492443"/>
          </a:xfrm>
          <a:prstGeom prst="rect">
            <a:avLst/>
          </a:prstGeom>
          <a:noFill/>
        </p:spPr>
        <p:txBody>
          <a:bodyPr wrap="square">
            <a:spAutoFit/>
          </a:bodyPr>
          <a:lstStyle/>
          <a:p>
            <a:r>
              <a:rPr lang="en-US" sz="1300" b="1" i="0">
                <a:solidFill>
                  <a:srgbClr val="C00000"/>
                </a:solidFill>
                <a:effectLst/>
                <a:highlight>
                  <a:srgbClr val="000000"/>
                </a:highlight>
                <a:latin typeface="Product Sans" panose="020B0403030502040203" pitchFamily="34" charset="0"/>
              </a:rPr>
              <a:t>Poor management can add to plastic waste and dilute environmental gains</a:t>
            </a:r>
            <a:endParaRPr lang="en-US" sz="1300" b="1">
              <a:solidFill>
                <a:srgbClr val="C00000"/>
              </a:solidFill>
              <a:highlight>
                <a:srgbClr val="000000"/>
              </a:highlight>
              <a:latin typeface="Product Sans" panose="020B0403030502040203" pitchFamily="34" charset="0"/>
            </a:endParaRPr>
          </a:p>
        </p:txBody>
      </p:sp>
      <p:sp>
        <p:nvSpPr>
          <p:cNvPr id="32" name="TextBox 31">
            <a:extLst>
              <a:ext uri="{FF2B5EF4-FFF2-40B4-BE49-F238E27FC236}">
                <a16:creationId xmlns:a16="http://schemas.microsoft.com/office/drawing/2014/main" id="{C0E2C7FC-1CFE-8160-A3BE-EFC68D28A6DD}"/>
              </a:ext>
            </a:extLst>
          </p:cNvPr>
          <p:cNvSpPr txBox="1"/>
          <p:nvPr/>
        </p:nvSpPr>
        <p:spPr>
          <a:xfrm>
            <a:off x="8117551" y="2295691"/>
            <a:ext cx="4209328" cy="692497"/>
          </a:xfrm>
          <a:prstGeom prst="rect">
            <a:avLst/>
          </a:prstGeom>
          <a:noFill/>
        </p:spPr>
        <p:txBody>
          <a:bodyPr wrap="square">
            <a:spAutoFit/>
          </a:bodyPr>
          <a:lstStyle/>
          <a:p>
            <a:r>
              <a:rPr lang="en-US" sz="1300" b="1" i="0">
                <a:solidFill>
                  <a:srgbClr val="C00000"/>
                </a:solidFill>
                <a:effectLst/>
                <a:highlight>
                  <a:srgbClr val="000000"/>
                </a:highlight>
                <a:latin typeface="Product Sans" panose="020B0403030502040203" pitchFamily="34" charset="0"/>
              </a:rPr>
              <a:t>Deposit‑return schemes demand major infrastructure and logistics spend, raising retailer and producer costs</a:t>
            </a:r>
            <a:endParaRPr lang="en-US" sz="1300" b="1">
              <a:solidFill>
                <a:srgbClr val="C00000"/>
              </a:solidFill>
              <a:highlight>
                <a:srgbClr val="000000"/>
              </a:highlight>
              <a:latin typeface="Product Sans" panose="020B0403030502040203" pitchFamily="34" charset="0"/>
            </a:endParaRPr>
          </a:p>
        </p:txBody>
      </p:sp>
      <p:sp>
        <p:nvSpPr>
          <p:cNvPr id="36" name="TextBox 35">
            <a:extLst>
              <a:ext uri="{FF2B5EF4-FFF2-40B4-BE49-F238E27FC236}">
                <a16:creationId xmlns:a16="http://schemas.microsoft.com/office/drawing/2014/main" id="{77DDD7D6-E877-603A-50E3-1874E8ECF2C0}"/>
              </a:ext>
            </a:extLst>
          </p:cNvPr>
          <p:cNvSpPr txBox="1"/>
          <p:nvPr/>
        </p:nvSpPr>
        <p:spPr>
          <a:xfrm>
            <a:off x="8117551" y="2910233"/>
            <a:ext cx="4044270" cy="492443"/>
          </a:xfrm>
          <a:prstGeom prst="rect">
            <a:avLst/>
          </a:prstGeom>
          <a:noFill/>
        </p:spPr>
        <p:txBody>
          <a:bodyPr wrap="square">
            <a:spAutoFit/>
          </a:bodyPr>
          <a:lstStyle/>
          <a:p>
            <a:r>
              <a:rPr lang="en-US" sz="1300" b="1" i="0">
                <a:solidFill>
                  <a:srgbClr val="C00000"/>
                </a:solidFill>
                <a:effectLst/>
                <a:highlight>
                  <a:srgbClr val="000000"/>
                </a:highlight>
                <a:latin typeface="Product Sans" panose="020B0403030502040203" pitchFamily="34" charset="0"/>
              </a:rPr>
              <a:t>Low deposits depress returns; design must set the value high enough to motivate behavior</a:t>
            </a:r>
            <a:endParaRPr lang="en-US" sz="1300" b="1">
              <a:solidFill>
                <a:srgbClr val="C00000"/>
              </a:solidFill>
              <a:highlight>
                <a:srgbClr val="000000"/>
              </a:highlight>
              <a:latin typeface="Product Sans" panose="020B0403030502040203" pitchFamily="34" charset="0"/>
            </a:endParaRPr>
          </a:p>
        </p:txBody>
      </p:sp>
      <p:sp>
        <p:nvSpPr>
          <p:cNvPr id="42" name="TextBox 41">
            <a:extLst>
              <a:ext uri="{FF2B5EF4-FFF2-40B4-BE49-F238E27FC236}">
                <a16:creationId xmlns:a16="http://schemas.microsoft.com/office/drawing/2014/main" id="{FC372980-77AE-80F9-5E11-B601692BD6A9}"/>
              </a:ext>
            </a:extLst>
          </p:cNvPr>
          <p:cNvSpPr txBox="1"/>
          <p:nvPr/>
        </p:nvSpPr>
        <p:spPr>
          <a:xfrm>
            <a:off x="8109040" y="3311223"/>
            <a:ext cx="4226349" cy="692497"/>
          </a:xfrm>
          <a:prstGeom prst="rect">
            <a:avLst/>
          </a:prstGeom>
          <a:noFill/>
        </p:spPr>
        <p:txBody>
          <a:bodyPr wrap="square">
            <a:spAutoFit/>
          </a:bodyPr>
          <a:lstStyle/>
          <a:p>
            <a:r>
              <a:rPr lang="en-US" sz="1300" b="1" i="0">
                <a:solidFill>
                  <a:srgbClr val="C00000"/>
                </a:solidFill>
                <a:effectLst/>
                <a:highlight>
                  <a:srgbClr val="000000"/>
                </a:highlight>
                <a:latin typeface="Product Sans" panose="020B0403030502040203" pitchFamily="34" charset="0"/>
              </a:rPr>
              <a:t>Poor scheme design can backfire, nudging consumers toward less sustainable packaging choices</a:t>
            </a:r>
            <a:endParaRPr lang="en-US" sz="1300" b="1">
              <a:solidFill>
                <a:srgbClr val="C00000"/>
              </a:solidFill>
              <a:highlight>
                <a:srgbClr val="000000"/>
              </a:highlight>
              <a:latin typeface="Product Sans" panose="020B0403030502040203" pitchFamily="34" charset="0"/>
            </a:endParaRPr>
          </a:p>
        </p:txBody>
      </p:sp>
      <p:sp>
        <p:nvSpPr>
          <p:cNvPr id="46" name="TextBox 45">
            <a:extLst>
              <a:ext uri="{FF2B5EF4-FFF2-40B4-BE49-F238E27FC236}">
                <a16:creationId xmlns:a16="http://schemas.microsoft.com/office/drawing/2014/main" id="{89A2069C-06DF-3F70-1729-C5109A24B3B6}"/>
              </a:ext>
            </a:extLst>
          </p:cNvPr>
          <p:cNvSpPr txBox="1"/>
          <p:nvPr/>
        </p:nvSpPr>
        <p:spPr>
          <a:xfrm>
            <a:off x="8117551" y="4496185"/>
            <a:ext cx="4044270" cy="692497"/>
          </a:xfrm>
          <a:prstGeom prst="rect">
            <a:avLst/>
          </a:prstGeom>
          <a:noFill/>
        </p:spPr>
        <p:txBody>
          <a:bodyPr wrap="square">
            <a:spAutoFit/>
          </a:bodyPr>
          <a:lstStyle/>
          <a:p>
            <a:pPr algn="l"/>
            <a:r>
              <a:rPr lang="en-US" sz="1300" b="1" i="0">
                <a:solidFill>
                  <a:srgbClr val="C00000"/>
                </a:solidFill>
                <a:effectLst/>
                <a:highlight>
                  <a:srgbClr val="000000"/>
                </a:highlight>
                <a:latin typeface="Product Sans" panose="020B0403030502040203" pitchFamily="34" charset="0"/>
              </a:rPr>
              <a:t>Formalizing informal collectors can face resistance and trust gaps, leaving some actors outside the system.</a:t>
            </a:r>
          </a:p>
        </p:txBody>
      </p:sp>
      <p:sp>
        <p:nvSpPr>
          <p:cNvPr id="50" name="TextBox 49">
            <a:extLst>
              <a:ext uri="{FF2B5EF4-FFF2-40B4-BE49-F238E27FC236}">
                <a16:creationId xmlns:a16="http://schemas.microsoft.com/office/drawing/2014/main" id="{15D495DB-8195-A698-6C05-C06C05B34169}"/>
              </a:ext>
            </a:extLst>
          </p:cNvPr>
          <p:cNvSpPr txBox="1"/>
          <p:nvPr/>
        </p:nvSpPr>
        <p:spPr>
          <a:xfrm>
            <a:off x="8117551" y="5161840"/>
            <a:ext cx="4187728" cy="492443"/>
          </a:xfrm>
          <a:prstGeom prst="rect">
            <a:avLst/>
          </a:prstGeom>
          <a:noFill/>
        </p:spPr>
        <p:txBody>
          <a:bodyPr wrap="square">
            <a:spAutoFit/>
          </a:bodyPr>
          <a:lstStyle/>
          <a:p>
            <a:r>
              <a:rPr lang="en-US" sz="1300" b="1" i="0">
                <a:solidFill>
                  <a:srgbClr val="C00000"/>
                </a:solidFill>
                <a:effectLst/>
                <a:highlight>
                  <a:srgbClr val="000000"/>
                </a:highlight>
                <a:latin typeface="Product Sans" panose="020B0403030502040203" pitchFamily="34" charset="0"/>
              </a:rPr>
              <a:t>Partial inclusion fragments value chains and weakens program coordination</a:t>
            </a:r>
            <a:endParaRPr lang="en-US" sz="1300" b="1">
              <a:solidFill>
                <a:srgbClr val="C00000"/>
              </a:solidFill>
              <a:highlight>
                <a:srgbClr val="000000"/>
              </a:highlight>
              <a:latin typeface="Product Sans" panose="020B0403030502040203" pitchFamily="34" charset="0"/>
            </a:endParaRPr>
          </a:p>
        </p:txBody>
      </p:sp>
      <p:sp>
        <p:nvSpPr>
          <p:cNvPr id="54" name="TextBox 53">
            <a:extLst>
              <a:ext uri="{FF2B5EF4-FFF2-40B4-BE49-F238E27FC236}">
                <a16:creationId xmlns:a16="http://schemas.microsoft.com/office/drawing/2014/main" id="{525AF765-64AE-FC8A-6DA6-0135C5D8A87B}"/>
              </a:ext>
            </a:extLst>
          </p:cNvPr>
          <p:cNvSpPr txBox="1"/>
          <p:nvPr/>
        </p:nvSpPr>
        <p:spPr>
          <a:xfrm>
            <a:off x="8117551" y="4071960"/>
            <a:ext cx="4625430" cy="492443"/>
          </a:xfrm>
          <a:prstGeom prst="rect">
            <a:avLst/>
          </a:prstGeom>
          <a:noFill/>
        </p:spPr>
        <p:txBody>
          <a:bodyPr wrap="square">
            <a:spAutoFit/>
          </a:bodyPr>
          <a:lstStyle/>
          <a:p>
            <a:r>
              <a:rPr lang="en-US" sz="1300" b="1" i="0">
                <a:solidFill>
                  <a:srgbClr val="C00000"/>
                </a:solidFill>
                <a:effectLst/>
                <a:highlight>
                  <a:srgbClr val="000000"/>
                </a:highlight>
                <a:latin typeface="Product Sans" panose="020B0403030502040203" pitchFamily="34" charset="0"/>
              </a:rPr>
              <a:t>Setting up safety, contracts, and payments adds significant upfront cost and oversight needs</a:t>
            </a:r>
            <a:endParaRPr lang="en-US" sz="1300" b="1">
              <a:solidFill>
                <a:srgbClr val="C00000"/>
              </a:solidFill>
              <a:highlight>
                <a:srgbClr val="000000"/>
              </a:highlight>
              <a:latin typeface="Product Sans" panose="020B0403030502040203" pitchFamily="34" charset="0"/>
            </a:endParaRPr>
          </a:p>
        </p:txBody>
      </p:sp>
      <p:sp>
        <p:nvSpPr>
          <p:cNvPr id="58" name="TextBox 57">
            <a:extLst>
              <a:ext uri="{FF2B5EF4-FFF2-40B4-BE49-F238E27FC236}">
                <a16:creationId xmlns:a16="http://schemas.microsoft.com/office/drawing/2014/main" id="{FDFE7B92-99F8-EBE6-0A9B-E4C7ADEC993F}"/>
              </a:ext>
            </a:extLst>
          </p:cNvPr>
          <p:cNvSpPr txBox="1"/>
          <p:nvPr/>
        </p:nvSpPr>
        <p:spPr>
          <a:xfrm>
            <a:off x="231545" y="5805199"/>
            <a:ext cx="12073734" cy="923330"/>
          </a:xfrm>
          <a:prstGeom prst="rect">
            <a:avLst/>
          </a:prstGeom>
          <a:noFill/>
        </p:spPr>
        <p:txBody>
          <a:bodyPr wrap="square">
            <a:spAutoFit/>
          </a:bodyPr>
          <a:lstStyle/>
          <a:p>
            <a:r>
              <a:rPr lang="en-US" b="0" i="0">
                <a:solidFill>
                  <a:srgbClr val="FFC000"/>
                </a:solidFill>
                <a:effectLst/>
                <a:highlight>
                  <a:srgbClr val="000000"/>
                </a:highlight>
                <a:latin typeface="Product Sans" panose="020B0403030502040203" pitchFamily="34" charset="0"/>
              </a:rPr>
              <a:t>Highlight scalable circular‑glass solutions—plastic crates, deposit‑return schemes, and manufacturer–collector partnerships—that boost glass quality, recycling, livelihoods, supply resilience, and brand sustainability while navigating upfront costs, operational complexity, and the need for tight stakeholder collaboration</a:t>
            </a:r>
            <a:endParaRPr lang="en-US">
              <a:solidFill>
                <a:srgbClr val="FFC000"/>
              </a:solidFill>
              <a:highlight>
                <a:srgbClr val="000000"/>
              </a:highlight>
              <a:latin typeface="Product Sans" panose="020B0403030502040203" pitchFamily="34" charset="0"/>
            </a:endParaRPr>
          </a:p>
        </p:txBody>
      </p:sp>
    </p:spTree>
    <p:extLst>
      <p:ext uri="{BB962C8B-B14F-4D97-AF65-F5344CB8AC3E}">
        <p14:creationId xmlns:p14="http://schemas.microsoft.com/office/powerpoint/2010/main" val="3581330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2698</Words>
  <Application>Microsoft Office PowerPoint</Application>
  <PresentationFormat>Widescreen</PresentationFormat>
  <Paragraphs>237</Paragraphs>
  <Slides>12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Product Sans</vt:lpstr>
      <vt:lpstr>Product Sans Black</vt:lpstr>
      <vt:lpstr>Sans  </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Bhumit vyas</dc:creator>
  <cp:lastModifiedBy>Bhumit vyas</cp:lastModifiedBy>
  <cp:revision>1</cp:revision>
  <dcterms:created xsi:type="dcterms:W3CDTF">2025-08-18T15:44:58Z</dcterms:created>
  <dcterms:modified xsi:type="dcterms:W3CDTF">2026-09-16T08:03:59Z</dcterms:modified>
</cp:coreProperties>
</file>